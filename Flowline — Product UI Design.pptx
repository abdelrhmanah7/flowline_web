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 type="custom"/>
  <p:notesSz cx="12192000" cy="6858000"/>
  <p:embeddedFontLst>
    <p:embeddedFont>
      <p:font typeface="Mi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font" Target="fonts/font1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1733"/>
            </a:gs>
            <a:gs pos="100000">
              <a:srgbClr val="09090B"/>
            </a:gs>
          </a:gsLst>
          <a:path path="circle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90B">
              <a:alpha val="0"/>
            </a:srgbClr>
          </a:solidFill>
          <a:ln>
            <a:noFill/>
          </a:ln>
        </p:spPr>
      </p:sp>
      <p:sp>
        <p:nvSpPr>
          <p:cNvPr id="3" name="logo-box"/>
          <p:cNvSpPr/>
          <p:nvPr/>
        </p:nvSpPr>
        <p:spPr>
          <a:xfrm>
            <a:off x="5461000" y="1524000"/>
            <a:ext cx="508000" cy="50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7C6CFF"/>
              </a:gs>
              <a:gs pos="100000">
                <a:srgbClr val="38BDF8"/>
              </a:gs>
            </a:gsLst>
            <a:lin ang="8100000" scaled="1"/>
          </a:gradFill>
          <a:ln>
            <a:noFill/>
          </a:ln>
        </p:spPr>
      </p:sp>
      <p:sp>
        <p:nvSpPr>
          <p:cNvPr id="4" name="logo-icon"/>
          <p:cNvSpPr/>
          <p:nvPr>
            <p:extLst>
              <p:ext uri="{F5677B7D-0D2A-4D9B-9A5C-6D8D7D0E5A5D}">
                <pptd:icon encoding="base64url">eyJpY29uTmFtZSI6ImZhczpib2x0In0</pptd:icon>
              </p:ext>
            </p:extLst>
          </p:nvPr>
        </p:nvSpPr>
        <p:spPr>
          <a:xfrm>
            <a:off x="5588000" y="165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brand"/>
          <p:cNvSpPr txBox="1"/>
          <p:nvPr/>
        </p:nvSpPr>
        <p:spPr>
          <a:xfrm>
            <a:off x="6096000" y="16256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FAFAFA"/>
                </a:solidFill>
                <a:latin typeface="MiSans"/>
                <a:ea typeface="MiSans"/>
              </a:rPr>
              <a:t>Flowline</a:t>
            </a:r>
            <a:endParaRPr lang="en-US" sz="2000" noProof="1"/>
          </a:p>
        </p:txBody>
      </p:sp>
      <p:sp>
        <p:nvSpPr>
          <p:cNvPr id="6" name="kicker"/>
          <p:cNvSpPr txBox="1"/>
          <p:nvPr/>
        </p:nvSpPr>
        <p:spPr>
          <a:xfrm>
            <a:off x="4191000" y="2489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PRODUCT UI DESIGN · V1.0</a:t>
            </a:r>
            <a:endParaRPr lang="en-US" sz="1000" noProof="1"/>
          </a:p>
        </p:txBody>
      </p:sp>
      <p:sp>
        <p:nvSpPr>
          <p:cNvPr id="7" name="title"/>
          <p:cNvSpPr txBox="1"/>
          <p:nvPr/>
        </p:nvSpPr>
        <p:spPr>
          <a:xfrm>
            <a:off x="1651000" y="2819400"/>
            <a:ext cx="8890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5000"/>
              </a:lnSpc>
            </a:pPr>
            <a:r>
              <a:rPr lang="en-US" sz="4400" noProof="1" b="1">
                <a:solidFill>
                  <a:srgbClr val="FAFAFA"/>
                </a:solidFill>
                <a:latin typeface="MiSans"/>
                <a:ea typeface="MiSans"/>
              </a:rPr>
              <a:t>Visual AI workflows,</a:t>
            </a:r>
            <a:endParaRPr lang="en-US" sz="1600" noProof="1"/>
          </a:p>
          <a:p>
            <a:pPr algn="ctr">
              <a:lnSpc>
                <a:spcPct val="115000"/>
              </a:lnSpc>
            </a:pPr>
            <a:r>
              <a:rPr lang="en-US" sz="4400" noProof="1" b="1">
                <a:solidFill>
                  <a:srgbClr val="7C6CFF"/>
                </a:solidFill>
                <a:latin typeface="MiSans"/>
                <a:ea typeface="MiSans"/>
              </a:rPr>
              <a:t>designed end to end</a:t>
            </a:r>
            <a:endParaRPr lang="en-US" sz="1600" noProof="1"/>
          </a:p>
        </p:txBody>
      </p:sp>
      <p:sp>
        <p:nvSpPr>
          <p:cNvPr id="8" name="sub"/>
          <p:cNvSpPr txBox="1"/>
          <p:nvPr/>
        </p:nvSpPr>
        <p:spPr>
          <a:xfrm>
            <a:off x="2921000" y="43688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50000"/>
              </a:lnSpc>
            </a:pPr>
            <a:r>
              <a:rPr lang="en-US" sz="1300" noProof="1">
                <a:solidFill>
                  <a:srgbClr val="A1A1AA"/>
                </a:solidFill>
                <a:latin typeface="MiSans"/>
                <a:ea typeface="MiSans"/>
              </a:rPr>
              <a:t>Design system, key screens, and interaction states for a</a:t>
            </a:r>
            <a:r>
              <a:rPr lang="en-US" sz="1300" noProof="1">
                <a:solidFill>
                  <a:srgbClr val="A1A1AA"/>
                </a:solidFill>
                <a:latin typeface="MiSans"/>
                <a:ea typeface="MiSans"/>
              </a:rPr>
              <a:t>Gumloop-style automation platform — dark mode first.</a:t>
            </a:r>
            <a:endParaRPr lang="en-US" sz="1300" noProof="1"/>
          </a:p>
        </p:txBody>
      </p:sp>
      <p:sp>
        <p:nvSpPr>
          <p:cNvPr id="9" name="chip1"/>
          <p:cNvSpPr/>
          <p:nvPr/>
        </p:nvSpPr>
        <p:spPr>
          <a:xfrm>
            <a:off x="3302000" y="5334000"/>
            <a:ext cx="1651000" cy="3810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0" name="chip1t"/>
          <p:cNvSpPr txBox="1"/>
          <p:nvPr/>
        </p:nvSpPr>
        <p:spPr>
          <a:xfrm>
            <a:off x="3302000" y="5334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A1A1AA"/>
                </a:solidFill>
                <a:latin typeface="MiSans"/>
                <a:ea typeface="MiSans"/>
              </a:rPr>
              <a:t>16 pages · 9 screens</a:t>
            </a:r>
            <a:endParaRPr lang="en-US" sz="1100" noProof="1"/>
          </a:p>
        </p:txBody>
      </p:sp>
      <p:sp>
        <p:nvSpPr>
          <p:cNvPr id="11" name="chip2"/>
          <p:cNvSpPr/>
          <p:nvPr/>
        </p:nvSpPr>
        <p:spPr>
          <a:xfrm>
            <a:off x="5143500" y="5334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2" name="chip2t"/>
          <p:cNvSpPr txBox="1"/>
          <p:nvPr/>
        </p:nvSpPr>
        <p:spPr>
          <a:xfrm>
            <a:off x="5143500" y="5334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A1A1AA"/>
                </a:solidFill>
                <a:latin typeface="MiSans"/>
                <a:ea typeface="MiSans"/>
              </a:rPr>
              <a:t>40+ design tokens</a:t>
            </a:r>
            <a:endParaRPr lang="en-US" sz="1100" noProof="1"/>
          </a:p>
        </p:txBody>
      </p:sp>
      <p:sp>
        <p:nvSpPr>
          <p:cNvPr id="13" name="chip3"/>
          <p:cNvSpPr/>
          <p:nvPr/>
        </p:nvSpPr>
        <p:spPr>
          <a:xfrm>
            <a:off x="7239000" y="5334000"/>
            <a:ext cx="1651000" cy="3810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4" name="chip3t"/>
          <p:cNvSpPr txBox="1"/>
          <p:nvPr/>
        </p:nvSpPr>
        <p:spPr>
          <a:xfrm>
            <a:off x="7239000" y="5334000"/>
            <a:ext cx="165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A1A1AA"/>
                </a:solidFill>
                <a:latin typeface="MiSans"/>
                <a:ea typeface="MiSans"/>
              </a:rPr>
              <a:t>5 state matrix</a:t>
            </a:r>
            <a:endParaRPr lang="en-US" sz="1100" noProof="1"/>
          </a:p>
        </p:txBody>
      </p:sp>
      <p:sp>
        <p:nvSpPr>
          <p:cNvPr id="15" name="footer"/>
          <p:cNvSpPr txBox="1"/>
          <p:nvPr/>
        </p:nvSpPr>
        <p:spPr>
          <a:xfrm>
            <a:off x="4191000" y="6350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September 2026 · Design Systems Team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57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01 — PRODUCT MAP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711200"/>
            <a:ext cx="762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Full user journey &amp; sitemap</a:t>
            </a:r>
            <a:endParaRPr lang="en-US" sz="2400" noProof="1"/>
          </a:p>
        </p:txBody>
      </p:sp>
      <p:sp>
        <p:nvSpPr>
          <p:cNvPr id="4" name="z1-label"/>
          <p:cNvSpPr txBox="1"/>
          <p:nvPr/>
        </p:nvSpPr>
        <p:spPr>
          <a:xfrm>
            <a:off x="609600" y="147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38BDF8"/>
                </a:solidFill>
                <a:latin typeface="MiSans"/>
                <a:ea typeface="MiSans"/>
              </a:rPr>
              <a:t>ACQUIRE</a:t>
            </a:r>
            <a:endParaRPr lang="en-US" sz="1000" noProof="1"/>
          </a:p>
        </p:txBody>
      </p:sp>
      <p:sp>
        <p:nvSpPr>
          <p:cNvPr id="5" name="j1"/>
          <p:cNvSpPr/>
          <p:nvPr/>
        </p:nvSpPr>
        <p:spPr>
          <a:xfrm>
            <a:off x="609600" y="1778000"/>
            <a:ext cx="2413000" cy="11430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6" name="j1t"/>
          <p:cNvSpPr txBox="1"/>
          <p:nvPr/>
        </p:nvSpPr>
        <p:spPr>
          <a:xfrm>
            <a:off x="812800" y="1930400"/>
            <a:ext cx="203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AFAFA"/>
                </a:solidFill>
                <a:latin typeface="MiSans"/>
                <a:ea typeface="MiSans"/>
              </a:rPr>
              <a:t>Landing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Hero canvas mock · features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CTA → auth</a:t>
            </a:r>
            <a:endParaRPr lang="en-US" sz="1600" noProof="1"/>
          </a:p>
        </p:txBody>
      </p:sp>
      <p:sp>
        <p:nvSpPr>
          <p:cNvPr id="7" name="ja1"/>
          <p:cNvSpPr txBox="1"/>
          <p:nvPr/>
        </p:nvSpPr>
        <p:spPr>
          <a:xfrm>
            <a:off x="3073400" y="21844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52525B"/>
                </a:solidFill>
                <a:latin typeface="MiSans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8" name="j2"/>
          <p:cNvSpPr/>
          <p:nvPr/>
        </p:nvSpPr>
        <p:spPr>
          <a:xfrm>
            <a:off x="3505200" y="1778000"/>
            <a:ext cx="2413000" cy="11430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9" name="j2t"/>
          <p:cNvSpPr txBox="1"/>
          <p:nvPr/>
        </p:nvSpPr>
        <p:spPr>
          <a:xfrm>
            <a:off x="3708400" y="1930400"/>
            <a:ext cx="203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AFAFA"/>
                </a:solidFill>
                <a:latin typeface="MiSans"/>
                <a:ea typeface="MiSans"/>
              </a:rPr>
              <a:t>Auth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OAuth-first split screen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sign in ↔ sign up</a:t>
            </a:r>
            <a:endParaRPr lang="en-US" sz="1600" noProof="1"/>
          </a:p>
        </p:txBody>
      </p:sp>
      <p:sp>
        <p:nvSpPr>
          <p:cNvPr id="10" name="ja2"/>
          <p:cNvSpPr txBox="1"/>
          <p:nvPr/>
        </p:nvSpPr>
        <p:spPr>
          <a:xfrm>
            <a:off x="5969000" y="21844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52525B"/>
                </a:solidFill>
                <a:latin typeface="MiSans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11" name="j3"/>
          <p:cNvSpPr/>
          <p:nvPr/>
        </p:nvSpPr>
        <p:spPr>
          <a:xfrm>
            <a:off x="6400800" y="1778000"/>
            <a:ext cx="2413000" cy="11430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2" name="j3t"/>
          <p:cNvSpPr txBox="1"/>
          <p:nvPr/>
        </p:nvSpPr>
        <p:spPr>
          <a:xfrm>
            <a:off x="6604000" y="1930400"/>
            <a:ext cx="203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AFAFA"/>
                </a:solidFill>
                <a:latin typeface="MiSans"/>
                <a:ea typeface="MiSans"/>
              </a:rPr>
              <a:t>Onboarding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Workspace → goal → first app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3 steps, skippable</a:t>
            </a:r>
            <a:endParaRPr lang="en-US" sz="1600" noProof="1"/>
          </a:p>
        </p:txBody>
      </p:sp>
      <p:sp>
        <p:nvSpPr>
          <p:cNvPr id="13" name="ja3"/>
          <p:cNvSpPr txBox="1"/>
          <p:nvPr/>
        </p:nvSpPr>
        <p:spPr>
          <a:xfrm>
            <a:off x="8864600" y="21844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7C6CFF"/>
                </a:solidFill>
                <a:latin typeface="MiSans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14" name="z2-label"/>
          <p:cNvSpPr txBox="1"/>
          <p:nvPr/>
        </p:nvSpPr>
        <p:spPr>
          <a:xfrm>
            <a:off x="9398000" y="147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7C6CFF"/>
                </a:solidFill>
                <a:latin typeface="MiSans"/>
                <a:ea typeface="MiSans"/>
              </a:rPr>
              <a:t>PRODUCT</a:t>
            </a:r>
            <a:endParaRPr lang="en-US" sz="1000" noProof="1"/>
          </a:p>
        </p:txBody>
      </p:sp>
      <p:sp>
        <p:nvSpPr>
          <p:cNvPr id="15" name="j4"/>
          <p:cNvSpPr/>
          <p:nvPr/>
        </p:nvSpPr>
        <p:spPr>
          <a:xfrm>
            <a:off x="9398000" y="1778000"/>
            <a:ext cx="2184400" cy="11430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7C6CFF"/>
            </a:solidFill>
          </a:ln>
          <a:effectLst>
            <a:outerShdw blurRad="228600" dist="0" dir="0" sx="100000" sy="100000" kx="0" ky="0" algn="bl" rotWithShape="0">
              <a:srgbClr val="7C6CFF">
                <a:alpha val="18824"/>
              </a:srgbClr>
            </a:outerShdw>
          </a:effectLst>
        </p:spPr>
      </p:sp>
      <p:sp>
        <p:nvSpPr>
          <p:cNvPr id="16" name="j4t"/>
          <p:cNvSpPr txBox="1"/>
          <p:nvPr/>
        </p:nvSpPr>
        <p:spPr>
          <a:xfrm>
            <a:off x="9575800" y="1930400"/>
            <a:ext cx="1879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AFAFA"/>
                </a:solidFill>
                <a:latin typeface="MiSans"/>
                <a:ea typeface="MiSans"/>
              </a:rPr>
              <a:t>Dashboard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Home base — KPIs,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flows, activity</a:t>
            </a:r>
            <a:endParaRPr lang="en-US" sz="1600" noProof="1"/>
          </a:p>
        </p:txBody>
      </p:sp>
      <p:sp>
        <p:nvSpPr>
          <p:cNvPr id="17" name="z3-label"/>
          <p:cNvSpPr txBox="1"/>
          <p:nvPr/>
        </p:nvSpPr>
        <p:spPr>
          <a:xfrm>
            <a:off x="609600" y="3352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34D399"/>
                </a:solidFill>
                <a:latin typeface="MiSans"/>
                <a:ea typeface="MiSans"/>
              </a:rPr>
              <a:t>CORE LOOP — BUILD · RUN · OBSERVE</a:t>
            </a:r>
            <a:endParaRPr lang="en-US" sz="1000" noProof="1"/>
          </a:p>
        </p:txBody>
      </p:sp>
      <p:sp>
        <p:nvSpPr>
          <p:cNvPr id="18" name="c1"/>
          <p:cNvSpPr/>
          <p:nvPr/>
        </p:nvSpPr>
        <p:spPr>
          <a:xfrm>
            <a:off x="609600" y="3657600"/>
            <a:ext cx="3429000" cy="12700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9" name="c1t"/>
          <p:cNvSpPr txBox="1"/>
          <p:nvPr/>
        </p:nvSpPr>
        <p:spPr>
          <a:xfrm>
            <a:off x="812800" y="3810000"/>
            <a:ext cx="3048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AFAFA"/>
                </a:solidFill>
                <a:latin typeface="MiSans"/>
                <a:ea typeface="MiSans"/>
              </a:rPr>
              <a:t>⌘ Builder canvas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Drag nodes, wire edges, configure in drawer.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States: empty · selected · running · error</a:t>
            </a:r>
            <a:endParaRPr lang="en-US" sz="1600" noProof="1"/>
          </a:p>
        </p:txBody>
      </p:sp>
      <p:sp>
        <p:nvSpPr>
          <p:cNvPr id="20" name="ca1"/>
          <p:cNvSpPr txBox="1"/>
          <p:nvPr/>
        </p:nvSpPr>
        <p:spPr>
          <a:xfrm>
            <a:off x="4089400" y="41148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52525B"/>
                </a:solidFill>
                <a:latin typeface="MiSans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21" name="c2"/>
          <p:cNvSpPr/>
          <p:nvPr/>
        </p:nvSpPr>
        <p:spPr>
          <a:xfrm>
            <a:off x="4521200" y="3657600"/>
            <a:ext cx="3429000" cy="12700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2" name="c2t"/>
          <p:cNvSpPr txBox="1"/>
          <p:nvPr/>
        </p:nvSpPr>
        <p:spPr>
          <a:xfrm>
            <a:off x="4724400" y="3810000"/>
            <a:ext cx="3048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AFAFA"/>
                </a:solidFill>
                <a:latin typeface="MiSans"/>
                <a:ea typeface="MiSans"/>
              </a:rPr>
              <a:t>◷ Run inspector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History, step timeline, payloads.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Re-run from any step → back to canvas</a:t>
            </a:r>
            <a:endParaRPr lang="en-US" sz="1600" noProof="1"/>
          </a:p>
        </p:txBody>
      </p:sp>
      <p:sp>
        <p:nvSpPr>
          <p:cNvPr id="23" name="ca2"/>
          <p:cNvSpPr txBox="1"/>
          <p:nvPr/>
        </p:nvSpPr>
        <p:spPr>
          <a:xfrm>
            <a:off x="8001000" y="4114800"/>
            <a:ext cx="38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52525B"/>
                </a:solidFill>
                <a:latin typeface="MiSans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24" name="c3"/>
          <p:cNvSpPr/>
          <p:nvPr/>
        </p:nvSpPr>
        <p:spPr>
          <a:xfrm>
            <a:off x="8432800" y="3657600"/>
            <a:ext cx="3149600" cy="12700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5" name="c3t"/>
          <p:cNvSpPr txBox="1"/>
          <p:nvPr/>
        </p:nvSpPr>
        <p:spPr>
          <a:xfrm>
            <a:off x="8636000" y="3810000"/>
            <a:ext cx="2794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FAFAFA"/>
                </a:solidFill>
                <a:latin typeface="MiSans"/>
                <a:ea typeface="MiSans"/>
              </a:rPr>
              <a:t>⬡ Integrations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Connect apps, heal expired tokens.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Failures here degrade flows, never the app</a:t>
            </a:r>
            <a:endParaRPr lang="en-US" sz="1600" noProof="1"/>
          </a:p>
        </p:txBody>
      </p:sp>
      <p:sp>
        <p:nvSpPr>
          <p:cNvPr id="26" name="z4-label"/>
          <p:cNvSpPr txBox="1"/>
          <p:nvPr/>
        </p:nvSpPr>
        <p:spPr>
          <a:xfrm>
            <a:off x="609600" y="5334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SUPPORTING</a:t>
            </a:r>
            <a:endParaRPr lang="en-US" sz="1000" noProof="1"/>
          </a:p>
        </p:txBody>
      </p:sp>
      <p:sp>
        <p:nvSpPr>
          <p:cNvPr id="27" name="s1"/>
          <p:cNvSpPr/>
          <p:nvPr/>
        </p:nvSpPr>
        <p:spPr>
          <a:xfrm>
            <a:off x="609600" y="5638800"/>
            <a:ext cx="3429000" cy="71120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8" name="s1t"/>
          <p:cNvSpPr txBox="1"/>
          <p:nvPr/>
        </p:nvSpPr>
        <p:spPr>
          <a:xfrm>
            <a:off x="812800" y="56388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▤ Templates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  — entry into canvas with prebuilt flows</a:t>
            </a:r>
            <a:endParaRPr lang="en-US" sz="1600" noProof="1"/>
          </a:p>
        </p:txBody>
      </p:sp>
      <p:sp>
        <p:nvSpPr>
          <p:cNvPr id="29" name="s2"/>
          <p:cNvSpPr/>
          <p:nvPr/>
        </p:nvSpPr>
        <p:spPr>
          <a:xfrm>
            <a:off x="4381500" y="5638800"/>
            <a:ext cx="3429000" cy="71120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0" name="s2t"/>
          <p:cNvSpPr txBox="1"/>
          <p:nvPr/>
        </p:nvSpPr>
        <p:spPr>
          <a:xfrm>
            <a:off x="4584700" y="56388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⚙ Settings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  — members, API keys, billing &amp; credits</a:t>
            </a:r>
            <a:endParaRPr lang="en-US" sz="1600" noProof="1"/>
          </a:p>
        </p:txBody>
      </p:sp>
      <p:sp>
        <p:nvSpPr>
          <p:cNvPr id="31" name="s3"/>
          <p:cNvSpPr/>
          <p:nvPr/>
        </p:nvSpPr>
        <p:spPr>
          <a:xfrm>
            <a:off x="8153400" y="5638800"/>
            <a:ext cx="3429000" cy="71120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2" name="s3t"/>
          <p:cNvSpPr txBox="1"/>
          <p:nvPr/>
        </p:nvSpPr>
        <p:spPr>
          <a:xfrm>
            <a:off x="8356600" y="5638800"/>
            <a:ext cx="304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⎋ Global states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  — loading, empty, error, offline</a:t>
            </a:r>
            <a:endParaRPr lang="en-US" sz="1600" noProof="1"/>
          </a:p>
        </p:txBody>
      </p:sp>
      <p:sp>
        <p:nvSpPr>
          <p:cNvPr id="33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57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02 — DESIGN TOKENS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711200"/>
            <a:ext cx="635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Color palette — dark mode primary</a:t>
            </a:r>
            <a:endParaRPr lang="en-US" sz="2400" noProof="1"/>
          </a:p>
        </p:txBody>
      </p:sp>
      <p:sp>
        <p:nvSpPr>
          <p:cNvPr id="4" name="note"/>
          <p:cNvSpPr txBox="1"/>
          <p:nvPr/>
        </p:nvSpPr>
        <p:spPr>
          <a:xfrm>
            <a:off x="609600" y="11938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52525B"/>
                </a:solidFill>
                <a:latin typeface="MiSans"/>
                <a:ea typeface="MiSans"/>
              </a:rPr>
              <a:t>Exact HEX values. Light mode is a token remap, not a redesign.</a:t>
            </a:r>
            <a:endParaRPr lang="en-US" sz="1150" noProof="1"/>
          </a:p>
        </p:txBody>
      </p:sp>
      <p:sp>
        <p:nvSpPr>
          <p:cNvPr id="5" name="c1"/>
          <p:cNvSpPr/>
          <p:nvPr/>
        </p:nvSpPr>
        <p:spPr>
          <a:xfrm>
            <a:off x="609600" y="1651000"/>
            <a:ext cx="2540000" cy="939800"/>
          </a:xfrm>
          <a:prstGeom prst="roundRect">
            <a:avLst>
              <a:gd name="adj" fmla="val 10000"/>
            </a:avLst>
          </a:prstGeom>
          <a:solidFill>
            <a:srgbClr val="09090B"/>
          </a:solidFill>
          <a:ln w="12700">
            <a:solidFill>
              <a:srgbClr val="232326"/>
            </a:solidFill>
          </a:ln>
        </p:spPr>
      </p:sp>
      <p:sp>
        <p:nvSpPr>
          <p:cNvPr id="6" name="c1t"/>
          <p:cNvSpPr txBox="1"/>
          <p:nvPr/>
        </p:nvSpPr>
        <p:spPr>
          <a:xfrm>
            <a:off x="762000" y="17526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bg / app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#09090B · canvas base</a:t>
            </a:r>
            <a:endParaRPr lang="en-US" sz="1600" noProof="1"/>
          </a:p>
        </p:txBody>
      </p:sp>
      <p:sp>
        <p:nvSpPr>
          <p:cNvPr id="7" name="c2"/>
          <p:cNvSpPr/>
          <p:nvPr/>
        </p:nvSpPr>
        <p:spPr>
          <a:xfrm>
            <a:off x="609600" y="2743200"/>
            <a:ext cx="2540000" cy="939800"/>
          </a:xfrm>
          <a:prstGeom prst="roundRect">
            <a:avLst>
              <a:gd name="adj" fmla="val 10000"/>
            </a:avLst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8" name="c2t"/>
          <p:cNvSpPr txBox="1"/>
          <p:nvPr/>
        </p:nvSpPr>
        <p:spPr>
          <a:xfrm>
            <a:off x="762000" y="28448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surface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#111113 · sidebar, header</a:t>
            </a:r>
            <a:endParaRPr lang="en-US" sz="1600" noProof="1"/>
          </a:p>
        </p:txBody>
      </p:sp>
      <p:sp>
        <p:nvSpPr>
          <p:cNvPr id="9" name="c3"/>
          <p:cNvSpPr/>
          <p:nvPr/>
        </p:nvSpPr>
        <p:spPr>
          <a:xfrm>
            <a:off x="609600" y="3835400"/>
            <a:ext cx="2540000" cy="9398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0" name="c3t"/>
          <p:cNvSpPr txBox="1"/>
          <p:nvPr/>
        </p:nvSpPr>
        <p:spPr>
          <a:xfrm>
            <a:off x="762000" y="39370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card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#18181B · nodes, panels</a:t>
            </a:r>
            <a:endParaRPr lang="en-US" sz="1600" noProof="1"/>
          </a:p>
        </p:txBody>
      </p:sp>
      <p:sp>
        <p:nvSpPr>
          <p:cNvPr id="11" name="c4"/>
          <p:cNvSpPr/>
          <p:nvPr/>
        </p:nvSpPr>
        <p:spPr>
          <a:xfrm>
            <a:off x="609600" y="4927600"/>
            <a:ext cx="2540000" cy="939800"/>
          </a:xfrm>
          <a:prstGeom prst="roundRect">
            <a:avLst>
              <a:gd name="adj" fmla="val 10000"/>
            </a:avLst>
          </a:prstGeom>
          <a:solidFill>
            <a:srgbClr val="27272A"/>
          </a:solidFill>
          <a:ln w="12700">
            <a:solidFill>
              <a:srgbClr val="232326"/>
            </a:solidFill>
          </a:ln>
        </p:spPr>
      </p:sp>
      <p:sp>
        <p:nvSpPr>
          <p:cNvPr id="12" name="c4t"/>
          <p:cNvSpPr txBox="1"/>
          <p:nvPr/>
        </p:nvSpPr>
        <p:spPr>
          <a:xfrm>
            <a:off x="762000" y="50292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elevated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#27272A · popovers, menus</a:t>
            </a:r>
            <a:endParaRPr lang="en-US" sz="1600" noProof="1"/>
          </a:p>
        </p:txBody>
      </p:sp>
      <p:sp>
        <p:nvSpPr>
          <p:cNvPr id="13" name="t1"/>
          <p:cNvSpPr/>
          <p:nvPr/>
        </p:nvSpPr>
        <p:spPr>
          <a:xfrm>
            <a:off x="3454400" y="1651000"/>
            <a:ext cx="2540000" cy="9398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4" name="t1t"/>
          <p:cNvSpPr txBox="1"/>
          <p:nvPr/>
        </p:nvSpPr>
        <p:spPr>
          <a:xfrm>
            <a:off x="3606800" y="17526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text / high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#FAFAFA · titles, values</a:t>
            </a:r>
            <a:endParaRPr lang="en-US" sz="1600" noProof="1"/>
          </a:p>
        </p:txBody>
      </p:sp>
      <p:sp>
        <p:nvSpPr>
          <p:cNvPr id="15" name="t2"/>
          <p:cNvSpPr/>
          <p:nvPr/>
        </p:nvSpPr>
        <p:spPr>
          <a:xfrm>
            <a:off x="3454400" y="2743200"/>
            <a:ext cx="2540000" cy="9398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6" name="t2t"/>
          <p:cNvSpPr txBox="1"/>
          <p:nvPr/>
        </p:nvSpPr>
        <p:spPr>
          <a:xfrm>
            <a:off x="3606800" y="28448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A1A1AA"/>
                </a:solidFill>
                <a:latin typeface="MiSans"/>
                <a:ea typeface="MiSans"/>
              </a:rPr>
              <a:t>text / medium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#A1A1AA · labels, metadata</a:t>
            </a:r>
            <a:endParaRPr lang="en-US" sz="1600" noProof="1"/>
          </a:p>
        </p:txBody>
      </p:sp>
      <p:sp>
        <p:nvSpPr>
          <p:cNvPr id="17" name="t3"/>
          <p:cNvSpPr/>
          <p:nvPr/>
        </p:nvSpPr>
        <p:spPr>
          <a:xfrm>
            <a:off x="3454400" y="3835400"/>
            <a:ext cx="2540000" cy="9398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8" name="t3t"/>
          <p:cNvSpPr txBox="1"/>
          <p:nvPr/>
        </p:nvSpPr>
        <p:spPr>
          <a:xfrm>
            <a:off x="3606800" y="39370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52525B"/>
                </a:solidFill>
                <a:latin typeface="MiSans"/>
                <a:ea typeface="MiSans"/>
              </a:rPr>
              <a:t>text / muted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#52525B · placeholders</a:t>
            </a:r>
            <a:endParaRPr lang="en-US" sz="1600" noProof="1"/>
          </a:p>
        </p:txBody>
      </p:sp>
      <p:sp>
        <p:nvSpPr>
          <p:cNvPr id="19" name="t4"/>
          <p:cNvSpPr/>
          <p:nvPr/>
        </p:nvSpPr>
        <p:spPr>
          <a:xfrm>
            <a:off x="3454400" y="4927600"/>
            <a:ext cx="2540000" cy="939800"/>
          </a:xfrm>
          <a:prstGeom prst="roundRect">
            <a:avLst>
              <a:gd name="adj" fmla="val 10000"/>
            </a:avLst>
          </a:prstGeom>
          <a:solidFill>
            <a:srgbClr val="7C6CFF">
              <a:alpha val="14118"/>
            </a:srgbClr>
          </a:solidFill>
          <a:ln w="12700">
            <a:solidFill>
              <a:srgbClr val="7C6CFF"/>
            </a:solidFill>
          </a:ln>
        </p:spPr>
      </p:sp>
      <p:sp>
        <p:nvSpPr>
          <p:cNvPr id="20" name="t4t"/>
          <p:cNvSpPr txBox="1"/>
          <p:nvPr/>
        </p:nvSpPr>
        <p:spPr>
          <a:xfrm>
            <a:off x="3606800" y="50292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 b="1">
                <a:solidFill>
                  <a:srgbClr val="7C6CFF"/>
                </a:solidFill>
                <a:latin typeface="MiSans"/>
                <a:ea typeface="MiSans"/>
              </a:rPr>
              <a:t>accent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#7C6CFF · primary actions</a:t>
            </a:r>
            <a:endParaRPr lang="en-US" sz="1600" noProof="1"/>
          </a:p>
        </p:txBody>
      </p:sp>
      <p:sp>
        <p:nvSpPr>
          <p:cNvPr id="21" name="status-label"/>
          <p:cNvSpPr txBox="1"/>
          <p:nvPr/>
        </p:nvSpPr>
        <p:spPr>
          <a:xfrm>
            <a:off x="6299200" y="15494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STATUS INDICATORS</a:t>
            </a:r>
            <a:endParaRPr lang="en-US" sz="1000" noProof="1"/>
          </a:p>
        </p:txBody>
      </p:sp>
      <p:sp>
        <p:nvSpPr>
          <p:cNvPr id="22" name="s1"/>
          <p:cNvSpPr/>
          <p:nvPr/>
        </p:nvSpPr>
        <p:spPr>
          <a:xfrm>
            <a:off x="6299200" y="1828800"/>
            <a:ext cx="2540000" cy="787400"/>
          </a:xfrm>
          <a:prstGeom prst="roundRect">
            <a:avLst>
              <a:gd name="adj" fmla="val 12000"/>
            </a:avLst>
          </a:prstGeom>
          <a:solidFill>
            <a:srgbClr val="34D399">
              <a:alpha val="10196"/>
            </a:srgbClr>
          </a:solidFill>
          <a:ln w="12700">
            <a:solidFill>
              <a:srgbClr val="34D399">
                <a:alpha val="30196"/>
              </a:srgbClr>
            </a:solidFill>
          </a:ln>
        </p:spPr>
      </p:sp>
      <p:sp>
        <p:nvSpPr>
          <p:cNvPr id="23" name="s1d"/>
          <p:cNvSpPr/>
          <p:nvPr/>
        </p:nvSpPr>
        <p:spPr>
          <a:xfrm>
            <a:off x="6502400" y="2032000"/>
            <a:ext cx="101600" cy="1016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</p:sp>
      <p:sp>
        <p:nvSpPr>
          <p:cNvPr id="24" name="s1t"/>
          <p:cNvSpPr txBox="1"/>
          <p:nvPr/>
        </p:nvSpPr>
        <p:spPr>
          <a:xfrm>
            <a:off x="6731000" y="1879600"/>
            <a:ext cx="190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100" noProof="1" b="1">
                <a:solidFill>
                  <a:srgbClr val="34D399"/>
                </a:solidFill>
                <a:latin typeface="MiSans"/>
                <a:ea typeface="MiSans"/>
              </a:rPr>
              <a:t>Success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#34D399 · run completed</a:t>
            </a:r>
            <a:endParaRPr lang="en-US" sz="1600" noProof="1"/>
          </a:p>
        </p:txBody>
      </p:sp>
      <p:sp>
        <p:nvSpPr>
          <p:cNvPr id="25" name="s2"/>
          <p:cNvSpPr/>
          <p:nvPr/>
        </p:nvSpPr>
        <p:spPr>
          <a:xfrm>
            <a:off x="6299200" y="2743200"/>
            <a:ext cx="2540000" cy="787400"/>
          </a:xfrm>
          <a:prstGeom prst="roundRect">
            <a:avLst>
              <a:gd name="adj" fmla="val 12000"/>
            </a:avLst>
          </a:prstGeom>
          <a:solidFill>
            <a:srgbClr val="FBBF24">
              <a:alpha val="10196"/>
            </a:srgbClr>
          </a:solidFill>
          <a:ln w="12700">
            <a:solidFill>
              <a:srgbClr val="FBBF24">
                <a:alpha val="30196"/>
              </a:srgbClr>
            </a:solidFill>
          </a:ln>
        </p:spPr>
      </p:sp>
      <p:sp>
        <p:nvSpPr>
          <p:cNvPr id="26" name="s2d"/>
          <p:cNvSpPr/>
          <p:nvPr/>
        </p:nvSpPr>
        <p:spPr>
          <a:xfrm>
            <a:off x="6502400" y="2946400"/>
            <a:ext cx="101600" cy="1016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</p:sp>
      <p:sp>
        <p:nvSpPr>
          <p:cNvPr id="27" name="s2t"/>
          <p:cNvSpPr txBox="1"/>
          <p:nvPr/>
        </p:nvSpPr>
        <p:spPr>
          <a:xfrm>
            <a:off x="6731000" y="2794000"/>
            <a:ext cx="190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100" noProof="1" b="1">
                <a:solidFill>
                  <a:srgbClr val="FBBF24"/>
                </a:solidFill>
                <a:latin typeface="MiSans"/>
                <a:ea typeface="MiSans"/>
              </a:rPr>
              <a:t>Warning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#FBBF24 · partial, expired</a:t>
            </a:r>
            <a:endParaRPr lang="en-US" sz="1600" noProof="1"/>
          </a:p>
        </p:txBody>
      </p:sp>
      <p:sp>
        <p:nvSpPr>
          <p:cNvPr id="28" name="s3"/>
          <p:cNvSpPr/>
          <p:nvPr/>
        </p:nvSpPr>
        <p:spPr>
          <a:xfrm>
            <a:off x="6299200" y="3657600"/>
            <a:ext cx="2540000" cy="787400"/>
          </a:xfrm>
          <a:prstGeom prst="roundRect">
            <a:avLst>
              <a:gd name="adj" fmla="val 12000"/>
            </a:avLst>
          </a:prstGeom>
          <a:solidFill>
            <a:srgbClr val="F87171">
              <a:alpha val="10196"/>
            </a:srgbClr>
          </a:solidFill>
          <a:ln w="12700">
            <a:solidFill>
              <a:srgbClr val="F87171">
                <a:alpha val="30196"/>
              </a:srgbClr>
            </a:solidFill>
          </a:ln>
        </p:spPr>
      </p:sp>
      <p:sp>
        <p:nvSpPr>
          <p:cNvPr id="29" name="s3d"/>
          <p:cNvSpPr/>
          <p:nvPr/>
        </p:nvSpPr>
        <p:spPr>
          <a:xfrm>
            <a:off x="6502400" y="3860800"/>
            <a:ext cx="101600" cy="1016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</p:sp>
      <p:sp>
        <p:nvSpPr>
          <p:cNvPr id="30" name="s3t"/>
          <p:cNvSpPr txBox="1"/>
          <p:nvPr/>
        </p:nvSpPr>
        <p:spPr>
          <a:xfrm>
            <a:off x="6731000" y="3708400"/>
            <a:ext cx="190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100" noProof="1" b="1">
                <a:solidFill>
                  <a:srgbClr val="F87171"/>
                </a:solidFill>
                <a:latin typeface="MiSans"/>
                <a:ea typeface="MiSans"/>
              </a:rPr>
              <a:t>Error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#F87171 · failed, destructive</a:t>
            </a:r>
            <a:endParaRPr lang="en-US" sz="1600" noProof="1"/>
          </a:p>
        </p:txBody>
      </p:sp>
      <p:sp>
        <p:nvSpPr>
          <p:cNvPr id="31" name="s4"/>
          <p:cNvSpPr/>
          <p:nvPr/>
        </p:nvSpPr>
        <p:spPr>
          <a:xfrm>
            <a:off x="6299200" y="4572000"/>
            <a:ext cx="2540000" cy="787400"/>
          </a:xfrm>
          <a:prstGeom prst="roundRect">
            <a:avLst>
              <a:gd name="adj" fmla="val 12000"/>
            </a:avLst>
          </a:prstGeom>
          <a:solidFill>
            <a:srgbClr val="38BDF8">
              <a:alpha val="10196"/>
            </a:srgbClr>
          </a:solidFill>
          <a:ln w="12700">
            <a:solidFill>
              <a:srgbClr val="38BDF8">
                <a:alpha val="30196"/>
              </a:srgbClr>
            </a:solidFill>
          </a:ln>
        </p:spPr>
      </p:sp>
      <p:sp>
        <p:nvSpPr>
          <p:cNvPr id="32" name="s4d"/>
          <p:cNvSpPr/>
          <p:nvPr/>
        </p:nvSpPr>
        <p:spPr>
          <a:xfrm>
            <a:off x="6502400" y="4775200"/>
            <a:ext cx="101600" cy="101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33" name="s4t"/>
          <p:cNvSpPr txBox="1"/>
          <p:nvPr/>
        </p:nvSpPr>
        <p:spPr>
          <a:xfrm>
            <a:off x="6731000" y="4622800"/>
            <a:ext cx="190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100" noProof="1" b="1">
                <a:solidFill>
                  <a:srgbClr val="38BDF8"/>
                </a:solidFill>
                <a:latin typeface="MiSans"/>
                <a:ea typeface="MiSans"/>
              </a:rPr>
              <a:t>Info / Running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#38BDF8 · in progress</a:t>
            </a:r>
            <a:endParaRPr lang="en-US" sz="1600" noProof="1"/>
          </a:p>
        </p:txBody>
      </p:sp>
      <p:sp>
        <p:nvSpPr>
          <p:cNvPr id="34" name="be-label"/>
          <p:cNvSpPr txBox="1"/>
          <p:nvPr/>
        </p:nvSpPr>
        <p:spPr>
          <a:xfrm>
            <a:off x="9144000" y="15494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BORDERS &amp; RADII</a:t>
            </a:r>
            <a:endParaRPr lang="en-US" sz="1000" noProof="1"/>
          </a:p>
        </p:txBody>
      </p:sp>
      <p:sp>
        <p:nvSpPr>
          <p:cNvPr id="35" name="r1"/>
          <p:cNvSpPr/>
          <p:nvPr/>
        </p:nvSpPr>
        <p:spPr>
          <a:xfrm>
            <a:off x="9144000" y="1828800"/>
            <a:ext cx="2438400" cy="5588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36" name="r1t"/>
          <p:cNvSpPr txBox="1"/>
          <p:nvPr/>
        </p:nvSpPr>
        <p:spPr>
          <a:xfrm>
            <a:off x="9296400" y="1828800"/>
            <a:ext cx="215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radius sm 4 · md 6 · lg 8 · xl 12</a:t>
            </a:r>
            <a:endParaRPr lang="en-US" sz="1050" noProof="1"/>
          </a:p>
        </p:txBody>
      </p:sp>
      <p:sp>
        <p:nvSpPr>
          <p:cNvPr id="37" name="r2"/>
          <p:cNvSpPr/>
          <p:nvPr/>
        </p:nvSpPr>
        <p:spPr>
          <a:xfrm>
            <a:off x="9144000" y="2514600"/>
            <a:ext cx="2438400" cy="5588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25400">
            <a:solidFill>
              <a:srgbClr val="7C6CFF"/>
            </a:solidFill>
          </a:ln>
        </p:spPr>
      </p:sp>
      <p:sp>
        <p:nvSpPr>
          <p:cNvPr id="38" name="r2t"/>
          <p:cNvSpPr txBox="1"/>
          <p:nvPr/>
        </p:nvSpPr>
        <p:spPr>
          <a:xfrm>
            <a:off x="9296400" y="2514600"/>
            <a:ext cx="215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focus ring · 2px accent</a:t>
            </a:r>
            <a:endParaRPr lang="en-US" sz="1050" noProof="1"/>
          </a:p>
        </p:txBody>
      </p:sp>
      <p:sp>
        <p:nvSpPr>
          <p:cNvPr id="39" name="r3"/>
          <p:cNvSpPr/>
          <p:nvPr/>
        </p:nvSpPr>
        <p:spPr>
          <a:xfrm>
            <a:off x="9144000" y="3200400"/>
            <a:ext cx="2438400" cy="558800"/>
          </a:xfrm>
          <a:prstGeom prst="roundRect">
            <a:avLst>
              <a:gd name="adj" fmla="val 9000"/>
            </a:avLst>
          </a:prstGeom>
          <a:solidFill>
            <a:srgbClr val="27272A"/>
          </a:solidFill>
          <a:ln w="12700">
            <a:solidFill>
              <a:srgbClr val="232326"/>
            </a:solidFill>
          </a:ln>
          <a:effectLst>
            <a:outerShdw blurRad="203200" dist="76200" dir="5400000" sx="100000" sy="100000" kx="0" ky="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r3t"/>
          <p:cNvSpPr txBox="1"/>
          <p:nvPr/>
        </p:nvSpPr>
        <p:spPr>
          <a:xfrm>
            <a:off x="9296400" y="3200400"/>
            <a:ext cx="215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popover shadow · 4/16 blur</a:t>
            </a:r>
            <a:endParaRPr lang="en-US" sz="1050" noProof="1"/>
          </a:p>
        </p:txBody>
      </p:sp>
      <p:sp>
        <p:nvSpPr>
          <p:cNvPr id="41" name="r4"/>
          <p:cNvSpPr/>
          <p:nvPr/>
        </p:nvSpPr>
        <p:spPr>
          <a:xfrm>
            <a:off x="9144000" y="3886200"/>
            <a:ext cx="2438400" cy="5588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7C6CFF"/>
            </a:solidFill>
          </a:ln>
          <a:effectLst>
            <a:outerShdw blurRad="254000" dist="0" dir="0" sx="100000" sy="100000" kx="0" ky="0" algn="bl" rotWithShape="0">
              <a:srgbClr val="7C6CFF">
                <a:alpha val="25098"/>
              </a:srgbClr>
            </a:outerShdw>
          </a:effectLst>
        </p:spPr>
      </p:sp>
      <p:sp>
        <p:nvSpPr>
          <p:cNvPr id="42" name="r4t"/>
          <p:cNvSpPr txBox="1"/>
          <p:nvPr/>
        </p:nvSpPr>
        <p:spPr>
          <a:xfrm>
            <a:off x="9296400" y="3886200"/>
            <a:ext cx="215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selected node glow</a:t>
            </a:r>
            <a:endParaRPr lang="en-US" sz="1050" noProof="1"/>
          </a:p>
        </p:txBody>
      </p:sp>
      <p:sp>
        <p:nvSpPr>
          <p:cNvPr id="43" name="r5"/>
          <p:cNvSpPr/>
          <p:nvPr/>
        </p:nvSpPr>
        <p:spPr>
          <a:xfrm>
            <a:off x="9144000" y="4572000"/>
            <a:ext cx="2438400" cy="7874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dash"/>
          </a:ln>
        </p:spPr>
      </p:sp>
      <p:sp>
        <p:nvSpPr>
          <p:cNvPr id="44" name="r5t"/>
          <p:cNvSpPr txBox="1"/>
          <p:nvPr/>
        </p:nvSpPr>
        <p:spPr>
          <a:xfrm>
            <a:off x="9296400" y="4572000"/>
            <a:ext cx="2159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050" noProof="1">
                <a:solidFill>
                  <a:srgbClr val="52525B"/>
                </a:solidFill>
                <a:latin typeface="MiSans"/>
                <a:ea typeface="MiSans"/>
              </a:rPr>
              <a:t>borders always 1px</a:t>
            </a:r>
            <a:endParaRPr lang="en-US" sz="1050" noProof="1"/>
          </a:p>
          <a:p>
            <a:pPr algn="l">
              <a:lnSpc>
                <a:spcPct val="150000"/>
              </a:lnSpc>
            </a:pPr>
            <a:r>
              <a:rPr lang="en-US" sz="1050" noProof="1">
                <a:solidFill>
                  <a:srgbClr val="52525B"/>
                </a:solidFill>
                <a:latin typeface="MiSans"/>
                <a:ea typeface="MiSans"/>
              </a:rPr>
              <a:t>never 2px except focus rings</a:t>
            </a:r>
            <a:endParaRPr lang="en-US" sz="1050" noProof="1"/>
          </a:p>
        </p:txBody>
      </p:sp>
      <p:sp>
        <p:nvSpPr>
          <p:cNvPr id="45" name="pagenum"/>
          <p:cNvSpPr txBox="1"/>
          <p:nvPr/>
        </p:nvSpPr>
        <p:spPr>
          <a:xfrm>
            <a:off x="11430000" y="6426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57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03 — TYPE &amp; COMPONENTS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711200"/>
            <a:ext cx="635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Typography scale &amp; core components</a:t>
            </a:r>
            <a:endParaRPr lang="en-US" sz="2400" noProof="1"/>
          </a:p>
        </p:txBody>
      </p:sp>
      <p:sp>
        <p:nvSpPr>
          <p:cNvPr id="4" name="ty-label"/>
          <p:cNvSpPr txBox="1"/>
          <p:nvPr/>
        </p:nvSpPr>
        <p:spPr>
          <a:xfrm>
            <a:off x="609600" y="1422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TYPE SCALE — INTER</a:t>
            </a:r>
            <a:endParaRPr lang="en-US" sz="1000" noProof="1"/>
          </a:p>
        </p:txBody>
      </p:sp>
      <p:sp>
        <p:nvSpPr>
          <p:cNvPr id="5" name="ty1"/>
          <p:cNvSpPr txBox="1"/>
          <p:nvPr/>
        </p:nvSpPr>
        <p:spPr>
          <a:xfrm>
            <a:off x="609600" y="1701800"/>
            <a:ext cx="546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FAFAFA"/>
                </a:solidFill>
                <a:latin typeface="MiSans"/>
                <a:ea typeface="MiSans"/>
              </a:rPr>
              <a:t>Flow name / xl 20–26</a:t>
            </a:r>
            <a:r>
              <a:rPr lang="en-US" sz="1600" noProof="1">
                <a:solidFill>
                  <a:srgbClr val="333333"/>
                </a:solidFill>
                <a:latin typeface="MiSans"/>
                <a:ea typeface="MiSans"/>
              </a:rPr>
              <a:t> </a:t>
            </a: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  600 · lh 28</a:t>
            </a:r>
            <a:endParaRPr lang="en-US" sz="1600" noProof="1"/>
          </a:p>
        </p:txBody>
      </p:sp>
      <p:sp>
        <p:nvSpPr>
          <p:cNvPr id="6" name="ty2"/>
          <p:cNvSpPr txBox="1"/>
          <p:nvPr/>
        </p:nvSpPr>
        <p:spPr>
          <a:xfrm>
            <a:off x="609600" y="2286000"/>
            <a:ext cx="546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FAFAFA"/>
                </a:solidFill>
                <a:latin typeface="MiSans"/>
                <a:ea typeface="MiSans"/>
              </a:rPr>
              <a:t>Section title / lg 16</a:t>
            </a:r>
            <a:r>
              <a:rPr lang="en-US" sz="1600" noProof="1">
                <a:solidFill>
                  <a:srgbClr val="333333"/>
                </a:solidFill>
                <a:latin typeface="MiSans"/>
                <a:ea typeface="MiSans"/>
              </a:rPr>
              <a:t> </a:t>
            </a: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  600 · lh 24</a:t>
            </a:r>
            <a:endParaRPr lang="en-US" sz="1600" noProof="1"/>
          </a:p>
        </p:txBody>
      </p:sp>
      <p:sp>
        <p:nvSpPr>
          <p:cNvPr id="7" name="ty3"/>
          <p:cNvSpPr txBox="1"/>
          <p:nvPr/>
        </p:nvSpPr>
        <p:spPr>
          <a:xfrm>
            <a:off x="609600" y="2743200"/>
            <a:ext cx="546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FAFAFA"/>
                </a:solidFill>
                <a:latin typeface="MiSans"/>
                <a:ea typeface="MiSans"/>
              </a:rPr>
              <a:t>Base UI / 13</a:t>
            </a:r>
            <a:r>
              <a:rPr lang="en-US" sz="1600" noProof="1">
                <a:solidFill>
                  <a:srgbClr val="333333"/>
                </a:solidFill>
                <a:latin typeface="MiSans"/>
                <a:ea typeface="MiSans"/>
              </a:rPr>
              <a:t> </a:t>
            </a: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  400 · lh 20 · labels, buttons</a:t>
            </a:r>
            <a:endParaRPr lang="en-US" sz="1600" noProof="1"/>
          </a:p>
        </p:txBody>
      </p:sp>
      <p:sp>
        <p:nvSpPr>
          <p:cNvPr id="8" name="ty4"/>
          <p:cNvSpPr txBox="1"/>
          <p:nvPr/>
        </p:nvSpPr>
        <p:spPr>
          <a:xfrm>
            <a:off x="609600" y="3124200"/>
            <a:ext cx="5461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A1A1AA"/>
                </a:solidFill>
                <a:latin typeface="MiSans"/>
                <a:ea typeface="MiSans"/>
              </a:rPr>
              <a:t>Secondary / sm 12</a:t>
            </a:r>
            <a:r>
              <a:rPr lang="en-US" sz="1600" noProof="1">
                <a:solidFill>
                  <a:srgbClr val="333333"/>
                </a:solidFill>
                <a:latin typeface="MiSans"/>
                <a:ea typeface="MiSans"/>
              </a:rPr>
              <a:t> </a:t>
            </a: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  400 · lh 18 · metadata</a:t>
            </a:r>
            <a:endParaRPr lang="en-US" sz="1600" noProof="1"/>
          </a:p>
        </p:txBody>
      </p:sp>
      <p:sp>
        <p:nvSpPr>
          <p:cNvPr id="9" name="ty5"/>
          <p:cNvSpPr txBox="1"/>
          <p:nvPr/>
        </p:nvSpPr>
        <p:spPr>
          <a:xfrm>
            <a:off x="609600" y="34544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A1A1AA"/>
                </a:solidFill>
                <a:latin typeface="MiSans"/>
                <a:ea typeface="MiSans"/>
              </a:rPr>
              <a:t>BADGE / XS 11</a:t>
            </a:r>
            <a:r>
              <a:rPr lang="en-US" sz="1600" noProof="1">
                <a:solidFill>
                  <a:srgbClr val="333333"/>
                </a:solidFill>
                <a:latin typeface="MiSans"/>
                <a:ea typeface="MiSans"/>
              </a:rPr>
              <a:t> </a:t>
            </a: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  500 · ls 0.4 · status chips</a:t>
            </a:r>
            <a:endParaRPr lang="en-US" sz="1600" noProof="1"/>
          </a:p>
        </p:txBody>
      </p:sp>
      <p:sp>
        <p:nvSpPr>
          <p:cNvPr id="10" name="ty-label2"/>
          <p:cNvSpPr txBox="1"/>
          <p:nvPr/>
        </p:nvSpPr>
        <p:spPr>
          <a:xfrm>
            <a:off x="609600" y="3962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DATA — JETBRAINS MONO</a:t>
            </a:r>
            <a:endParaRPr lang="en-US" sz="1000" noProof="1"/>
          </a:p>
        </p:txBody>
      </p:sp>
      <p:sp>
        <p:nvSpPr>
          <p:cNvPr id="11" name="mono-block"/>
          <p:cNvSpPr/>
          <p:nvPr/>
        </p:nvSpPr>
        <p:spPr>
          <a:xfrm>
            <a:off x="609600" y="4216400"/>
            <a:ext cx="5461000" cy="1219200"/>
          </a:xfrm>
          <a:prstGeom prst="roundRect">
            <a:avLst>
              <a:gd name="adj" fmla="val 8000"/>
            </a:avLst>
          </a:prstGeom>
          <a:solidFill>
            <a:srgbClr val="0D0D0F"/>
          </a:solidFill>
          <a:ln w="12700">
            <a:solidFill>
              <a:srgbClr val="232326"/>
            </a:solidFill>
          </a:ln>
        </p:spPr>
      </p:sp>
      <p:sp>
        <p:nvSpPr>
          <p:cNvPr id="12" name="mono-text"/>
          <p:cNvSpPr txBox="1"/>
          <p:nvPr/>
        </p:nvSpPr>
        <p:spPr>
          <a:xfrm>
            <a:off x="787400" y="4343400"/>
            <a:ext cx="5080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93C5FD"/>
                </a:solidFill>
                <a:latin typeface="MiSans"/>
                <a:ea typeface="MiSans"/>
              </a:rPr>
              <a:t>"run_id"</a:t>
            </a:r>
            <a:r>
              <a:rPr lang="en-US" sz="1050" noProof="1">
                <a:solidFill>
                  <a:srgbClr val="52525B"/>
                </a:solidFill>
                <a:latin typeface="MiSans"/>
                <a:ea typeface="MiSans"/>
              </a:rPr>
              <a:t>: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 </a:t>
            </a:r>
            <a:r>
              <a:rPr lang="en-US" sz="1050" noProof="1">
                <a:solidFill>
                  <a:srgbClr val="FBBF24"/>
                </a:solidFill>
                <a:latin typeface="MiSans"/>
                <a:ea typeface="MiSans"/>
              </a:rPr>
              <a:t>1284</a:t>
            </a:r>
            <a:r>
              <a:rPr lang="en-US" sz="1050" noProof="1">
                <a:solidFill>
                  <a:srgbClr val="52525B"/>
                </a:solidFill>
                <a:latin typeface="MiSans"/>
                <a:ea typeface="MiSans"/>
              </a:rPr>
              <a:t>,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  </a:t>
            </a:r>
            <a:r>
              <a:rPr lang="en-US" sz="1050" noProof="1">
                <a:solidFill>
                  <a:srgbClr val="93C5FD"/>
                </a:solidFill>
                <a:latin typeface="MiSans"/>
                <a:ea typeface="MiSans"/>
              </a:rPr>
              <a:t>"status"</a:t>
            </a:r>
            <a:r>
              <a:rPr lang="en-US" sz="1050" noProof="1">
                <a:solidFill>
                  <a:srgbClr val="52525B"/>
                </a:solidFill>
                <a:latin typeface="MiSans"/>
                <a:ea typeface="MiSans"/>
              </a:rPr>
              <a:t>: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 </a:t>
            </a:r>
            <a:r>
              <a:rPr lang="en-US" sz="1050" noProof="1">
                <a:solidFill>
                  <a:srgbClr val="86EFAC"/>
                </a:solidFill>
                <a:latin typeface="MiSans"/>
                <a:ea typeface="MiSans"/>
              </a:rPr>
              <a:t>"success"</a:t>
            </a:r>
            <a:endParaRPr lang="en-US" sz="1050" noProof="1"/>
          </a:p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93C5FD"/>
                </a:solidFill>
                <a:latin typeface="MiSans"/>
                <a:ea typeface="MiSans"/>
              </a:rPr>
              <a:t>"duration_ms"</a:t>
            </a:r>
            <a:r>
              <a:rPr lang="en-US" sz="1050" noProof="1">
                <a:solidFill>
                  <a:srgbClr val="52525B"/>
                </a:solidFill>
                <a:latin typeface="MiSans"/>
                <a:ea typeface="MiSans"/>
              </a:rPr>
              <a:t>: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 </a:t>
            </a:r>
            <a:r>
              <a:rPr lang="en-US" sz="1050" noProof="1">
                <a:solidFill>
                  <a:srgbClr val="FBBF24"/>
                </a:solidFill>
                <a:latin typeface="MiSans"/>
                <a:ea typeface="MiSans"/>
              </a:rPr>
              <a:t>8400</a:t>
            </a:r>
            <a:r>
              <a:rPr lang="en-US" sz="1050" noProof="1">
                <a:solidFill>
                  <a:srgbClr val="52525B"/>
                </a:solidFill>
                <a:latin typeface="MiSans"/>
                <a:ea typeface="MiSans"/>
              </a:rPr>
              <a:t>,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  </a:t>
            </a:r>
            <a:r>
              <a:rPr lang="en-US" sz="1050" noProof="1">
                <a:solidFill>
                  <a:srgbClr val="93C5FD"/>
                </a:solidFill>
                <a:latin typeface="MiSans"/>
                <a:ea typeface="MiSans"/>
              </a:rPr>
              <a:t>"cost"</a:t>
            </a:r>
            <a:r>
              <a:rPr lang="en-US" sz="1050" noProof="1">
                <a:solidFill>
                  <a:srgbClr val="52525B"/>
                </a:solidFill>
                <a:latin typeface="MiSans"/>
                <a:ea typeface="MiSans"/>
              </a:rPr>
              <a:t>: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 </a:t>
            </a:r>
            <a:r>
              <a:rPr lang="en-US" sz="1050" noProof="1">
                <a:solidFill>
                  <a:srgbClr val="FBBF24"/>
                </a:solidFill>
                <a:latin typeface="MiSans"/>
                <a:ea typeface="MiSans"/>
              </a:rPr>
              <a:t>0.042</a:t>
            </a:r>
            <a:endParaRPr lang="en-US" sz="1050" noProof="1"/>
          </a:p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52525B"/>
                </a:solidFill>
                <a:latin typeface="MiSans"/>
                <a:ea typeface="MiSans"/>
              </a:rPr>
              <a:t>// IDs, timestamps, payloads — always mono</a:t>
            </a:r>
            <a:endParaRPr lang="en-US" sz="1050" noProof="1"/>
          </a:p>
        </p:txBody>
      </p:sp>
      <p:sp>
        <p:nvSpPr>
          <p:cNvPr id="13" name="cp-label"/>
          <p:cNvSpPr txBox="1"/>
          <p:nvPr/>
        </p:nvSpPr>
        <p:spPr>
          <a:xfrm>
            <a:off x="6604000" y="1422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COMPONENTS</a:t>
            </a:r>
            <a:endParaRPr lang="en-US" sz="1000" noProof="1"/>
          </a:p>
        </p:txBody>
      </p:sp>
      <p:sp>
        <p:nvSpPr>
          <p:cNvPr id="14" name="btn-pri"/>
          <p:cNvSpPr/>
          <p:nvPr/>
        </p:nvSpPr>
        <p:spPr>
          <a:xfrm>
            <a:off x="6604000" y="1701800"/>
            <a:ext cx="1397000" cy="381000"/>
          </a:xfrm>
          <a:prstGeom prst="roundRect">
            <a:avLst>
              <a:gd name="adj" fmla="val 24000"/>
            </a:avLst>
          </a:prstGeom>
          <a:solidFill>
            <a:srgbClr val="7C6CFF"/>
          </a:solidFill>
          <a:ln>
            <a:noFill/>
          </a:ln>
        </p:spPr>
      </p:sp>
      <p:sp>
        <p:nvSpPr>
          <p:cNvPr id="15" name="btn-pri-t"/>
          <p:cNvSpPr txBox="1"/>
          <p:nvPr/>
        </p:nvSpPr>
        <p:spPr>
          <a:xfrm>
            <a:off x="6604000" y="1701800"/>
            <a:ext cx="1397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▶ Run flow</a:t>
            </a:r>
            <a:endParaRPr lang="en-US" sz="1100" noProof="1"/>
          </a:p>
        </p:txBody>
      </p:sp>
      <p:sp>
        <p:nvSpPr>
          <p:cNvPr id="16" name="btn-sec"/>
          <p:cNvSpPr/>
          <p:nvPr/>
        </p:nvSpPr>
        <p:spPr>
          <a:xfrm>
            <a:off x="8128000" y="1701800"/>
            <a:ext cx="1143000" cy="381000"/>
          </a:xfrm>
          <a:prstGeom prst="roundRect">
            <a:avLst>
              <a:gd name="adj" fmla="val 24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7" name="btn-sec-t"/>
          <p:cNvSpPr txBox="1"/>
          <p:nvPr/>
        </p:nvSpPr>
        <p:spPr>
          <a:xfrm>
            <a:off x="8128000" y="17018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FAFAFA"/>
                </a:solidFill>
                <a:latin typeface="MiSans"/>
                <a:ea typeface="MiSans"/>
              </a:rPr>
              <a:t>Share</a:t>
            </a:r>
            <a:endParaRPr lang="en-US" sz="1100" noProof="1"/>
          </a:p>
        </p:txBody>
      </p:sp>
      <p:sp>
        <p:nvSpPr>
          <p:cNvPr id="18" name="btn-dis"/>
          <p:cNvSpPr/>
          <p:nvPr/>
        </p:nvSpPr>
        <p:spPr>
          <a:xfrm>
            <a:off x="9398000" y="1701800"/>
            <a:ext cx="1143000" cy="381000"/>
          </a:xfrm>
          <a:prstGeom prst="roundRect">
            <a:avLst>
              <a:gd name="adj" fmla="val 2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9" name="btn-dis-t"/>
          <p:cNvSpPr txBox="1"/>
          <p:nvPr/>
        </p:nvSpPr>
        <p:spPr>
          <a:xfrm>
            <a:off x="9398000" y="17018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52525B"/>
                </a:solidFill>
                <a:latin typeface="MiSans"/>
                <a:ea typeface="MiSans"/>
              </a:rPr>
              <a:t>Run</a:t>
            </a:r>
            <a:endParaRPr lang="en-US" sz="1100" noProof="1"/>
          </a:p>
        </p:txBody>
      </p:sp>
      <p:sp>
        <p:nvSpPr>
          <p:cNvPr id="20" name="ch1"/>
          <p:cNvSpPr/>
          <p:nvPr/>
        </p:nvSpPr>
        <p:spPr>
          <a:xfrm>
            <a:off x="6604000" y="2260600"/>
            <a:ext cx="965200" cy="279400"/>
          </a:xfrm>
          <a:prstGeom prst="roundRect">
            <a:avLst>
              <a:gd name="adj" fmla="val 30000"/>
            </a:avLst>
          </a:prstGeom>
          <a:solidFill>
            <a:srgbClr val="34D399">
              <a:alpha val="10196"/>
            </a:srgbClr>
          </a:solidFill>
          <a:ln w="12700">
            <a:solidFill>
              <a:srgbClr val="34D399">
                <a:alpha val="30196"/>
              </a:srgbClr>
            </a:solidFill>
          </a:ln>
        </p:spPr>
      </p:sp>
      <p:sp>
        <p:nvSpPr>
          <p:cNvPr id="21" name="ch1t"/>
          <p:cNvSpPr txBox="1"/>
          <p:nvPr/>
        </p:nvSpPr>
        <p:spPr>
          <a:xfrm>
            <a:off x="6604000" y="2260600"/>
            <a:ext cx="965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34D399"/>
                </a:solidFill>
                <a:latin typeface="MiSans"/>
                <a:ea typeface="MiSans"/>
              </a:rPr>
              <a:t>● Success</a:t>
            </a:r>
            <a:endParaRPr lang="en-US" sz="1000" noProof="1"/>
          </a:p>
        </p:txBody>
      </p:sp>
      <p:sp>
        <p:nvSpPr>
          <p:cNvPr id="22" name="ch2"/>
          <p:cNvSpPr/>
          <p:nvPr/>
        </p:nvSpPr>
        <p:spPr>
          <a:xfrm>
            <a:off x="7670800" y="2260600"/>
            <a:ext cx="838200" cy="279400"/>
          </a:xfrm>
          <a:prstGeom prst="roundRect">
            <a:avLst>
              <a:gd name="adj" fmla="val 30000"/>
            </a:avLst>
          </a:prstGeom>
          <a:solidFill>
            <a:srgbClr val="F87171">
              <a:alpha val="10196"/>
            </a:srgbClr>
          </a:solidFill>
          <a:ln w="12700">
            <a:solidFill>
              <a:srgbClr val="F87171">
                <a:alpha val="30196"/>
              </a:srgbClr>
            </a:solidFill>
          </a:ln>
        </p:spPr>
      </p:sp>
      <p:sp>
        <p:nvSpPr>
          <p:cNvPr id="23" name="ch2t"/>
          <p:cNvSpPr txBox="1"/>
          <p:nvPr/>
        </p:nvSpPr>
        <p:spPr>
          <a:xfrm>
            <a:off x="7670800" y="2260600"/>
            <a:ext cx="838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F87171"/>
                </a:solidFill>
                <a:latin typeface="MiSans"/>
                <a:ea typeface="MiSans"/>
              </a:rPr>
              <a:t>● Failed</a:t>
            </a:r>
            <a:endParaRPr lang="en-US" sz="1000" noProof="1"/>
          </a:p>
        </p:txBody>
      </p:sp>
      <p:sp>
        <p:nvSpPr>
          <p:cNvPr id="24" name="ch3"/>
          <p:cNvSpPr/>
          <p:nvPr/>
        </p:nvSpPr>
        <p:spPr>
          <a:xfrm>
            <a:off x="8610600" y="2260600"/>
            <a:ext cx="939800" cy="279400"/>
          </a:xfrm>
          <a:prstGeom prst="roundRect">
            <a:avLst>
              <a:gd name="adj" fmla="val 30000"/>
            </a:avLst>
          </a:prstGeom>
          <a:solidFill>
            <a:srgbClr val="38BDF8">
              <a:alpha val="10196"/>
            </a:srgbClr>
          </a:solidFill>
          <a:ln w="12700">
            <a:solidFill>
              <a:srgbClr val="38BDF8">
                <a:alpha val="30196"/>
              </a:srgbClr>
            </a:solidFill>
          </a:ln>
        </p:spPr>
      </p:sp>
      <p:sp>
        <p:nvSpPr>
          <p:cNvPr id="25" name="ch3t"/>
          <p:cNvSpPr txBox="1"/>
          <p:nvPr/>
        </p:nvSpPr>
        <p:spPr>
          <a:xfrm>
            <a:off x="8610600" y="2260600"/>
            <a:ext cx="939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38BDF8"/>
                </a:solidFill>
                <a:latin typeface="MiSans"/>
                <a:ea typeface="MiSans"/>
              </a:rPr>
              <a:t>● Running</a:t>
            </a:r>
            <a:endParaRPr lang="en-US" sz="1000" noProof="1"/>
          </a:p>
        </p:txBody>
      </p:sp>
      <p:sp>
        <p:nvSpPr>
          <p:cNvPr id="26" name="ch4"/>
          <p:cNvSpPr/>
          <p:nvPr/>
        </p:nvSpPr>
        <p:spPr>
          <a:xfrm>
            <a:off x="9652000" y="2260600"/>
            <a:ext cx="889000" cy="279400"/>
          </a:xfrm>
          <a:prstGeom prst="roundRect">
            <a:avLst>
              <a:gd name="adj" fmla="val 30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7" name="ch4t"/>
          <p:cNvSpPr txBox="1"/>
          <p:nvPr/>
        </p:nvSpPr>
        <p:spPr>
          <a:xfrm>
            <a:off x="9652000" y="2260600"/>
            <a:ext cx="88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Webhook</a:t>
            </a:r>
            <a:endParaRPr lang="en-US" sz="1000" noProof="1"/>
          </a:p>
        </p:txBody>
      </p:sp>
      <p:sp>
        <p:nvSpPr>
          <p:cNvPr id="28" name="inp"/>
          <p:cNvSpPr/>
          <p:nvPr/>
        </p:nvSpPr>
        <p:spPr>
          <a:xfrm>
            <a:off x="6604000" y="2717800"/>
            <a:ext cx="3937000" cy="406400"/>
          </a:xfrm>
          <a:prstGeom prst="roundRect">
            <a:avLst>
              <a:gd name="adj" fmla="val 22000"/>
            </a:avLst>
          </a:prstGeom>
          <a:solidFill>
            <a:srgbClr val="18181B"/>
          </a:solidFill>
          <a:ln w="12700">
            <a:solidFill>
              <a:srgbClr val="7C6CFF"/>
            </a:solidFill>
          </a:ln>
        </p:spPr>
      </p:sp>
      <p:sp>
        <p:nvSpPr>
          <p:cNvPr id="29" name="inp-t"/>
          <p:cNvSpPr txBox="1"/>
          <p:nvPr/>
        </p:nvSpPr>
        <p:spPr>
          <a:xfrm>
            <a:off x="6781800" y="2717800"/>
            <a:ext cx="3556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52525B"/>
                </a:solidFill>
                <a:latin typeface="MiSans"/>
                <a:ea typeface="MiSans"/>
              </a:rPr>
              <a:t>Search nodes…</a:t>
            </a:r>
            <a:endParaRPr lang="en-US" sz="1150" noProof="1"/>
          </a:p>
        </p:txBody>
      </p:sp>
      <p:sp>
        <p:nvSpPr>
          <p:cNvPr id="30" name="inp-caret"/>
          <p:cNvSpPr/>
          <p:nvPr/>
        </p:nvSpPr>
        <p:spPr>
          <a:xfrm>
            <a:off x="8051800" y="2819400"/>
            <a:ext cx="19050" cy="203200"/>
          </a:xfrm>
          <a:prstGeom prst="rect">
            <a:avLst/>
          </a:prstGeom>
          <a:solidFill>
            <a:srgbClr val="7C6CFF"/>
          </a:solidFill>
          <a:ln>
            <a:noFill/>
          </a:ln>
        </p:spPr>
      </p:sp>
      <p:sp>
        <p:nvSpPr>
          <p:cNvPr id="31" name="nc-label"/>
          <p:cNvSpPr txBox="1"/>
          <p:nvPr/>
        </p:nvSpPr>
        <p:spPr>
          <a:xfrm>
            <a:off x="6604000" y="3327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CANVAS NODE</a:t>
            </a:r>
            <a:endParaRPr lang="en-US" sz="1000" noProof="1"/>
          </a:p>
        </p:txBody>
      </p:sp>
      <p:sp>
        <p:nvSpPr>
          <p:cNvPr id="32" name="nc"/>
          <p:cNvSpPr/>
          <p:nvPr/>
        </p:nvSpPr>
        <p:spPr>
          <a:xfrm>
            <a:off x="6604000" y="3581400"/>
            <a:ext cx="2540000" cy="1168400"/>
          </a:xfrm>
          <a:prstGeom prst="roundRect">
            <a:avLst>
              <a:gd name="adj" fmla="val 9000"/>
            </a:avLst>
          </a:prstGeom>
          <a:solidFill>
            <a:srgbClr val="18181B"/>
          </a:solidFill>
          <a:ln w="12700">
            <a:solidFill>
              <a:srgbClr val="7C6CFF"/>
            </a:solidFill>
          </a:ln>
          <a:effectLst>
            <a:outerShdw blurRad="254000" dist="0" dir="0" sx="100000" sy="100000" kx="0" ky="0" algn="bl" rotWithShape="0">
              <a:srgbClr val="7C6CFF">
                <a:alpha val="25098"/>
              </a:srgbClr>
            </a:outerShdw>
          </a:effectLst>
        </p:spPr>
      </p:sp>
      <p:sp>
        <p:nvSpPr>
          <p:cNvPr id="33" name="nc-dot"/>
          <p:cNvSpPr/>
          <p:nvPr/>
        </p:nvSpPr>
        <p:spPr>
          <a:xfrm>
            <a:off x="6781800" y="3759200"/>
            <a:ext cx="88900" cy="889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</p:sp>
      <p:sp>
        <p:nvSpPr>
          <p:cNvPr id="34" name="nc-title"/>
          <p:cNvSpPr txBox="1"/>
          <p:nvPr/>
        </p:nvSpPr>
        <p:spPr>
          <a:xfrm>
            <a:off x="6959600" y="36703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FAFAFA"/>
                </a:solidFill>
                <a:latin typeface="MiSans"/>
                <a:ea typeface="MiSans"/>
              </a:rPr>
              <a:t>Enrich Lead</a:t>
            </a:r>
            <a:endParaRPr lang="en-US" sz="1200" noProof="1"/>
          </a:p>
        </p:txBody>
      </p:sp>
      <p:sp>
        <p:nvSpPr>
          <p:cNvPr id="35" name="nc-type"/>
          <p:cNvSpPr txBox="1"/>
          <p:nvPr/>
        </p:nvSpPr>
        <p:spPr>
          <a:xfrm>
            <a:off x="6781800" y="3937000"/>
            <a:ext cx="203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spc="80" kern="0">
                <a:solidFill>
                  <a:srgbClr val="52525B"/>
                </a:solidFill>
                <a:latin typeface="MiSans"/>
                <a:ea typeface="MiSans"/>
              </a:rPr>
              <a:t>OPENAI · GPT-4O</a:t>
            </a:r>
            <a:endParaRPr lang="en-US" sz="850" noProof="1"/>
          </a:p>
        </p:txBody>
      </p:sp>
      <p:sp>
        <p:nvSpPr>
          <p:cNvPr id="36" name="nc-prev"/>
          <p:cNvSpPr txBox="1"/>
          <p:nvPr/>
        </p:nvSpPr>
        <p:spPr>
          <a:xfrm>
            <a:off x="6781800" y="4140200"/>
            <a:ext cx="2184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prompt: "Enrich {{n1.lead}}…"</a:t>
            </a:r>
            <a:endParaRPr lang="en-US" sz="1000" noProof="1"/>
          </a:p>
        </p:txBody>
      </p:sp>
      <p:sp>
        <p:nvSpPr>
          <p:cNvPr id="37" name="nc-div"/>
          <p:cNvSpPr/>
          <p:nvPr>
            <p:extLst>
              <p:ext uri="{F5677B7D-0D2A-4D9B-9A5C-6D8D7D0E5A5D}">
                <pptd:line encoding="base64url">eyJ2aWV3Qm94IjpbMjAwLDFdLCJwb2ludHMiOiIwLDAgMjAwLDAifQ</pptd:line>
              </p:ext>
            </p:extLst>
          </p:nvPr>
        </p:nvSpPr>
        <p:spPr>
          <a:xfrm>
            <a:off x="6604000" y="4419600"/>
            <a:ext cx="2540000" cy="12700"/>
          </a:xfrm>
          <a:custGeom>
            <a:avLst/>
            <a:gdLst/>
            <a:ahLst/>
            <a:cxnLst/>
            <a:rect l="l" t="t" r="r" b="b"/>
            <a:pathLst>
              <a:path w="200" h="1">
                <a:moveTo>
                  <a:pt x="0" y="0"/>
                </a:moveTo>
                <a:lnTo>
                  <a:pt x="200" y="0"/>
                </a:lnTo>
              </a:path>
            </a:pathLst>
          </a:custGeom>
          <a:noFill/>
          <a:ln w="12700" cap="rnd">
            <a:solidFill>
              <a:srgbClr val="232326"/>
            </a:solidFill>
            <a:round/>
          </a:ln>
        </p:spPr>
      </p:sp>
      <p:sp>
        <p:nvSpPr>
          <p:cNvPr id="38" name="nc-foot"/>
          <p:cNvSpPr txBox="1"/>
          <p:nvPr/>
        </p:nvSpPr>
        <p:spPr>
          <a:xfrm>
            <a:off x="6781800" y="4495800"/>
            <a:ext cx="2159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52525B"/>
                </a:solidFill>
                <a:latin typeface="MiSans"/>
                <a:ea typeface="MiSans"/>
              </a:rPr>
              <a:t>✓ 2.1s · $0.018</a:t>
            </a:r>
            <a:endParaRPr lang="en-US" sz="950" noProof="1"/>
          </a:p>
        </p:txBody>
      </p:sp>
      <p:sp>
        <p:nvSpPr>
          <p:cNvPr id="39" name="nc-port-l"/>
          <p:cNvSpPr/>
          <p:nvPr/>
        </p:nvSpPr>
        <p:spPr>
          <a:xfrm>
            <a:off x="6540500" y="4102100"/>
            <a:ext cx="127000" cy="127000"/>
          </a:xfrm>
          <a:prstGeom prst="ellipse">
            <a:avLst/>
          </a:prstGeom>
          <a:solidFill>
            <a:srgbClr val="09090B"/>
          </a:solidFill>
          <a:ln w="25400">
            <a:solidFill>
              <a:srgbClr val="3F3F46"/>
            </a:solidFill>
          </a:ln>
        </p:spPr>
      </p:sp>
      <p:sp>
        <p:nvSpPr>
          <p:cNvPr id="40" name="nc-port-r"/>
          <p:cNvSpPr/>
          <p:nvPr/>
        </p:nvSpPr>
        <p:spPr>
          <a:xfrm>
            <a:off x="9080500" y="4102100"/>
            <a:ext cx="127000" cy="127000"/>
          </a:xfrm>
          <a:prstGeom prst="ellipse">
            <a:avLst/>
          </a:prstGeom>
          <a:solidFill>
            <a:srgbClr val="09090B"/>
          </a:solidFill>
          <a:ln w="25400">
            <a:solidFill>
              <a:srgbClr val="3F3F46"/>
            </a:solidFill>
          </a:ln>
        </p:spPr>
      </p:sp>
      <p:sp>
        <p:nvSpPr>
          <p:cNvPr id="41" name="mo-label"/>
          <p:cNvSpPr txBox="1"/>
          <p:nvPr/>
        </p:nvSpPr>
        <p:spPr>
          <a:xfrm>
            <a:off x="9601200" y="33274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MOTION</a:t>
            </a:r>
            <a:endParaRPr lang="en-US" sz="1000" noProof="1"/>
          </a:p>
        </p:txBody>
      </p:sp>
      <p:sp>
        <p:nvSpPr>
          <p:cNvPr id="42" name="mo"/>
          <p:cNvSpPr txBox="1"/>
          <p:nvPr/>
        </p:nvSpPr>
        <p:spPr>
          <a:xfrm>
            <a:off x="9601200" y="3581400"/>
            <a:ext cx="215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hover · 150ms ease-out</a:t>
            </a:r>
            <a:endParaRPr lang="en-US" sz="1000" noProof="1"/>
          </a:p>
          <a:p>
            <a:pPr>
              <a:lnSpc>
                <a:spcPct val="18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drawer · 250ms expo-out</a:t>
            </a:r>
            <a:endParaRPr lang="en-US" sz="1000" noProof="1"/>
          </a:p>
          <a:p>
            <a:pPr>
              <a:lnSpc>
                <a:spcPct val="18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press · 80ms</a:t>
            </a:r>
            <a:endParaRPr lang="en-US" sz="1000" noProof="1"/>
          </a:p>
          <a:p>
            <a:pPr>
              <a:lnSpc>
                <a:spcPct val="18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skeleton · 1600ms pulse</a:t>
            </a:r>
            <a:endParaRPr lang="en-US" sz="1000" noProof="1"/>
          </a:p>
          <a:p>
            <a:pPr>
              <a:lnSpc>
                <a:spcPct val="18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max · 300ms anywhere</a:t>
            </a:r>
            <a:endParaRPr lang="en-US" sz="1000" noProof="1"/>
          </a:p>
        </p:txBody>
      </p:sp>
      <p:sp>
        <p:nvSpPr>
          <p:cNvPr id="43" name="pagenum"/>
          <p:cNvSpPr txBox="1"/>
          <p:nvPr/>
        </p:nvSpPr>
        <p:spPr>
          <a:xfrm>
            <a:off x="11430000" y="6426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04 — SCREEN · LANDING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Marketing landing page</a:t>
            </a:r>
            <a:endParaRPr lang="en-US" sz="2400" noProof="1"/>
          </a:p>
        </p:txBody>
      </p:sp>
      <p:sp>
        <p:nvSpPr>
          <p:cNvPr id="4" name="anno"/>
          <p:cNvSpPr txBox="1"/>
          <p:nvPr/>
        </p:nvSpPr>
        <p:spPr>
          <a:xfrm>
            <a:off x="8255000" y="660400"/>
            <a:ext cx="3327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same tokens as the product —</a:t>
            </a:r>
            <a:endParaRPr lang="en-US" sz="1000" noProof="1"/>
          </a:p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marketing and app feel like one thing</a:t>
            </a:r>
            <a:endParaRPr lang="en-US" sz="1000" noProof="1"/>
          </a:p>
        </p:txBody>
      </p:sp>
      <p:sp>
        <p:nvSpPr>
          <p:cNvPr id="5" name="win"/>
          <p:cNvSpPr/>
          <p:nvPr/>
        </p:nvSpPr>
        <p:spPr>
          <a:xfrm>
            <a:off x="609600" y="1270000"/>
            <a:ext cx="10972800" cy="50800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 w="12700">
            <a:solidFill>
              <a:srgbClr val="3F3F46"/>
            </a:solidFill>
          </a:ln>
          <a:effectLst>
            <a:outerShdw blurRad="508000" dist="152400" dir="5400000" sx="100000" sy="100000" kx="0" ky="0" algn="bl" rotWithShape="0">
              <a:srgbClr val="000000">
                <a:alpha val="50196"/>
              </a:srgbClr>
            </a:outerShdw>
          </a:effectLst>
        </p:spPr>
      </p:sp>
      <p:sp>
        <p:nvSpPr>
          <p:cNvPr id="6" name="tb-d1"/>
          <p:cNvSpPr/>
          <p:nvPr/>
        </p:nvSpPr>
        <p:spPr>
          <a:xfrm>
            <a:off x="812800" y="1447800"/>
            <a:ext cx="114300" cy="114300"/>
          </a:xfrm>
          <a:prstGeom prst="ellipse">
            <a:avLst/>
          </a:prstGeom>
          <a:solidFill>
            <a:srgbClr val="3F3F46"/>
          </a:solidFill>
          <a:ln>
            <a:noFill/>
          </a:ln>
        </p:spPr>
      </p:sp>
      <p:sp>
        <p:nvSpPr>
          <p:cNvPr id="7" name="tb-d2"/>
          <p:cNvSpPr/>
          <p:nvPr/>
        </p:nvSpPr>
        <p:spPr>
          <a:xfrm>
            <a:off x="1016000" y="1447800"/>
            <a:ext cx="114300" cy="114300"/>
          </a:xfrm>
          <a:prstGeom prst="ellipse">
            <a:avLst/>
          </a:prstGeom>
          <a:solidFill>
            <a:srgbClr val="3F3F46"/>
          </a:solidFill>
          <a:ln>
            <a:noFill/>
          </a:ln>
        </p:spPr>
      </p:sp>
      <p:sp>
        <p:nvSpPr>
          <p:cNvPr id="8" name="tb-d3"/>
          <p:cNvSpPr/>
          <p:nvPr/>
        </p:nvSpPr>
        <p:spPr>
          <a:xfrm>
            <a:off x="1219200" y="1447800"/>
            <a:ext cx="114300" cy="114300"/>
          </a:xfrm>
          <a:prstGeom prst="ellipse">
            <a:avLst/>
          </a:prstGeom>
          <a:solidFill>
            <a:srgbClr val="3F3F46"/>
          </a:solidFill>
          <a:ln>
            <a:noFill/>
          </a:ln>
        </p:spPr>
      </p:sp>
      <p:sp>
        <p:nvSpPr>
          <p:cNvPr id="9" name="tb-url"/>
          <p:cNvSpPr/>
          <p:nvPr/>
        </p:nvSpPr>
        <p:spPr>
          <a:xfrm>
            <a:off x="4826000" y="1397000"/>
            <a:ext cx="2540000" cy="228600"/>
          </a:xfrm>
          <a:prstGeom prst="roundRect">
            <a:avLst>
              <a:gd name="adj" fmla="val 40000"/>
            </a:avLst>
          </a:prstGeom>
          <a:solidFill>
            <a:srgbClr val="18181B"/>
          </a:solidFill>
          <a:ln>
            <a:noFill/>
          </a:ln>
        </p:spPr>
      </p:sp>
      <p:sp>
        <p:nvSpPr>
          <p:cNvPr id="10" name="tb-url-t"/>
          <p:cNvSpPr txBox="1"/>
          <p:nvPr/>
        </p:nvSpPr>
        <p:spPr>
          <a:xfrm>
            <a:off x="4826000" y="1397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flowline.app</a:t>
            </a:r>
            <a:endParaRPr lang="en-US" sz="850" noProof="1"/>
          </a:p>
        </p:txBody>
      </p:sp>
      <p:sp>
        <p:nvSpPr>
          <p:cNvPr id="11" name="nav-logo"/>
          <p:cNvSpPr/>
          <p:nvPr/>
        </p:nvSpPr>
        <p:spPr>
          <a:xfrm>
            <a:off x="965200" y="1854200"/>
            <a:ext cx="203200" cy="2032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7C6CFF"/>
              </a:gs>
              <a:gs pos="100000">
                <a:srgbClr val="38BDF8"/>
              </a:gs>
            </a:gsLst>
            <a:lin ang="8100000" scaled="1"/>
          </a:gradFill>
          <a:ln>
            <a:noFill/>
          </a:ln>
        </p:spPr>
      </p:sp>
      <p:sp>
        <p:nvSpPr>
          <p:cNvPr id="12" name="nav-brand"/>
          <p:cNvSpPr txBox="1"/>
          <p:nvPr/>
        </p:nvSpPr>
        <p:spPr>
          <a:xfrm>
            <a:off x="1244600" y="18542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b="1">
                <a:solidFill>
                  <a:srgbClr val="FAFAFA"/>
                </a:solidFill>
                <a:latin typeface="MiSans"/>
                <a:ea typeface="MiSans"/>
              </a:rPr>
              <a:t>Flowline</a:t>
            </a:r>
            <a:endParaRPr lang="en-US" sz="1050" noProof="1"/>
          </a:p>
        </p:txBody>
      </p:sp>
      <p:sp>
        <p:nvSpPr>
          <p:cNvPr id="13" name="nav-links"/>
          <p:cNvSpPr txBox="1"/>
          <p:nvPr/>
        </p:nvSpPr>
        <p:spPr>
          <a:xfrm>
            <a:off x="4191000" y="18542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Product    Templates    Pricing    Docs</a:t>
            </a:r>
            <a:endParaRPr lang="en-US" sz="900" noProof="1"/>
          </a:p>
        </p:txBody>
      </p:sp>
      <p:sp>
        <p:nvSpPr>
          <p:cNvPr id="14" name="nav-signin"/>
          <p:cNvSpPr txBox="1"/>
          <p:nvPr/>
        </p:nvSpPr>
        <p:spPr>
          <a:xfrm>
            <a:off x="9398000" y="18542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Sign in</a:t>
            </a:r>
            <a:endParaRPr lang="en-US" sz="900" noProof="1"/>
          </a:p>
        </p:txBody>
      </p:sp>
      <p:sp>
        <p:nvSpPr>
          <p:cNvPr id="15" name="nav-cta"/>
          <p:cNvSpPr/>
          <p:nvPr/>
        </p:nvSpPr>
        <p:spPr>
          <a:xfrm>
            <a:off x="10236200" y="1778000"/>
            <a:ext cx="1143000" cy="304800"/>
          </a:xfrm>
          <a:prstGeom prst="roundRect">
            <a:avLst>
              <a:gd name="adj" fmla="val 22000"/>
            </a:avLst>
          </a:prstGeom>
          <a:solidFill>
            <a:srgbClr val="7C6CFF"/>
          </a:solidFill>
          <a:ln>
            <a:noFill/>
          </a:ln>
        </p:spPr>
      </p:sp>
      <p:sp>
        <p:nvSpPr>
          <p:cNvPr id="16" name="nav-cta-t"/>
          <p:cNvSpPr txBox="1"/>
          <p:nvPr/>
        </p:nvSpPr>
        <p:spPr>
          <a:xfrm>
            <a:off x="10236200" y="17780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50" noProof="1" b="1">
                <a:solidFill>
                  <a:srgbClr val="000000"/>
                </a:solidFill>
                <a:latin typeface="MiSans"/>
                <a:ea typeface="MiSans"/>
              </a:rPr>
              <a:t>Start free</a:t>
            </a:r>
            <a:endParaRPr lang="en-US" sz="850" noProof="1"/>
          </a:p>
        </p:txBody>
      </p:sp>
      <p:sp>
        <p:nvSpPr>
          <p:cNvPr id="17" name="hero-badge"/>
          <p:cNvSpPr/>
          <p:nvPr/>
        </p:nvSpPr>
        <p:spPr>
          <a:xfrm>
            <a:off x="5054600" y="2362200"/>
            <a:ext cx="2082800" cy="2540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8" name="hero-badge-t"/>
          <p:cNvSpPr txBox="1"/>
          <p:nvPr/>
        </p:nvSpPr>
        <p:spPr>
          <a:xfrm>
            <a:off x="5054600" y="2362200"/>
            <a:ext cx="208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A1A1AA"/>
                </a:solidFill>
                <a:latin typeface="MiSans"/>
                <a:ea typeface="MiSans"/>
              </a:rPr>
              <a:t>✦ Now with GPT-5 nodes</a:t>
            </a:r>
            <a:endParaRPr lang="en-US" sz="800" noProof="1"/>
          </a:p>
        </p:txBody>
      </p:sp>
      <p:sp>
        <p:nvSpPr>
          <p:cNvPr id="19" name="hero-h"/>
          <p:cNvSpPr txBox="1"/>
          <p:nvPr/>
        </p:nvSpPr>
        <p:spPr>
          <a:xfrm>
            <a:off x="2286000" y="27178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600" noProof="1" b="1">
                <a:solidFill>
                  <a:srgbClr val="FAFAFA"/>
                </a:solidFill>
                <a:latin typeface="MiSans"/>
                <a:ea typeface="MiSans"/>
              </a:rPr>
              <a:t>Automate anything. </a:t>
            </a:r>
            <a:r>
              <a:rPr lang="en-US" sz="2600" noProof="1" b="1">
                <a:solidFill>
                  <a:srgbClr val="7C6CFF"/>
                </a:solidFill>
                <a:latin typeface="MiSans"/>
                <a:ea typeface="MiSans"/>
              </a:rPr>
              <a:t>No code required.</a:t>
            </a:r>
            <a:endParaRPr lang="en-US" sz="1600" noProof="1"/>
          </a:p>
        </p:txBody>
      </p:sp>
      <p:sp>
        <p:nvSpPr>
          <p:cNvPr id="20" name="hero-sub"/>
          <p:cNvSpPr txBox="1"/>
          <p:nvPr/>
        </p:nvSpPr>
        <p:spPr>
          <a:xfrm>
            <a:off x="3302000" y="3556000"/>
            <a:ext cx="5588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The visual AI workflow platform. Drag nodes, connect your apps,</a:t>
            </a: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and ship production automations in minutes.</a:t>
            </a:r>
            <a:endParaRPr lang="en-US" sz="1600" noProof="1"/>
          </a:p>
        </p:txBody>
      </p:sp>
      <p:sp>
        <p:nvSpPr>
          <p:cNvPr id="21" name="hero-cta1"/>
          <p:cNvSpPr/>
          <p:nvPr/>
        </p:nvSpPr>
        <p:spPr>
          <a:xfrm>
            <a:off x="4470400" y="4114800"/>
            <a:ext cx="1651000" cy="355600"/>
          </a:xfrm>
          <a:prstGeom prst="roundRect">
            <a:avLst>
              <a:gd name="adj" fmla="val 22000"/>
            </a:avLst>
          </a:prstGeom>
          <a:solidFill>
            <a:srgbClr val="7C6CFF"/>
          </a:solidFill>
          <a:ln>
            <a:noFill/>
          </a:ln>
        </p:spPr>
      </p:sp>
      <p:sp>
        <p:nvSpPr>
          <p:cNvPr id="22" name="hero-cta1-t"/>
          <p:cNvSpPr txBox="1"/>
          <p:nvPr/>
        </p:nvSpPr>
        <p:spPr>
          <a:xfrm>
            <a:off x="4470400" y="41148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000000"/>
                </a:solidFill>
                <a:latin typeface="MiSans"/>
                <a:ea typeface="MiSans"/>
              </a:rPr>
              <a:t>Start building — free</a:t>
            </a:r>
            <a:endParaRPr lang="en-US" sz="950" noProof="1"/>
          </a:p>
        </p:txBody>
      </p:sp>
      <p:sp>
        <p:nvSpPr>
          <p:cNvPr id="23" name="hero-cta2"/>
          <p:cNvSpPr/>
          <p:nvPr/>
        </p:nvSpPr>
        <p:spPr>
          <a:xfrm>
            <a:off x="6273800" y="4114800"/>
            <a:ext cx="1524000" cy="355600"/>
          </a:xfrm>
          <a:prstGeom prst="roundRect">
            <a:avLst>
              <a:gd name="adj" fmla="val 22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4" name="hero-cta2-t"/>
          <p:cNvSpPr txBox="1"/>
          <p:nvPr/>
        </p:nvSpPr>
        <p:spPr>
          <a:xfrm>
            <a:off x="6273800" y="4114800"/>
            <a:ext cx="152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FAFAFA"/>
                </a:solidFill>
                <a:latin typeface="MiSans"/>
                <a:ea typeface="MiSans"/>
              </a:rPr>
              <a:t>Try the canvas →</a:t>
            </a:r>
            <a:endParaRPr lang="en-US" sz="950" noProof="1"/>
          </a:p>
        </p:txBody>
      </p:sp>
      <p:sp>
        <p:nvSpPr>
          <p:cNvPr id="25" name="hm"/>
          <p:cNvSpPr/>
          <p:nvPr/>
        </p:nvSpPr>
        <p:spPr>
          <a:xfrm>
            <a:off x="2540000" y="4648200"/>
            <a:ext cx="7112000" cy="1473200"/>
          </a:xfrm>
          <a:prstGeom prst="roundRect">
            <a:avLst>
              <a:gd name="adj" fmla="val 6000"/>
            </a:avLst>
          </a:prstGeom>
          <a:solidFill>
            <a:srgbClr val="0D0D0F"/>
          </a:solidFill>
          <a:ln w="12700">
            <a:solidFill>
              <a:srgbClr val="232326"/>
            </a:solidFill>
          </a:ln>
        </p:spPr>
      </p:sp>
      <p:sp>
        <p:nvSpPr>
          <p:cNvPr id="26" name="hm-e1"/>
          <p:cNvSpPr/>
          <p:nvPr>
            <p:extLst>
              <p:ext uri="{F5677B7D-0D2A-4D9B-9A5C-6D8D7D0E5A5D}">
                <pptd:line encoding="base64url">eyJ2aWV3Qm94IjpbNzAsNl0sInBvaW50cyI6IjAsMyAzNSwzIDM1LDMgNzAsMyIsImN1cnZlIjoic21vb3RoIn0</pptd:line>
              </p:ext>
            </p:extLst>
          </p:nvPr>
        </p:nvSpPr>
        <p:spPr>
          <a:xfrm>
            <a:off x="4140200" y="5334000"/>
            <a:ext cx="889000" cy="76200"/>
          </a:xfrm>
          <a:custGeom>
            <a:avLst/>
            <a:gdLst/>
            <a:ahLst/>
            <a:cxnLst/>
            <a:rect l="l" t="t" r="r" b="b"/>
            <a:pathLst>
              <a:path w="70" h="6">
                <a:moveTo>
                  <a:pt x="0" y="3"/>
                </a:moveTo>
                <a:cubicBezTo>
                  <a:pt x="35" y="3"/>
                  <a:pt x="35" y="3"/>
                  <a:pt x="70" y="3"/>
                </a:cubicBezTo>
              </a:path>
            </a:pathLst>
          </a:custGeom>
          <a:noFill/>
          <a:ln w="12700" cap="rnd">
            <a:solidFill>
              <a:srgbClr val="3F3F46"/>
            </a:solidFill>
            <a:round/>
          </a:ln>
        </p:spPr>
      </p:sp>
      <p:sp>
        <p:nvSpPr>
          <p:cNvPr id="27" name="hm-e2"/>
          <p:cNvSpPr/>
          <p:nvPr>
            <p:extLst>
              <p:ext uri="{F5677B7D-0D2A-4D9B-9A5C-6D8D7D0E5A5D}">
                <pptd:line encoding="base64url">eyJ2aWV3Qm94IjpbNzAsNl0sInBvaW50cyI6IjAsMyAzNSwzIDM1LDMgNzAsMyIsImN1cnZlIjoic21vb3RoIn0</pptd:line>
              </p:ext>
            </p:extLst>
          </p:nvPr>
        </p:nvSpPr>
        <p:spPr>
          <a:xfrm>
            <a:off x="6426200" y="5334000"/>
            <a:ext cx="889000" cy="76200"/>
          </a:xfrm>
          <a:custGeom>
            <a:avLst/>
            <a:gdLst/>
            <a:ahLst/>
            <a:cxnLst/>
            <a:rect l="l" t="t" r="r" b="b"/>
            <a:pathLst>
              <a:path w="70" h="6">
                <a:moveTo>
                  <a:pt x="0" y="3"/>
                </a:moveTo>
                <a:cubicBezTo>
                  <a:pt x="35" y="3"/>
                  <a:pt x="35" y="3"/>
                  <a:pt x="70" y="3"/>
                </a:cubicBezTo>
              </a:path>
            </a:pathLst>
          </a:custGeom>
          <a:noFill/>
          <a:ln w="12700" cap="rnd">
            <a:solidFill>
              <a:srgbClr val="7C6CFF"/>
            </a:solidFill>
            <a:prstDash val="dash"/>
            <a:round/>
          </a:ln>
        </p:spPr>
      </p:sp>
      <p:sp>
        <p:nvSpPr>
          <p:cNvPr id="28" name="hm-n1"/>
          <p:cNvSpPr/>
          <p:nvPr/>
        </p:nvSpPr>
        <p:spPr>
          <a:xfrm>
            <a:off x="2819400" y="5054600"/>
            <a:ext cx="1320800" cy="6350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9" name="hm-n1t"/>
          <p:cNvSpPr txBox="1"/>
          <p:nvPr/>
        </p:nvSpPr>
        <p:spPr>
          <a:xfrm>
            <a:off x="2946400" y="5130800"/>
            <a:ext cx="1117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700" noProof="1">
                <a:solidFill>
                  <a:srgbClr val="34D399"/>
                </a:solidFill>
                <a:latin typeface="MiSans"/>
                <a:ea typeface="MiSans"/>
              </a:rPr>
              <a:t>●</a:t>
            </a:r>
            <a:r>
              <a:rPr lang="en-US" sz="900" noProof="1">
                <a:solidFill>
                  <a:srgbClr val="FAFAFA"/>
                </a:solidFill>
                <a:latin typeface="MiSans"/>
                <a:ea typeface="MiSans"/>
              </a:rPr>
              <a:t> </a:t>
            </a:r>
            <a:r>
              <a:rPr lang="en-US" sz="900" noProof="1" b="1">
                <a:solidFill>
                  <a:srgbClr val="FAFAFA"/>
                </a:solidFill>
                <a:latin typeface="MiSans"/>
                <a:ea typeface="MiSans"/>
              </a:rPr>
              <a:t>Webhook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650" noProof="1">
                <a:solidFill>
                  <a:srgbClr val="52525B"/>
                </a:solidFill>
                <a:latin typeface="MiSans"/>
                <a:ea typeface="MiSans"/>
              </a:rPr>
              <a:t>TRIGGER</a:t>
            </a:r>
            <a:endParaRPr lang="en-US" sz="1600" noProof="1"/>
          </a:p>
        </p:txBody>
      </p:sp>
      <p:sp>
        <p:nvSpPr>
          <p:cNvPr id="30" name="hm-n2"/>
          <p:cNvSpPr/>
          <p:nvPr/>
        </p:nvSpPr>
        <p:spPr>
          <a:xfrm>
            <a:off x="5029200" y="5054600"/>
            <a:ext cx="1397000" cy="6350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7C6CFF"/>
            </a:solidFill>
          </a:ln>
          <a:effectLst>
            <a:outerShdw blurRad="203200" dist="0" dir="0" sx="100000" sy="100000" kx="0" ky="0" algn="bl" rotWithShape="0">
              <a:srgbClr val="7C6CFF">
                <a:alpha val="25098"/>
              </a:srgbClr>
            </a:outerShdw>
          </a:effectLst>
        </p:spPr>
      </p:sp>
      <p:sp>
        <p:nvSpPr>
          <p:cNvPr id="31" name="hm-n2t"/>
          <p:cNvSpPr txBox="1"/>
          <p:nvPr/>
        </p:nvSpPr>
        <p:spPr>
          <a:xfrm>
            <a:off x="5156200" y="5130800"/>
            <a:ext cx="1193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700" noProof="1">
                <a:solidFill>
                  <a:srgbClr val="34D399"/>
                </a:solidFill>
                <a:latin typeface="MiSans"/>
                <a:ea typeface="MiSans"/>
              </a:rPr>
              <a:t>●</a:t>
            </a:r>
            <a:r>
              <a:rPr lang="en-US" sz="900" noProof="1">
                <a:solidFill>
                  <a:srgbClr val="FAFAFA"/>
                </a:solidFill>
                <a:latin typeface="MiSans"/>
                <a:ea typeface="MiSans"/>
              </a:rPr>
              <a:t> </a:t>
            </a:r>
            <a:r>
              <a:rPr lang="en-US" sz="900" noProof="1" b="1">
                <a:solidFill>
                  <a:srgbClr val="FAFAFA"/>
                </a:solidFill>
                <a:latin typeface="MiSans"/>
                <a:ea typeface="MiSans"/>
              </a:rPr>
              <a:t>Enrich Lead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650" noProof="1">
                <a:solidFill>
                  <a:srgbClr val="52525B"/>
                </a:solidFill>
                <a:latin typeface="MiSans"/>
                <a:ea typeface="MiSans"/>
              </a:rPr>
              <a:t>GPT-4O</a:t>
            </a:r>
            <a:endParaRPr lang="en-US" sz="1600" noProof="1"/>
          </a:p>
        </p:txBody>
      </p:sp>
      <p:sp>
        <p:nvSpPr>
          <p:cNvPr id="32" name="hm-n3"/>
          <p:cNvSpPr/>
          <p:nvPr/>
        </p:nvSpPr>
        <p:spPr>
          <a:xfrm>
            <a:off x="7315200" y="5054600"/>
            <a:ext cx="1397000" cy="6350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3" name="hm-n3t"/>
          <p:cNvSpPr txBox="1"/>
          <p:nvPr/>
        </p:nvSpPr>
        <p:spPr>
          <a:xfrm>
            <a:off x="7442200" y="5130800"/>
            <a:ext cx="11938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700" noProof="1">
                <a:solidFill>
                  <a:srgbClr val="38BDF8"/>
                </a:solidFill>
                <a:latin typeface="MiSans"/>
                <a:ea typeface="MiSans"/>
              </a:rPr>
              <a:t>●</a:t>
            </a:r>
            <a:r>
              <a:rPr lang="en-US" sz="900" noProof="1">
                <a:solidFill>
                  <a:srgbClr val="FAFAFA"/>
                </a:solidFill>
                <a:latin typeface="MiSans"/>
                <a:ea typeface="MiSans"/>
              </a:rPr>
              <a:t> </a:t>
            </a:r>
            <a:r>
              <a:rPr lang="en-US" sz="900" noProof="1" b="1">
                <a:solidFill>
                  <a:srgbClr val="FAFAFA"/>
                </a:solidFill>
                <a:latin typeface="MiSans"/>
                <a:ea typeface="MiSans"/>
              </a:rPr>
              <a:t>Slack — Notify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650" noProof="1">
                <a:solidFill>
                  <a:srgbClr val="52525B"/>
                </a:solidFill>
                <a:latin typeface="MiSans"/>
                <a:ea typeface="MiSans"/>
              </a:rPr>
              <a:t>#SALES-HOT-LEADS</a:t>
            </a:r>
            <a:endParaRPr lang="en-US" sz="1600" noProof="1"/>
          </a:p>
        </p:txBody>
      </p:sp>
      <p:sp>
        <p:nvSpPr>
          <p:cNvPr id="34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05 — SCREENS · AUTH &amp; ONBOARDING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First-run journey: sign up → workspace → first app</a:t>
            </a:r>
            <a:endParaRPr lang="en-US" sz="2400" noProof="1"/>
          </a:p>
        </p:txBody>
      </p:sp>
      <p:sp>
        <p:nvSpPr>
          <p:cNvPr id="4" name="a-frame"/>
          <p:cNvSpPr/>
          <p:nvPr/>
        </p:nvSpPr>
        <p:spPr>
          <a:xfrm>
            <a:off x="609600" y="1320800"/>
            <a:ext cx="5334000" cy="50292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5" name="a-logo"/>
          <p:cNvSpPr/>
          <p:nvPr/>
        </p:nvSpPr>
        <p:spPr>
          <a:xfrm>
            <a:off x="965200" y="1676400"/>
            <a:ext cx="254000" cy="2540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7C6CFF"/>
              </a:gs>
              <a:gs pos="100000">
                <a:srgbClr val="38BDF8"/>
              </a:gs>
            </a:gsLst>
            <a:lin ang="8100000" scaled="1"/>
          </a:gradFill>
          <a:ln>
            <a:noFill/>
          </a:ln>
        </p:spPr>
      </p:sp>
      <p:sp>
        <p:nvSpPr>
          <p:cNvPr id="6" name="a-brand"/>
          <p:cNvSpPr txBox="1"/>
          <p:nvPr/>
        </p:nvSpPr>
        <p:spPr>
          <a:xfrm>
            <a:off x="1320800" y="16764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Flowline</a:t>
            </a:r>
            <a:endParaRPr lang="en-US" sz="1100" noProof="1"/>
          </a:p>
        </p:txBody>
      </p:sp>
      <p:sp>
        <p:nvSpPr>
          <p:cNvPr id="7" name="a-h"/>
          <p:cNvSpPr txBox="1"/>
          <p:nvPr/>
        </p:nvSpPr>
        <p:spPr>
          <a:xfrm>
            <a:off x="965200" y="22606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FAFAFA"/>
                </a:solidFill>
                <a:latin typeface="MiSans"/>
                <a:ea typeface="MiSans"/>
              </a:rPr>
              <a:t>Create your account</a:t>
            </a:r>
            <a:endParaRPr lang="en-US" sz="1600" noProof="1"/>
          </a:p>
        </p:txBody>
      </p:sp>
      <p:sp>
        <p:nvSpPr>
          <p:cNvPr id="8" name="a-s"/>
          <p:cNvSpPr txBox="1"/>
          <p:nvPr/>
        </p:nvSpPr>
        <p:spPr>
          <a:xfrm>
            <a:off x="965200" y="25908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Free forever for 500 credits/month.</a:t>
            </a:r>
            <a:endParaRPr lang="en-US" sz="1000" noProof="1"/>
          </a:p>
        </p:txBody>
      </p:sp>
      <p:sp>
        <p:nvSpPr>
          <p:cNvPr id="9" name="a-oauth1"/>
          <p:cNvSpPr/>
          <p:nvPr/>
        </p:nvSpPr>
        <p:spPr>
          <a:xfrm>
            <a:off x="965200" y="2971800"/>
            <a:ext cx="4622800" cy="40640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0" name="a-oauth1t"/>
          <p:cNvSpPr txBox="1"/>
          <p:nvPr/>
        </p:nvSpPr>
        <p:spPr>
          <a:xfrm>
            <a:off x="965200" y="2971800"/>
            <a:ext cx="462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FAFAFA"/>
                </a:solidFill>
                <a:latin typeface="MiSans"/>
                <a:ea typeface="MiSans"/>
              </a:rPr>
              <a:t>G  Continue with Google</a:t>
            </a:r>
            <a:endParaRPr lang="en-US" sz="1050" noProof="1"/>
          </a:p>
        </p:txBody>
      </p:sp>
      <p:sp>
        <p:nvSpPr>
          <p:cNvPr id="11" name="a-oauth2"/>
          <p:cNvSpPr/>
          <p:nvPr/>
        </p:nvSpPr>
        <p:spPr>
          <a:xfrm>
            <a:off x="965200" y="3479800"/>
            <a:ext cx="4622800" cy="40640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2" name="a-oauth2t"/>
          <p:cNvSpPr txBox="1"/>
          <p:nvPr/>
        </p:nvSpPr>
        <p:spPr>
          <a:xfrm>
            <a:off x="965200" y="3479800"/>
            <a:ext cx="462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FAFAFA"/>
                </a:solidFill>
                <a:latin typeface="MiSans"/>
                <a:ea typeface="MiSans"/>
              </a:rPr>
              <a:t>◉  Continue with GitHub</a:t>
            </a:r>
            <a:endParaRPr lang="en-US" sz="1050" noProof="1"/>
          </a:p>
        </p:txBody>
      </p:sp>
      <p:sp>
        <p:nvSpPr>
          <p:cNvPr id="13" name="a-div"/>
          <p:cNvSpPr/>
          <p:nvPr>
            <p:extLst>
              <p:ext uri="{F5677B7D-0D2A-4D9B-9A5C-6D8D7D0E5A5D}">
                <pptd:line encoding="base64url">eyJ2aWV3Qm94IjpbMzY0LDJdLCJwb2ludHMiOiIwLDEgMzY0LDEifQ</pptd:line>
              </p:ext>
            </p:extLst>
          </p:nvPr>
        </p:nvSpPr>
        <p:spPr>
          <a:xfrm>
            <a:off x="965200" y="4089400"/>
            <a:ext cx="4622800" cy="25400"/>
          </a:xfrm>
          <a:custGeom>
            <a:avLst/>
            <a:gdLst/>
            <a:ahLst/>
            <a:cxnLst/>
            <a:rect l="l" t="t" r="r" b="b"/>
            <a:pathLst>
              <a:path w="364" h="2">
                <a:moveTo>
                  <a:pt x="0" y="1"/>
                </a:moveTo>
                <a:lnTo>
                  <a:pt x="364" y="1"/>
                </a:lnTo>
              </a:path>
            </a:pathLst>
          </a:custGeom>
          <a:noFill/>
          <a:ln w="12700" cap="rnd">
            <a:solidFill>
              <a:srgbClr val="232326"/>
            </a:solidFill>
            <a:round/>
          </a:ln>
        </p:spPr>
      </p:sp>
      <p:sp>
        <p:nvSpPr>
          <p:cNvPr id="14" name="a-f1"/>
          <p:cNvSpPr/>
          <p:nvPr/>
        </p:nvSpPr>
        <p:spPr>
          <a:xfrm>
            <a:off x="965200" y="4318000"/>
            <a:ext cx="4622800" cy="381000"/>
          </a:xfrm>
          <a:prstGeom prst="roundRect">
            <a:avLst>
              <a:gd name="adj" fmla="val 18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5" name="a-f1t"/>
          <p:cNvSpPr txBox="1"/>
          <p:nvPr/>
        </p:nvSpPr>
        <p:spPr>
          <a:xfrm>
            <a:off x="1117600" y="431800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you@company.com</a:t>
            </a:r>
            <a:endParaRPr lang="en-US" sz="1000" noProof="1"/>
          </a:p>
        </p:txBody>
      </p:sp>
      <p:sp>
        <p:nvSpPr>
          <p:cNvPr id="16" name="a-f2"/>
          <p:cNvSpPr/>
          <p:nvPr/>
        </p:nvSpPr>
        <p:spPr>
          <a:xfrm>
            <a:off x="965200" y="4800600"/>
            <a:ext cx="4622800" cy="381000"/>
          </a:xfrm>
          <a:prstGeom prst="roundRect">
            <a:avLst>
              <a:gd name="adj" fmla="val 18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7" name="a-f2t"/>
          <p:cNvSpPr txBox="1"/>
          <p:nvPr/>
        </p:nvSpPr>
        <p:spPr>
          <a:xfrm>
            <a:off x="1117600" y="480060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••••••••</a:t>
            </a:r>
            <a:endParaRPr lang="en-US" sz="1000" noProof="1"/>
          </a:p>
        </p:txBody>
      </p:sp>
      <p:sp>
        <p:nvSpPr>
          <p:cNvPr id="18" name="a-cta"/>
          <p:cNvSpPr/>
          <p:nvPr/>
        </p:nvSpPr>
        <p:spPr>
          <a:xfrm>
            <a:off x="965200" y="5334000"/>
            <a:ext cx="4622800" cy="406400"/>
          </a:xfrm>
          <a:prstGeom prst="roundRect">
            <a:avLst>
              <a:gd name="adj" fmla="val 20000"/>
            </a:avLst>
          </a:prstGeom>
          <a:solidFill>
            <a:srgbClr val="7C6CFF"/>
          </a:solidFill>
          <a:ln>
            <a:noFill/>
          </a:ln>
        </p:spPr>
      </p:sp>
      <p:sp>
        <p:nvSpPr>
          <p:cNvPr id="19" name="a-ctat"/>
          <p:cNvSpPr txBox="1"/>
          <p:nvPr/>
        </p:nvSpPr>
        <p:spPr>
          <a:xfrm>
            <a:off x="965200" y="5334000"/>
            <a:ext cx="462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00000"/>
                </a:solidFill>
                <a:latin typeface="MiSans"/>
                <a:ea typeface="MiSans"/>
              </a:rPr>
              <a:t>Create account</a:t>
            </a:r>
            <a:endParaRPr lang="en-US" sz="1050" noProof="1"/>
          </a:p>
        </p:txBody>
      </p:sp>
      <p:sp>
        <p:nvSpPr>
          <p:cNvPr id="20" name="a-cap"/>
          <p:cNvSpPr txBox="1"/>
          <p:nvPr/>
        </p:nvSpPr>
        <p:spPr>
          <a:xfrm>
            <a:off x="609600" y="64516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52525B"/>
                </a:solidFill>
                <a:latin typeface="MiSans"/>
                <a:ea typeface="MiSans"/>
              </a:rPr>
              <a:t>Split-screen auth · OAuth-first · email fallback</a:t>
            </a:r>
            <a:endParaRPr lang="en-US" sz="950" noProof="1"/>
          </a:p>
        </p:txBody>
      </p:sp>
      <p:sp>
        <p:nvSpPr>
          <p:cNvPr id="21" name="arrow"/>
          <p:cNvSpPr txBox="1"/>
          <p:nvPr/>
        </p:nvSpPr>
        <p:spPr>
          <a:xfrm>
            <a:off x="5994400" y="3683000"/>
            <a:ext cx="4572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>
                <a:solidFill>
                  <a:srgbClr val="52525B"/>
                </a:solidFill>
                <a:latin typeface="MiSans"/>
                <a:ea typeface="MiSans"/>
              </a:rPr>
              <a:t>→</a:t>
            </a:r>
            <a:endParaRPr lang="en-US" sz="1800" noProof="1"/>
          </a:p>
        </p:txBody>
      </p:sp>
      <p:sp>
        <p:nvSpPr>
          <p:cNvPr id="22" name="o-frame"/>
          <p:cNvSpPr/>
          <p:nvPr/>
        </p:nvSpPr>
        <p:spPr>
          <a:xfrm>
            <a:off x="6502400" y="1320800"/>
            <a:ext cx="5080000" cy="50292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23" name="o-d1"/>
          <p:cNvSpPr/>
          <p:nvPr/>
        </p:nvSpPr>
        <p:spPr>
          <a:xfrm>
            <a:off x="8128000" y="1600200"/>
            <a:ext cx="228600" cy="228600"/>
          </a:xfrm>
          <a:prstGeom prst="ellipse">
            <a:avLst/>
          </a:prstGeom>
          <a:solidFill>
            <a:srgbClr val="34D399">
              <a:alpha val="10196"/>
            </a:srgbClr>
          </a:solidFill>
          <a:ln w="12700">
            <a:solidFill>
              <a:srgbClr val="34D399"/>
            </a:solidFill>
          </a:ln>
        </p:spPr>
      </p:sp>
      <p:sp>
        <p:nvSpPr>
          <p:cNvPr id="24" name="o-d1t"/>
          <p:cNvSpPr txBox="1"/>
          <p:nvPr/>
        </p:nvSpPr>
        <p:spPr>
          <a:xfrm>
            <a:off x="8128000" y="16002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4D399"/>
                </a:solidFill>
                <a:latin typeface="MiSans"/>
                <a:ea typeface="MiSans"/>
              </a:rPr>
              <a:t>✓</a:t>
            </a:r>
            <a:endParaRPr lang="en-US" sz="800" noProof="1"/>
          </a:p>
        </p:txBody>
      </p:sp>
      <p:sp>
        <p:nvSpPr>
          <p:cNvPr id="25" name="o-l1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8407400" y="17018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12700" cap="rnd">
            <a:solidFill>
              <a:srgbClr val="3F3F46"/>
            </a:solidFill>
            <a:round/>
          </a:ln>
        </p:spPr>
      </p:sp>
      <p:sp>
        <p:nvSpPr>
          <p:cNvPr id="26" name="o-d2"/>
          <p:cNvSpPr/>
          <p:nvPr/>
        </p:nvSpPr>
        <p:spPr>
          <a:xfrm>
            <a:off x="8763000" y="1600200"/>
            <a:ext cx="228600" cy="228600"/>
          </a:xfrm>
          <a:prstGeom prst="ellipse">
            <a:avLst/>
          </a:prstGeom>
          <a:solidFill>
            <a:srgbClr val="7C6CFF"/>
          </a:solidFill>
          <a:ln>
            <a:noFill/>
          </a:ln>
          <a:effectLst>
            <a:outerShdw blurRad="152400" dist="0" dir="0" sx="100000" sy="100000" kx="0" ky="0" algn="bl" rotWithShape="0">
              <a:srgbClr val="7C6CFF">
                <a:alpha val="40000"/>
              </a:srgbClr>
            </a:outerShdw>
          </a:effectLst>
        </p:spPr>
      </p:sp>
      <p:sp>
        <p:nvSpPr>
          <p:cNvPr id="27" name="o-d2t"/>
          <p:cNvSpPr txBox="1"/>
          <p:nvPr/>
        </p:nvSpPr>
        <p:spPr>
          <a:xfrm>
            <a:off x="8763000" y="16002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800" noProof="1"/>
          </a:p>
        </p:txBody>
      </p:sp>
      <p:sp>
        <p:nvSpPr>
          <p:cNvPr id="28" name="o-l2"/>
          <p:cNvSpPr/>
          <p:nvPr>
            <p:extLst>
              <p:ext uri="{F5677B7D-0D2A-4D9B-9A5C-6D8D7D0E5A5D}">
                <pptd:line encoding="base64url">eyJ2aWV3Qm94IjpbMjQsMl0sInBvaW50cyI6IjAsMSAyNCwxIn0</pptd:line>
              </p:ext>
            </p:extLst>
          </p:nvPr>
        </p:nvSpPr>
        <p:spPr>
          <a:xfrm>
            <a:off x="9042400" y="1701800"/>
            <a:ext cx="304800" cy="25400"/>
          </a:xfrm>
          <a:custGeom>
            <a:avLst/>
            <a:gdLst/>
            <a:ahLst/>
            <a:cxnLst/>
            <a:rect l="l" t="t" r="r" b="b"/>
            <a:pathLst>
              <a:path w="24" h="2">
                <a:moveTo>
                  <a:pt x="0" y="1"/>
                </a:moveTo>
                <a:lnTo>
                  <a:pt x="24" y="1"/>
                </a:lnTo>
              </a:path>
            </a:pathLst>
          </a:custGeom>
          <a:noFill/>
          <a:ln w="12700" cap="rnd">
            <a:solidFill>
              <a:srgbClr val="3F3F46"/>
            </a:solidFill>
            <a:round/>
          </a:ln>
        </p:spPr>
      </p:sp>
      <p:sp>
        <p:nvSpPr>
          <p:cNvPr id="29" name="o-d3"/>
          <p:cNvSpPr/>
          <p:nvPr/>
        </p:nvSpPr>
        <p:spPr>
          <a:xfrm>
            <a:off x="9398000" y="1600200"/>
            <a:ext cx="228600" cy="228600"/>
          </a:xfrm>
          <a:prstGeom prst="ellipse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30" name="o-d3t"/>
          <p:cNvSpPr txBox="1"/>
          <p:nvPr/>
        </p:nvSpPr>
        <p:spPr>
          <a:xfrm>
            <a:off x="9398000" y="16002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3</a:t>
            </a:r>
            <a:endParaRPr lang="en-US" sz="800" noProof="1"/>
          </a:p>
        </p:txBody>
      </p:sp>
      <p:sp>
        <p:nvSpPr>
          <p:cNvPr id="31" name="o-h"/>
          <p:cNvSpPr txBox="1"/>
          <p:nvPr/>
        </p:nvSpPr>
        <p:spPr>
          <a:xfrm>
            <a:off x="6858000" y="20828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FAFAFA"/>
                </a:solidFill>
                <a:latin typeface="MiSans"/>
                <a:ea typeface="MiSans"/>
              </a:rPr>
              <a:t>What do you want to automate first?</a:t>
            </a:r>
            <a:endParaRPr lang="en-US" sz="1400" noProof="1"/>
          </a:p>
        </p:txBody>
      </p:sp>
      <p:sp>
        <p:nvSpPr>
          <p:cNvPr id="32" name="o-s"/>
          <p:cNvSpPr txBox="1"/>
          <p:nvPr/>
        </p:nvSpPr>
        <p:spPr>
          <a:xfrm>
            <a:off x="6858000" y="2387600"/>
            <a:ext cx="431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52525B"/>
                </a:solidFill>
                <a:latin typeface="MiSans"/>
                <a:ea typeface="MiSans"/>
              </a:rPr>
              <a:t>We'll suggest templates based on your goal.</a:t>
            </a:r>
            <a:endParaRPr lang="en-US" sz="950" noProof="1"/>
          </a:p>
        </p:txBody>
      </p:sp>
      <p:sp>
        <p:nvSpPr>
          <p:cNvPr id="33" name="o-g1"/>
          <p:cNvSpPr/>
          <p:nvPr/>
        </p:nvSpPr>
        <p:spPr>
          <a:xfrm>
            <a:off x="6858000" y="2717800"/>
            <a:ext cx="4368800" cy="558800"/>
          </a:xfrm>
          <a:prstGeom prst="roundRect">
            <a:avLst>
              <a:gd name="adj" fmla="val 16000"/>
            </a:avLst>
          </a:prstGeom>
          <a:solidFill>
            <a:srgbClr val="7C6CFF">
              <a:alpha val="7843"/>
            </a:srgbClr>
          </a:solidFill>
          <a:ln w="12700">
            <a:solidFill>
              <a:srgbClr val="7C6CFF"/>
            </a:solidFill>
          </a:ln>
        </p:spPr>
      </p:sp>
      <p:sp>
        <p:nvSpPr>
          <p:cNvPr id="34" name="o-g1t"/>
          <p:cNvSpPr txBox="1"/>
          <p:nvPr/>
        </p:nvSpPr>
        <p:spPr>
          <a:xfrm>
            <a:off x="7035800" y="27178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FAFAFA"/>
                </a:solidFill>
                <a:latin typeface="MiSans"/>
                <a:ea typeface="MiSans"/>
              </a:rPr>
              <a:t>📈 </a:t>
            </a:r>
            <a:r>
              <a:rPr lang="en-US" sz="1050" noProof="1" b="1">
                <a:solidFill>
                  <a:srgbClr val="FAFAFA"/>
                </a:solidFill>
                <a:latin typeface="MiSans"/>
                <a:ea typeface="MiSans"/>
              </a:rPr>
              <a:t>Sales &amp; lead ops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Enrichment, scoring, CRM sync, alerts</a:t>
            </a:r>
            <a:endParaRPr lang="en-US" sz="1600" noProof="1"/>
          </a:p>
        </p:txBody>
      </p:sp>
      <p:sp>
        <p:nvSpPr>
          <p:cNvPr id="35" name="o-g2"/>
          <p:cNvSpPr/>
          <p:nvPr/>
        </p:nvSpPr>
        <p:spPr>
          <a:xfrm>
            <a:off x="6858000" y="3378200"/>
            <a:ext cx="4368800" cy="558800"/>
          </a:xfrm>
          <a:prstGeom prst="roundRect">
            <a:avLst>
              <a:gd name="adj" fmla="val 16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6" name="o-g2t"/>
          <p:cNvSpPr txBox="1"/>
          <p:nvPr/>
        </p:nvSpPr>
        <p:spPr>
          <a:xfrm>
            <a:off x="7035800" y="33782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FAFAFA"/>
                </a:solidFill>
                <a:latin typeface="MiSans"/>
                <a:ea typeface="MiSans"/>
              </a:rPr>
              <a:t>🎧 </a:t>
            </a:r>
            <a:r>
              <a:rPr lang="en-US" sz="1050" noProof="1" b="1">
                <a:solidFill>
                  <a:srgbClr val="FAFAFA"/>
                </a:solidFill>
                <a:latin typeface="MiSans"/>
                <a:ea typeface="MiSans"/>
              </a:rPr>
              <a:t>Support automation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Ticket triage, routing, digests</a:t>
            </a:r>
            <a:endParaRPr lang="en-US" sz="1600" noProof="1"/>
          </a:p>
        </p:txBody>
      </p:sp>
      <p:sp>
        <p:nvSpPr>
          <p:cNvPr id="37" name="o-g3"/>
          <p:cNvSpPr/>
          <p:nvPr/>
        </p:nvSpPr>
        <p:spPr>
          <a:xfrm>
            <a:off x="6858000" y="4038600"/>
            <a:ext cx="4368800" cy="558800"/>
          </a:xfrm>
          <a:prstGeom prst="roundRect">
            <a:avLst>
              <a:gd name="adj" fmla="val 16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8" name="o-g3t"/>
          <p:cNvSpPr txBox="1"/>
          <p:nvPr/>
        </p:nvSpPr>
        <p:spPr>
          <a:xfrm>
            <a:off x="7035800" y="40386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FAFAFA"/>
                </a:solidFill>
                <a:latin typeface="MiSans"/>
                <a:ea typeface="MiSans"/>
              </a:rPr>
              <a:t>📊 </a:t>
            </a:r>
            <a:r>
              <a:rPr lang="en-US" sz="1050" noProof="1" b="1">
                <a:solidFill>
                  <a:srgbClr val="FAFAFA"/>
                </a:solidFill>
                <a:latin typeface="MiSans"/>
                <a:ea typeface="MiSans"/>
              </a:rPr>
              <a:t>Data &amp; reporting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Scheduled queries, KPI digests</a:t>
            </a:r>
            <a:endParaRPr lang="en-US" sz="1600" noProof="1"/>
          </a:p>
        </p:txBody>
      </p:sp>
      <p:sp>
        <p:nvSpPr>
          <p:cNvPr id="39" name="o-g4"/>
          <p:cNvSpPr/>
          <p:nvPr/>
        </p:nvSpPr>
        <p:spPr>
          <a:xfrm>
            <a:off x="6858000" y="4699000"/>
            <a:ext cx="4368800" cy="558800"/>
          </a:xfrm>
          <a:prstGeom prst="roundRect">
            <a:avLst>
              <a:gd name="adj" fmla="val 16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40" name="o-g4t"/>
          <p:cNvSpPr txBox="1"/>
          <p:nvPr/>
        </p:nvSpPr>
        <p:spPr>
          <a:xfrm>
            <a:off x="7035800" y="46990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FAFAFA"/>
                </a:solidFill>
                <a:latin typeface="MiSans"/>
                <a:ea typeface="MiSans"/>
              </a:rPr>
              <a:t>🛠 </a:t>
            </a:r>
            <a:r>
              <a:rPr lang="en-US" sz="1050" noProof="1" b="1">
                <a:solidFill>
                  <a:srgbClr val="FAFAFA"/>
                </a:solidFill>
                <a:latin typeface="MiSans"/>
                <a:ea typeface="MiSans"/>
              </a:rPr>
              <a:t>Engineering workflows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PR routing, incident alerts</a:t>
            </a:r>
            <a:endParaRPr lang="en-US" sz="1600" noProof="1"/>
          </a:p>
        </p:txBody>
      </p:sp>
      <p:sp>
        <p:nvSpPr>
          <p:cNvPr id="41" name="o-back"/>
          <p:cNvSpPr/>
          <p:nvPr/>
        </p:nvSpPr>
        <p:spPr>
          <a:xfrm>
            <a:off x="6858000" y="5486400"/>
            <a:ext cx="1270000" cy="35560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42" name="o-backt"/>
          <p:cNvSpPr txBox="1"/>
          <p:nvPr/>
        </p:nvSpPr>
        <p:spPr>
          <a:xfrm>
            <a:off x="6858000" y="5486400"/>
            <a:ext cx="127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Back</a:t>
            </a:r>
            <a:endParaRPr lang="en-US" sz="950" noProof="1"/>
          </a:p>
        </p:txBody>
      </p:sp>
      <p:sp>
        <p:nvSpPr>
          <p:cNvPr id="43" name="o-next"/>
          <p:cNvSpPr/>
          <p:nvPr/>
        </p:nvSpPr>
        <p:spPr>
          <a:xfrm>
            <a:off x="8229600" y="5486400"/>
            <a:ext cx="2997200" cy="355600"/>
          </a:xfrm>
          <a:prstGeom prst="roundRect">
            <a:avLst>
              <a:gd name="adj" fmla="val 20000"/>
            </a:avLst>
          </a:prstGeom>
          <a:solidFill>
            <a:srgbClr val="7C6CFF"/>
          </a:solidFill>
          <a:ln>
            <a:noFill/>
          </a:ln>
        </p:spPr>
      </p:sp>
      <p:sp>
        <p:nvSpPr>
          <p:cNvPr id="44" name="o-nextt"/>
          <p:cNvSpPr txBox="1"/>
          <p:nvPr/>
        </p:nvSpPr>
        <p:spPr>
          <a:xfrm>
            <a:off x="8229600" y="5486400"/>
            <a:ext cx="29972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000000"/>
                </a:solidFill>
                <a:latin typeface="MiSans"/>
                <a:ea typeface="MiSans"/>
              </a:rPr>
              <a:t>Continue</a:t>
            </a:r>
            <a:endParaRPr lang="en-US" sz="950" noProof="1"/>
          </a:p>
        </p:txBody>
      </p:sp>
      <p:sp>
        <p:nvSpPr>
          <p:cNvPr id="45" name="o-cap"/>
          <p:cNvSpPr txBox="1"/>
          <p:nvPr/>
        </p:nvSpPr>
        <p:spPr>
          <a:xfrm>
            <a:off x="6502400" y="6451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52525B"/>
                </a:solidFill>
                <a:latin typeface="MiSans"/>
                <a:ea typeface="MiSans"/>
              </a:rPr>
              <a:t>3-step wizard · animated progress · skip anytime</a:t>
            </a:r>
            <a:endParaRPr lang="en-US" sz="950" noProof="1"/>
          </a:p>
        </p:txBody>
      </p:sp>
      <p:sp>
        <p:nvSpPr>
          <p:cNvPr id="46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06 — SCREEN · DASHBOARD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Flows dashboard</a:t>
            </a:r>
            <a:endParaRPr lang="en-US" sz="2400" noProof="1"/>
          </a:p>
        </p:txBody>
      </p:sp>
      <p:sp>
        <p:nvSpPr>
          <p:cNvPr id="4" name="anno"/>
          <p:cNvSpPr txBox="1"/>
          <p:nvPr/>
        </p:nvSpPr>
        <p:spPr>
          <a:xfrm>
            <a:off x="8255000" y="660400"/>
            <a:ext cx="3327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KPIs → flows table → activity feed</a:t>
            </a:r>
            <a:endParaRPr lang="en-US" sz="1000" noProof="1"/>
          </a:p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attention items surface with actions</a:t>
            </a:r>
            <a:endParaRPr lang="en-US" sz="1000" noProof="1"/>
          </a:p>
        </p:txBody>
      </p:sp>
      <p:sp>
        <p:nvSpPr>
          <p:cNvPr id="5" name="win"/>
          <p:cNvSpPr/>
          <p:nvPr/>
        </p:nvSpPr>
        <p:spPr>
          <a:xfrm>
            <a:off x="609600" y="1270000"/>
            <a:ext cx="10972800" cy="50800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 w="12700">
            <a:solidFill>
              <a:srgbClr val="3F3F46"/>
            </a:solidFill>
          </a:ln>
          <a:effectLst>
            <a:outerShdw blurRad="508000" dist="152400" dir="5400000" sx="100000" sy="100000" kx="0" ky="0" algn="bl" rotWithShape="0">
              <a:srgbClr val="000000">
                <a:alpha val="50196"/>
              </a:srgbClr>
            </a:outerShdw>
          </a:effectLst>
        </p:spPr>
      </p:sp>
      <p:sp>
        <p:nvSpPr>
          <p:cNvPr id="6" name="tb-d1"/>
          <p:cNvSpPr/>
          <p:nvPr/>
        </p:nvSpPr>
        <p:spPr>
          <a:xfrm>
            <a:off x="812800" y="1447800"/>
            <a:ext cx="114300" cy="114300"/>
          </a:xfrm>
          <a:prstGeom prst="ellipse">
            <a:avLst/>
          </a:prstGeom>
          <a:solidFill>
            <a:srgbClr val="3F3F46"/>
          </a:solidFill>
          <a:ln>
            <a:noFill/>
          </a:ln>
        </p:spPr>
      </p:sp>
      <p:sp>
        <p:nvSpPr>
          <p:cNvPr id="7" name="tb-d2"/>
          <p:cNvSpPr/>
          <p:nvPr/>
        </p:nvSpPr>
        <p:spPr>
          <a:xfrm>
            <a:off x="1016000" y="1447800"/>
            <a:ext cx="114300" cy="114300"/>
          </a:xfrm>
          <a:prstGeom prst="ellipse">
            <a:avLst/>
          </a:prstGeom>
          <a:solidFill>
            <a:srgbClr val="3F3F46"/>
          </a:solidFill>
          <a:ln>
            <a:noFill/>
          </a:ln>
        </p:spPr>
      </p:sp>
      <p:sp>
        <p:nvSpPr>
          <p:cNvPr id="8" name="tb-d3"/>
          <p:cNvSpPr/>
          <p:nvPr/>
        </p:nvSpPr>
        <p:spPr>
          <a:xfrm>
            <a:off x="1219200" y="1447800"/>
            <a:ext cx="114300" cy="114300"/>
          </a:xfrm>
          <a:prstGeom prst="ellipse">
            <a:avLst/>
          </a:prstGeom>
          <a:solidFill>
            <a:srgbClr val="3F3F46"/>
          </a:solidFill>
          <a:ln>
            <a:noFill/>
          </a:ln>
        </p:spPr>
      </p:sp>
      <p:sp>
        <p:nvSpPr>
          <p:cNvPr id="9" name="tb-url"/>
          <p:cNvSpPr/>
          <p:nvPr/>
        </p:nvSpPr>
        <p:spPr>
          <a:xfrm>
            <a:off x="4826000" y="1397000"/>
            <a:ext cx="2540000" cy="228600"/>
          </a:xfrm>
          <a:prstGeom prst="roundRect">
            <a:avLst>
              <a:gd name="adj" fmla="val 40000"/>
            </a:avLst>
          </a:prstGeom>
          <a:solidFill>
            <a:srgbClr val="18181B"/>
          </a:solidFill>
          <a:ln>
            <a:noFill/>
          </a:ln>
        </p:spPr>
      </p:sp>
      <p:sp>
        <p:nvSpPr>
          <p:cNvPr id="10" name="tb-url-t"/>
          <p:cNvSpPr txBox="1"/>
          <p:nvPr/>
        </p:nvSpPr>
        <p:spPr>
          <a:xfrm>
            <a:off x="4826000" y="13970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flowline.app/acme/flows</a:t>
            </a:r>
            <a:endParaRPr lang="en-US" sz="850" noProof="1"/>
          </a:p>
        </p:txBody>
      </p:sp>
      <p:sp>
        <p:nvSpPr>
          <p:cNvPr id="11" name="side"/>
          <p:cNvSpPr/>
          <p:nvPr/>
        </p:nvSpPr>
        <p:spPr>
          <a:xfrm>
            <a:off x="609600" y="1727200"/>
            <a:ext cx="1905000" cy="4622800"/>
          </a:xfrm>
          <a:prstGeom prst="rect">
            <a:avLst/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12" name="s-logo"/>
          <p:cNvSpPr/>
          <p:nvPr/>
        </p:nvSpPr>
        <p:spPr>
          <a:xfrm>
            <a:off x="812800" y="1905000"/>
            <a:ext cx="228600" cy="228600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7C6CFF"/>
              </a:gs>
              <a:gs pos="100000">
                <a:srgbClr val="38BDF8"/>
              </a:gs>
            </a:gsLst>
            <a:lin ang="8100000" scaled="1"/>
          </a:gradFill>
          <a:ln>
            <a:noFill/>
          </a:ln>
        </p:spPr>
      </p:sp>
      <p:sp>
        <p:nvSpPr>
          <p:cNvPr id="13" name="s-ws"/>
          <p:cNvSpPr txBox="1"/>
          <p:nvPr/>
        </p:nvSpPr>
        <p:spPr>
          <a:xfrm>
            <a:off x="1143000" y="19050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Acme Workspace</a:t>
            </a:r>
            <a:endParaRPr lang="en-US" sz="950" noProof="1"/>
          </a:p>
        </p:txBody>
      </p:sp>
      <p:sp>
        <p:nvSpPr>
          <p:cNvPr id="14" name="s-sec1"/>
          <p:cNvSpPr txBox="1"/>
          <p:nvPr/>
        </p:nvSpPr>
        <p:spPr>
          <a:xfrm>
            <a:off x="812800" y="23622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750" noProof="1" spc="100" kern="0">
                <a:solidFill>
                  <a:srgbClr val="52525B"/>
                </a:solidFill>
                <a:latin typeface="MiSans"/>
                <a:ea typeface="MiSans"/>
              </a:rPr>
              <a:t>BUILD</a:t>
            </a:r>
            <a:endParaRPr lang="en-US" sz="750" noProof="1"/>
          </a:p>
        </p:txBody>
      </p:sp>
      <p:sp>
        <p:nvSpPr>
          <p:cNvPr id="15" name="s-i1"/>
          <p:cNvSpPr/>
          <p:nvPr/>
        </p:nvSpPr>
        <p:spPr>
          <a:xfrm>
            <a:off x="736600" y="2540000"/>
            <a:ext cx="1676400" cy="279400"/>
          </a:xfrm>
          <a:prstGeom prst="roundRect">
            <a:avLst>
              <a:gd name="adj" fmla="val 24000"/>
            </a:avLst>
          </a:prstGeom>
          <a:solidFill>
            <a:srgbClr val="7C6CFF">
              <a:alpha val="14118"/>
            </a:srgbClr>
          </a:solidFill>
          <a:ln w="12700">
            <a:solidFill>
              <a:srgbClr val="7C6CFF">
                <a:alpha val="25098"/>
              </a:srgbClr>
            </a:solidFill>
          </a:ln>
        </p:spPr>
      </p:sp>
      <p:sp>
        <p:nvSpPr>
          <p:cNvPr id="16" name="s-i1t"/>
          <p:cNvSpPr txBox="1"/>
          <p:nvPr/>
        </p:nvSpPr>
        <p:spPr>
          <a:xfrm>
            <a:off x="889000" y="25400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FAFAFA"/>
                </a:solidFill>
                <a:latin typeface="MiSans"/>
                <a:ea typeface="MiSans"/>
              </a:rPr>
              <a:t>▦  Flows</a:t>
            </a:r>
            <a:endParaRPr lang="en-US" sz="950" noProof="1"/>
          </a:p>
        </p:txBody>
      </p:sp>
      <p:sp>
        <p:nvSpPr>
          <p:cNvPr id="17" name="s-i2"/>
          <p:cNvSpPr txBox="1"/>
          <p:nvPr/>
        </p:nvSpPr>
        <p:spPr>
          <a:xfrm>
            <a:off x="889000" y="28702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⌘  Canvas</a:t>
            </a:r>
            <a:endParaRPr lang="en-US" sz="950" noProof="1"/>
          </a:p>
        </p:txBody>
      </p:sp>
      <p:sp>
        <p:nvSpPr>
          <p:cNvPr id="18" name="s-i3"/>
          <p:cNvSpPr txBox="1"/>
          <p:nvPr/>
        </p:nvSpPr>
        <p:spPr>
          <a:xfrm>
            <a:off x="889000" y="31496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▤  Templates</a:t>
            </a:r>
            <a:endParaRPr lang="en-US" sz="950" noProof="1"/>
          </a:p>
        </p:txBody>
      </p:sp>
      <p:sp>
        <p:nvSpPr>
          <p:cNvPr id="19" name="s-sec2"/>
          <p:cNvSpPr txBox="1"/>
          <p:nvPr/>
        </p:nvSpPr>
        <p:spPr>
          <a:xfrm>
            <a:off x="812800" y="3581400"/>
            <a:ext cx="1016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750" noProof="1" spc="100" kern="0">
                <a:solidFill>
                  <a:srgbClr val="52525B"/>
                </a:solidFill>
                <a:latin typeface="MiSans"/>
                <a:ea typeface="MiSans"/>
              </a:rPr>
              <a:t>OBSERVE</a:t>
            </a:r>
            <a:endParaRPr lang="en-US" sz="750" noProof="1"/>
          </a:p>
        </p:txBody>
      </p:sp>
      <p:sp>
        <p:nvSpPr>
          <p:cNvPr id="20" name="s-i4"/>
          <p:cNvSpPr txBox="1"/>
          <p:nvPr/>
        </p:nvSpPr>
        <p:spPr>
          <a:xfrm>
            <a:off x="889000" y="37592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◷  Run history</a:t>
            </a:r>
            <a:endParaRPr lang="en-US" sz="950" noProof="1"/>
          </a:p>
        </p:txBody>
      </p:sp>
      <p:sp>
        <p:nvSpPr>
          <p:cNvPr id="21" name="s-i5"/>
          <p:cNvSpPr txBox="1"/>
          <p:nvPr/>
        </p:nvSpPr>
        <p:spPr>
          <a:xfrm>
            <a:off x="889000" y="4038600"/>
            <a:ext cx="139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⬡  Integrations</a:t>
            </a:r>
            <a:endParaRPr lang="en-US" sz="950" noProof="1"/>
          </a:p>
        </p:txBody>
      </p:sp>
      <p:sp>
        <p:nvSpPr>
          <p:cNvPr id="22" name="s-av"/>
          <p:cNvSpPr/>
          <p:nvPr/>
        </p:nvSpPr>
        <p:spPr>
          <a:xfrm>
            <a:off x="812800" y="5918200"/>
            <a:ext cx="203200" cy="203200"/>
          </a:xfrm>
          <a:prstGeom prst="ellipse">
            <a:avLst/>
          </a:prstGeom>
          <a:gradFill rotWithShape="1">
            <a:gsLst>
              <a:gs pos="0">
                <a:srgbClr val="7C6CFF"/>
              </a:gs>
              <a:gs pos="100000">
                <a:srgbClr val="38BDF8"/>
              </a:gs>
            </a:gsLst>
            <a:lin ang="8100000" scaled="1"/>
          </a:gradFill>
          <a:ln>
            <a:noFill/>
          </a:ln>
        </p:spPr>
      </p:sp>
      <p:sp>
        <p:nvSpPr>
          <p:cNvPr id="23" name="s-user"/>
          <p:cNvSpPr txBox="1"/>
          <p:nvPr/>
        </p:nvSpPr>
        <p:spPr>
          <a:xfrm>
            <a:off x="1092200" y="59182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A1A1AA"/>
                </a:solidFill>
                <a:latin typeface="MiSans"/>
                <a:ea typeface="MiSans"/>
              </a:rPr>
              <a:t>Jules Kim</a:t>
            </a:r>
            <a:endParaRPr lang="en-US" sz="850" noProof="1"/>
          </a:p>
        </p:txBody>
      </p:sp>
      <p:sp>
        <p:nvSpPr>
          <p:cNvPr id="24" name="topbar"/>
          <p:cNvSpPr/>
          <p:nvPr/>
        </p:nvSpPr>
        <p:spPr>
          <a:xfrm>
            <a:off x="2514600" y="1727200"/>
            <a:ext cx="9067800" cy="431800"/>
          </a:xfrm>
          <a:prstGeom prst="rect">
            <a:avLst/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25" name="top-t"/>
          <p:cNvSpPr txBox="1"/>
          <p:nvPr/>
        </p:nvSpPr>
        <p:spPr>
          <a:xfrm>
            <a:off x="2692400" y="1727200"/>
            <a:ext cx="152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Flows</a:t>
            </a:r>
            <a:endParaRPr lang="en-US" sz="1100" noProof="1"/>
          </a:p>
        </p:txBody>
      </p:sp>
      <p:sp>
        <p:nvSpPr>
          <p:cNvPr id="26" name="top-search"/>
          <p:cNvSpPr/>
          <p:nvPr/>
        </p:nvSpPr>
        <p:spPr>
          <a:xfrm>
            <a:off x="8128000" y="1803400"/>
            <a:ext cx="2032000" cy="279400"/>
          </a:xfrm>
          <a:prstGeom prst="roundRect">
            <a:avLst>
              <a:gd name="adj" fmla="val 22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7" name="top-search-t"/>
          <p:cNvSpPr txBox="1"/>
          <p:nvPr/>
        </p:nvSpPr>
        <p:spPr>
          <a:xfrm>
            <a:off x="8280400" y="1803400"/>
            <a:ext cx="177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Search flows…</a:t>
            </a:r>
            <a:endParaRPr lang="en-US" sz="900" noProof="1"/>
          </a:p>
        </p:txBody>
      </p:sp>
      <p:sp>
        <p:nvSpPr>
          <p:cNvPr id="28" name="top-btn"/>
          <p:cNvSpPr/>
          <p:nvPr/>
        </p:nvSpPr>
        <p:spPr>
          <a:xfrm>
            <a:off x="10312400" y="1803400"/>
            <a:ext cx="1117600" cy="279400"/>
          </a:xfrm>
          <a:prstGeom prst="roundRect">
            <a:avLst>
              <a:gd name="adj" fmla="val 22000"/>
            </a:avLst>
          </a:prstGeom>
          <a:solidFill>
            <a:srgbClr val="7C6CFF"/>
          </a:solidFill>
          <a:ln>
            <a:noFill/>
          </a:ln>
        </p:spPr>
      </p:sp>
      <p:sp>
        <p:nvSpPr>
          <p:cNvPr id="29" name="top-btn-t"/>
          <p:cNvSpPr txBox="1"/>
          <p:nvPr/>
        </p:nvSpPr>
        <p:spPr>
          <a:xfrm>
            <a:off x="10312400" y="18034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>
                <a:solidFill>
                  <a:srgbClr val="FFFFFF"/>
                </a:solidFill>
                <a:latin typeface="MiSans"/>
                <a:ea typeface="MiSans"/>
              </a:rPr>
              <a:t>+ New flow</a:t>
            </a:r>
            <a:endParaRPr lang="en-US" sz="900" noProof="1"/>
          </a:p>
        </p:txBody>
      </p:sp>
      <p:sp>
        <p:nvSpPr>
          <p:cNvPr id="30" name="k1"/>
          <p:cNvSpPr/>
          <p:nvPr/>
        </p:nvSpPr>
        <p:spPr>
          <a:xfrm>
            <a:off x="2692400" y="2311400"/>
            <a:ext cx="2057400" cy="7112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1" name="k1t"/>
          <p:cNvSpPr txBox="1"/>
          <p:nvPr/>
        </p:nvSpPr>
        <p:spPr>
          <a:xfrm>
            <a:off x="2844800" y="2387600"/>
            <a:ext cx="177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52525B"/>
                </a:solidFill>
                <a:latin typeface="MiSans"/>
                <a:ea typeface="MiSans"/>
              </a:rPr>
              <a:t>ACTIVE FLOWS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500" noProof="1" b="1">
                <a:solidFill>
                  <a:srgbClr val="FAFAFA"/>
                </a:solidFill>
                <a:latin typeface="MiSans"/>
                <a:ea typeface="MiSans"/>
              </a:rPr>
              <a:t>12</a:t>
            </a:r>
            <a:r>
              <a:rPr lang="en-US" sz="1600" noProof="1">
                <a:solidFill>
                  <a:srgbClr val="333333"/>
                </a:solidFill>
                <a:latin typeface="MiSans"/>
                <a:ea typeface="MiSans"/>
              </a:rPr>
              <a:t> </a:t>
            </a:r>
            <a:r>
              <a:rPr lang="en-US" sz="800" noProof="1">
                <a:solidFill>
                  <a:srgbClr val="34D399"/>
                </a:solidFill>
                <a:latin typeface="MiSans"/>
                <a:ea typeface="MiSans"/>
              </a:rPr>
              <a:t>▲ 2</a:t>
            </a:r>
            <a:endParaRPr lang="en-US" sz="1600" noProof="1"/>
          </a:p>
        </p:txBody>
      </p:sp>
      <p:sp>
        <p:nvSpPr>
          <p:cNvPr id="32" name="k2"/>
          <p:cNvSpPr/>
          <p:nvPr/>
        </p:nvSpPr>
        <p:spPr>
          <a:xfrm>
            <a:off x="4902200" y="2311400"/>
            <a:ext cx="2057400" cy="7112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3" name="k2t"/>
          <p:cNvSpPr txBox="1"/>
          <p:nvPr/>
        </p:nvSpPr>
        <p:spPr>
          <a:xfrm>
            <a:off x="5054600" y="2387600"/>
            <a:ext cx="177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52525B"/>
                </a:solidFill>
                <a:latin typeface="MiSans"/>
                <a:ea typeface="MiSans"/>
              </a:rPr>
              <a:t>RUNS (24H)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500" noProof="1" b="1">
                <a:solidFill>
                  <a:srgbClr val="FAFAFA"/>
                </a:solidFill>
                <a:latin typeface="MiSans"/>
                <a:ea typeface="MiSans"/>
              </a:rPr>
              <a:t>1,284</a:t>
            </a:r>
            <a:r>
              <a:rPr lang="en-US" sz="1600" noProof="1">
                <a:solidFill>
                  <a:srgbClr val="333333"/>
                </a:solidFill>
                <a:latin typeface="MiSans"/>
                <a:ea typeface="MiSans"/>
              </a:rPr>
              <a:t> </a:t>
            </a: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96.2%</a:t>
            </a:r>
            <a:endParaRPr lang="en-US" sz="1600" noProof="1"/>
          </a:p>
        </p:txBody>
      </p:sp>
      <p:sp>
        <p:nvSpPr>
          <p:cNvPr id="34" name="k3"/>
          <p:cNvSpPr/>
          <p:nvPr/>
        </p:nvSpPr>
        <p:spPr>
          <a:xfrm>
            <a:off x="7112000" y="2311400"/>
            <a:ext cx="2057400" cy="7112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5" name="k3t"/>
          <p:cNvSpPr txBox="1"/>
          <p:nvPr/>
        </p:nvSpPr>
        <p:spPr>
          <a:xfrm>
            <a:off x="7264400" y="2387600"/>
            <a:ext cx="177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52525B"/>
                </a:solidFill>
                <a:latin typeface="MiSans"/>
                <a:ea typeface="MiSans"/>
              </a:rPr>
              <a:t>CREDITS USED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500" noProof="1" b="1">
                <a:solidFill>
                  <a:srgbClr val="FAFAFA"/>
                </a:solidFill>
                <a:latin typeface="MiSans"/>
                <a:ea typeface="MiSans"/>
              </a:rPr>
              <a:t>$38.40</a:t>
            </a:r>
            <a:r>
              <a:rPr lang="en-US" sz="1600" noProof="1">
                <a:solidFill>
                  <a:srgbClr val="333333"/>
                </a:solidFill>
                <a:latin typeface="MiSans"/>
                <a:ea typeface="MiSans"/>
              </a:rPr>
              <a:t> </a:t>
            </a: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/ $150</a:t>
            </a:r>
            <a:endParaRPr lang="en-US" sz="1600" noProof="1"/>
          </a:p>
        </p:txBody>
      </p:sp>
      <p:sp>
        <p:nvSpPr>
          <p:cNvPr id="36" name="k4"/>
          <p:cNvSpPr/>
          <p:nvPr/>
        </p:nvSpPr>
        <p:spPr>
          <a:xfrm>
            <a:off x="9321800" y="2311400"/>
            <a:ext cx="2057400" cy="7112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7" name="k4t"/>
          <p:cNvSpPr txBox="1"/>
          <p:nvPr/>
        </p:nvSpPr>
        <p:spPr>
          <a:xfrm>
            <a:off x="9474200" y="2387600"/>
            <a:ext cx="177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52525B"/>
                </a:solidFill>
                <a:latin typeface="MiSans"/>
                <a:ea typeface="MiSans"/>
              </a:rPr>
              <a:t>NEEDS ATTENTION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500" noProof="1" b="1">
                <a:solidFill>
                  <a:srgbClr val="F87171"/>
                </a:solidFill>
                <a:latin typeface="MiSans"/>
                <a:ea typeface="MiSans"/>
              </a:rPr>
              <a:t>3</a:t>
            </a:r>
            <a:r>
              <a:rPr lang="en-US" sz="1600" noProof="1">
                <a:solidFill>
                  <a:srgbClr val="333333"/>
                </a:solidFill>
                <a:latin typeface="MiSans"/>
                <a:ea typeface="MiSans"/>
              </a:rPr>
              <a:t> </a:t>
            </a:r>
            <a:r>
              <a:rPr lang="en-US" sz="800" noProof="1">
                <a:solidFill>
                  <a:srgbClr val="F87171"/>
                </a:solidFill>
                <a:latin typeface="MiSans"/>
                <a:ea typeface="MiSans"/>
              </a:rPr>
              <a:t>2 failed · 1 expired</a:t>
            </a:r>
            <a:endParaRPr lang="en-US" sz="1600" noProof="1"/>
          </a:p>
        </p:txBody>
      </p:sp>
      <p:sp>
        <p:nvSpPr>
          <p:cNvPr id="38" name="tbl"/>
          <p:cNvSpPr/>
          <p:nvPr/>
        </p:nvSpPr>
        <p:spPr>
          <a:xfrm>
            <a:off x="2692400" y="3200400"/>
            <a:ext cx="8686800" cy="21844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9" name="tbl-head"/>
          <p:cNvSpPr txBox="1"/>
          <p:nvPr/>
        </p:nvSpPr>
        <p:spPr>
          <a:xfrm>
            <a:off x="2895600" y="32766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750" noProof="1" spc="80" kern="0">
                <a:solidFill>
                  <a:srgbClr val="52525B"/>
                </a:solidFill>
                <a:latin typeface="MiSans"/>
                <a:ea typeface="MiSans"/>
              </a:rPr>
              <a:t>FLOW                                        TRIGGER            STATUS         LAST RUN   SUCCESS</a:t>
            </a:r>
            <a:endParaRPr lang="en-US" sz="750" noProof="1"/>
          </a:p>
        </p:txBody>
      </p:sp>
      <p:sp>
        <p:nvSpPr>
          <p:cNvPr id="40" name="tbl-r1c"/>
          <p:cNvSpPr/>
          <p:nvPr/>
        </p:nvSpPr>
        <p:spPr>
          <a:xfrm>
            <a:off x="2692400" y="3530600"/>
            <a:ext cx="8686800" cy="355600"/>
          </a:xfrm>
          <a:prstGeom prst="rect">
            <a:avLst/>
          </a:prstGeom>
          <a:solidFill>
            <a:srgbClr val="1F1F23"/>
          </a:solidFill>
          <a:ln>
            <a:noFill/>
          </a:ln>
        </p:spPr>
      </p:sp>
      <p:sp>
        <p:nvSpPr>
          <p:cNvPr id="41" name="tbl-r1"/>
          <p:cNvSpPr txBox="1"/>
          <p:nvPr/>
        </p:nvSpPr>
        <p:spPr>
          <a:xfrm>
            <a:off x="2895600" y="3530600"/>
            <a:ext cx="838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Lead Enrichment Pipeline</a:t>
            </a: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        Webhook        </a:t>
            </a:r>
            <a:r>
              <a:rPr lang="en-US" sz="850" noProof="1">
                <a:solidFill>
                  <a:srgbClr val="34D399"/>
                </a:solidFill>
                <a:latin typeface="MiSans"/>
                <a:ea typeface="MiSans"/>
              </a:rPr>
              <a:t>● Active</a:t>
            </a: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       2m ago      98.1%</a:t>
            </a:r>
            <a:endParaRPr lang="en-US" sz="1600" noProof="1"/>
          </a:p>
        </p:txBody>
      </p:sp>
      <p:sp>
        <p:nvSpPr>
          <p:cNvPr id="42" name="tbl-r2"/>
          <p:cNvSpPr txBox="1"/>
          <p:nvPr/>
        </p:nvSpPr>
        <p:spPr>
          <a:xfrm>
            <a:off x="2895600" y="3886200"/>
            <a:ext cx="838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Support Ticket Triage</a:t>
            </a: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              Schedule */15m   </a:t>
            </a:r>
            <a:r>
              <a:rPr lang="en-US" sz="850" noProof="1">
                <a:solidFill>
                  <a:srgbClr val="34D399"/>
                </a:solidFill>
                <a:latin typeface="MiSans"/>
                <a:ea typeface="MiSans"/>
              </a:rPr>
              <a:t>● Active</a:t>
            </a: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       18m ago     94.8%</a:t>
            </a:r>
            <a:endParaRPr lang="en-US" sz="1600" noProof="1"/>
          </a:p>
        </p:txBody>
      </p:sp>
      <p:sp>
        <p:nvSpPr>
          <p:cNvPr id="43" name="tbl-r3"/>
          <p:cNvSpPr txBox="1"/>
          <p:nvPr/>
        </p:nvSpPr>
        <p:spPr>
          <a:xfrm>
            <a:off x="2895600" y="4241800"/>
            <a:ext cx="838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Competitor Price Watch</a:t>
            </a: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           Schedule hourly    </a:t>
            </a:r>
            <a:r>
              <a:rPr lang="en-US" sz="850" noProof="1">
                <a:solidFill>
                  <a:srgbClr val="38BDF8"/>
                </a:solidFill>
                <a:latin typeface="MiSans"/>
                <a:ea typeface="MiSans"/>
              </a:rPr>
              <a:t>● Running</a:t>
            </a: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     now         100%</a:t>
            </a:r>
            <a:endParaRPr lang="en-US" sz="1600" noProof="1"/>
          </a:p>
        </p:txBody>
      </p:sp>
      <p:sp>
        <p:nvSpPr>
          <p:cNvPr id="44" name="tbl-r4"/>
          <p:cNvSpPr txBox="1"/>
          <p:nvPr/>
        </p:nvSpPr>
        <p:spPr>
          <a:xfrm>
            <a:off x="2895600" y="4597400"/>
            <a:ext cx="838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Weekly KPI Digest</a:t>
            </a: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                  Schedule Mon       </a:t>
            </a:r>
            <a:r>
              <a:rPr lang="en-US" sz="850" noProof="1">
                <a:solidFill>
                  <a:srgbClr val="FBBF24"/>
                </a:solidFill>
                <a:latin typeface="MiSans"/>
                <a:ea typeface="MiSans"/>
              </a:rPr>
              <a:t>● Expired</a:t>
            </a: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     3d ago      —</a:t>
            </a:r>
            <a:endParaRPr lang="en-US" sz="1600" noProof="1"/>
          </a:p>
        </p:txBody>
      </p:sp>
      <p:sp>
        <p:nvSpPr>
          <p:cNvPr id="45" name="tbl-r5"/>
          <p:cNvSpPr txBox="1"/>
          <p:nvPr/>
        </p:nvSpPr>
        <p:spPr>
          <a:xfrm>
            <a:off x="2895600" y="4953000"/>
            <a:ext cx="838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Churn Risk Scorer</a:t>
            </a: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                      Manual              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● Draft</a:t>
            </a: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        never       —</a:t>
            </a:r>
            <a:endParaRPr lang="en-US" sz="1600" noProof="1"/>
          </a:p>
        </p:txBody>
      </p:sp>
      <p:sp>
        <p:nvSpPr>
          <p:cNvPr id="46" name="af"/>
          <p:cNvSpPr/>
          <p:nvPr/>
        </p:nvSpPr>
        <p:spPr>
          <a:xfrm>
            <a:off x="2692400" y="5537200"/>
            <a:ext cx="8686800" cy="6604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47" name="af-t"/>
          <p:cNvSpPr txBox="1"/>
          <p:nvPr/>
        </p:nvSpPr>
        <p:spPr>
          <a:xfrm>
            <a:off x="2895600" y="5613400"/>
            <a:ext cx="838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900" noProof="1">
                <a:solidFill>
                  <a:srgbClr val="34D399"/>
                </a:solidFill>
                <a:latin typeface="MiSans"/>
                <a:ea typeface="MiSans"/>
              </a:rPr>
              <a:t>●</a:t>
            </a: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  Run #1284 completed · 7/7 steps in 8.4s          </a:t>
            </a:r>
            <a:r>
              <a:rPr lang="en-US" sz="900" noProof="1">
                <a:solidFill>
                  <a:srgbClr val="F87171"/>
                </a:solidFill>
                <a:latin typeface="MiSans"/>
                <a:ea typeface="MiSans"/>
              </a:rPr>
              <a:t>●</a:t>
            </a: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  Run #1283 failed at Sheets — Add Row  </a:t>
            </a:r>
            <a:r>
              <a:rPr lang="en-US" sz="850" noProof="1">
                <a:solidFill>
                  <a:srgbClr val="F87171"/>
                </a:solidFill>
                <a:latin typeface="MiSans"/>
                <a:ea typeface="MiSans"/>
              </a:rPr>
              <a:t>Inspect →</a:t>
            </a:r>
            <a:endParaRPr lang="en-US" sz="1600" noProof="1"/>
          </a:p>
          <a:p>
            <a:pPr>
              <a:lnSpc>
                <a:spcPct val="160000"/>
              </a:lnSpc>
            </a:pPr>
            <a:r>
              <a:rPr lang="en-US" sz="900" noProof="1">
                <a:solidFill>
                  <a:srgbClr val="38BDF8"/>
                </a:solidFill>
                <a:latin typeface="MiSans"/>
                <a:ea typeface="MiSans"/>
              </a:rPr>
              <a:t>●</a:t>
            </a: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  Run #1280 in progress · step 4 of 6                 </a:t>
            </a:r>
            <a:r>
              <a:rPr lang="en-US" sz="900" noProof="1">
                <a:solidFill>
                  <a:srgbClr val="FBBF24"/>
                </a:solidFill>
                <a:latin typeface="MiSans"/>
                <a:ea typeface="MiSans"/>
              </a:rPr>
              <a:t>●</a:t>
            </a: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  Slack connection expired — 3 flows    </a:t>
            </a:r>
            <a:r>
              <a:rPr lang="en-US" sz="850" noProof="1">
                <a:solidFill>
                  <a:srgbClr val="FBBF24"/>
                </a:solidFill>
                <a:latin typeface="MiSans"/>
                <a:ea typeface="MiSans"/>
              </a:rPr>
              <a:t>Reconnect →</a:t>
            </a:r>
            <a:endParaRPr lang="en-US" sz="1600" noProof="1"/>
          </a:p>
        </p:txBody>
      </p:sp>
      <p:sp>
        <p:nvSpPr>
          <p:cNvPr id="48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07 — SCREEN · BUILDER CANVAS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Workflow canvas + node drawer</a:t>
            </a:r>
            <a:endParaRPr lang="en-US" sz="2400" noProof="1"/>
          </a:p>
        </p:txBody>
      </p:sp>
      <p:sp>
        <p:nvSpPr>
          <p:cNvPr id="4" name="anno"/>
          <p:cNvSpPr txBox="1"/>
          <p:nvPr/>
        </p:nvSpPr>
        <p:spPr>
          <a:xfrm>
            <a:off x="8255000" y="660400"/>
            <a:ext cx="3327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infinite dot-grid · snap 12px</a:t>
            </a:r>
            <a:endParaRPr lang="en-US" sz="1000" noProof="1"/>
          </a:p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drawer slides 250ms over canvas</a:t>
            </a:r>
            <a:endParaRPr lang="en-US" sz="1000" noProof="1"/>
          </a:p>
        </p:txBody>
      </p:sp>
      <p:sp>
        <p:nvSpPr>
          <p:cNvPr id="5" name="cvs"/>
          <p:cNvSpPr/>
          <p:nvPr/>
        </p:nvSpPr>
        <p:spPr>
          <a:xfrm>
            <a:off x="609600" y="1270000"/>
            <a:ext cx="8128000" cy="5080000"/>
          </a:xfrm>
          <a:prstGeom prst="roundRect">
            <a:avLst>
              <a:gd name="adj" fmla="val 2500"/>
            </a:avLst>
          </a:prstGeom>
          <a:solidFill>
            <a:srgbClr val="0B0B0D"/>
          </a:solidFill>
          <a:ln w="12700">
            <a:solidFill>
              <a:srgbClr val="232326"/>
            </a:solidFill>
          </a:ln>
        </p:spPr>
      </p:sp>
      <p:sp>
        <p:nvSpPr>
          <p:cNvPr id="6" name="cv-head"/>
          <p:cNvSpPr/>
          <p:nvPr/>
        </p:nvSpPr>
        <p:spPr>
          <a:xfrm>
            <a:off x="609600" y="1270000"/>
            <a:ext cx="8128000" cy="406400"/>
          </a:xfrm>
          <a:prstGeom prst="rect">
            <a:avLst/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7" name="cv-head-t"/>
          <p:cNvSpPr txBox="1"/>
          <p:nvPr/>
        </p:nvSpPr>
        <p:spPr>
          <a:xfrm>
            <a:off x="787400" y="1270000"/>
            <a:ext cx="5334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← Flows / </a:t>
            </a: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Lead Enrichment Pipeline</a:t>
            </a:r>
            <a:r>
              <a:rPr lang="en-US" sz="800" noProof="1">
                <a:solidFill>
                  <a:srgbClr val="FBBF24"/>
                </a:solidFill>
                <a:latin typeface="MiSans"/>
                <a:ea typeface="MiSans"/>
              </a:rPr>
              <a:t>  ● Unsaved</a:t>
            </a:r>
            <a:endParaRPr lang="en-US" sz="1600" noProof="1"/>
          </a:p>
        </p:txBody>
      </p:sp>
      <p:sp>
        <p:nvSpPr>
          <p:cNvPr id="8" name="cv-run"/>
          <p:cNvSpPr/>
          <p:nvPr/>
        </p:nvSpPr>
        <p:spPr>
          <a:xfrm>
            <a:off x="7569200" y="1346200"/>
            <a:ext cx="1016000" cy="254000"/>
          </a:xfrm>
          <a:prstGeom prst="roundRect">
            <a:avLst>
              <a:gd name="adj" fmla="val 22000"/>
            </a:avLst>
          </a:prstGeom>
          <a:solidFill>
            <a:srgbClr val="7C6CFF"/>
          </a:solidFill>
          <a:ln>
            <a:noFill/>
          </a:ln>
        </p:spPr>
      </p:sp>
      <p:sp>
        <p:nvSpPr>
          <p:cNvPr id="9" name="cv-run-t"/>
          <p:cNvSpPr txBox="1"/>
          <p:nvPr/>
        </p:nvSpPr>
        <p:spPr>
          <a:xfrm>
            <a:off x="7569200" y="13462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>
                <a:solidFill>
                  <a:srgbClr val="000000"/>
                </a:solidFill>
                <a:latin typeface="MiSans"/>
                <a:ea typeface="MiSans"/>
              </a:rPr>
              <a:t>▶ Run</a:t>
            </a:r>
            <a:endParaRPr lang="en-US" sz="900" noProof="1"/>
          </a:p>
        </p:txBody>
      </p:sp>
      <p:sp>
        <p:nvSpPr>
          <p:cNvPr id="10" name="e1"/>
          <p:cNvSpPr/>
          <p:nvPr>
            <p:extLst>
              <p:ext uri="{F5677B7D-0D2A-4D9B-9A5C-6D8D7D0E5A5D}">
                <pptd:line encoding="base64url">eyJ2aWV3Qm94IjpbOTAsMTBdLCJwb2ludHMiOiIwLDUgNDUsNSA0NSw1IDkwLDUiLCJjdXJ2ZSI6InNtb290aCJ9</pptd:line>
              </p:ext>
            </p:extLst>
          </p:nvPr>
        </p:nvSpPr>
        <p:spPr>
          <a:xfrm>
            <a:off x="2768600" y="3048000"/>
            <a:ext cx="1143000" cy="127000"/>
          </a:xfrm>
          <a:custGeom>
            <a:avLst/>
            <a:gdLst/>
            <a:ahLst/>
            <a:cxnLst/>
            <a:rect l="l" t="t" r="r" b="b"/>
            <a:pathLst>
              <a:path w="90" h="10">
                <a:moveTo>
                  <a:pt x="0" y="5"/>
                </a:moveTo>
                <a:cubicBezTo>
                  <a:pt x="45" y="5"/>
                  <a:pt x="45" y="5"/>
                  <a:pt x="90" y="5"/>
                </a:cubicBezTo>
              </a:path>
            </a:pathLst>
          </a:custGeom>
          <a:noFill/>
          <a:ln w="19050" cap="rnd">
            <a:solidFill>
              <a:srgbClr val="3F3F46"/>
            </a:solidFill>
            <a:round/>
          </a:ln>
        </p:spPr>
      </p:sp>
      <p:sp>
        <p:nvSpPr>
          <p:cNvPr id="11" name="e2"/>
          <p:cNvSpPr/>
          <p:nvPr>
            <p:extLst>
              <p:ext uri="{F5677B7D-0D2A-4D9B-9A5C-6D8D7D0E5A5D}">
                <pptd:line encoding="base64url">eyJ2aWV3Qm94IjpbOTAsMTBdLCJwb2ludHMiOiIwLDUgNDUsNSA0NSw1IDkwLDUiLCJjdXJ2ZSI6InNtb290aCJ9</pptd:line>
              </p:ext>
            </p:extLst>
          </p:nvPr>
        </p:nvSpPr>
        <p:spPr>
          <a:xfrm>
            <a:off x="5435600" y="3048000"/>
            <a:ext cx="1143000" cy="127000"/>
          </a:xfrm>
          <a:custGeom>
            <a:avLst/>
            <a:gdLst/>
            <a:ahLst/>
            <a:cxnLst/>
            <a:rect l="l" t="t" r="r" b="b"/>
            <a:pathLst>
              <a:path w="90" h="10">
                <a:moveTo>
                  <a:pt x="0" y="5"/>
                </a:moveTo>
                <a:cubicBezTo>
                  <a:pt x="45" y="5"/>
                  <a:pt x="45" y="5"/>
                  <a:pt x="90" y="5"/>
                </a:cubicBezTo>
              </a:path>
            </a:pathLst>
          </a:custGeom>
          <a:noFill/>
          <a:ln w="19050" cap="rnd">
            <a:solidFill>
              <a:srgbClr val="3F3F46"/>
            </a:solidFill>
            <a:round/>
          </a:ln>
        </p:spPr>
      </p:sp>
      <p:sp>
        <p:nvSpPr>
          <p:cNvPr id="12" name="e3"/>
          <p:cNvSpPr/>
          <p:nvPr>
            <p:extLst>
              <p:ext uri="{F5677B7D-0D2A-4D9B-9A5C-6D8D7D0E5A5D}">
                <pptd:line encoding="base64url">eyJ2aWV3Qm94IjpbNjAsMTEwXSwicG9pbnRzIjoiMCwwIDMwLDAgMzAsMTEwIDYwLDExMCIsImN1cnZlIjoic21vb3RoIn0</pptd:line>
              </p:ext>
            </p:extLst>
          </p:nvPr>
        </p:nvSpPr>
        <p:spPr>
          <a:xfrm>
            <a:off x="6578600" y="3175000"/>
            <a:ext cx="762000" cy="1397000"/>
          </a:xfrm>
          <a:custGeom>
            <a:avLst/>
            <a:gdLst/>
            <a:ahLst/>
            <a:cxnLst/>
            <a:rect l="l" t="t" r="r" b="b"/>
            <a:pathLst>
              <a:path w="60" h="110">
                <a:moveTo>
                  <a:pt x="0" y="0"/>
                </a:moveTo>
                <a:cubicBezTo>
                  <a:pt x="30" y="0"/>
                  <a:pt x="30" y="110"/>
                  <a:pt x="60" y="110"/>
                </a:cubicBezTo>
              </a:path>
            </a:pathLst>
          </a:custGeom>
          <a:noFill/>
          <a:ln w="19050" cap="rnd">
            <a:solidFill>
              <a:srgbClr val="7C6CFF"/>
            </a:solidFill>
            <a:prstDash val="dash"/>
            <a:round/>
          </a:ln>
        </p:spPr>
      </p:sp>
      <p:sp>
        <p:nvSpPr>
          <p:cNvPr id="13" name="n1"/>
          <p:cNvSpPr/>
          <p:nvPr/>
        </p:nvSpPr>
        <p:spPr>
          <a:xfrm>
            <a:off x="1143000" y="2667000"/>
            <a:ext cx="1625600" cy="81280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4" name="n1t"/>
          <p:cNvSpPr txBox="1"/>
          <p:nvPr/>
        </p:nvSpPr>
        <p:spPr>
          <a:xfrm>
            <a:off x="1295400" y="2768600"/>
            <a:ext cx="139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34D399"/>
                </a:solidFill>
                <a:latin typeface="MiSans"/>
                <a:ea typeface="MiSans"/>
              </a:rPr>
              <a:t>●</a:t>
            </a: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 </a:t>
            </a: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Webhook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700" noProof="1">
                <a:solidFill>
                  <a:srgbClr val="52525B"/>
                </a:solidFill>
                <a:latin typeface="MiSans"/>
                <a:ea typeface="MiSans"/>
              </a:rPr>
              <a:t>TRIGGER · FORM.SUBMITTED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✓ 42ms</a:t>
            </a:r>
            <a:endParaRPr lang="en-US" sz="1600" noProof="1"/>
          </a:p>
        </p:txBody>
      </p:sp>
      <p:sp>
        <p:nvSpPr>
          <p:cNvPr id="15" name="n2"/>
          <p:cNvSpPr/>
          <p:nvPr/>
        </p:nvSpPr>
        <p:spPr>
          <a:xfrm>
            <a:off x="3911600" y="2667000"/>
            <a:ext cx="1524000" cy="81280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7C6CFF"/>
            </a:solidFill>
          </a:ln>
          <a:effectLst>
            <a:outerShdw blurRad="279400" dist="0" dir="0" sx="100000" sy="100000" kx="0" ky="0" algn="bl" rotWithShape="0">
              <a:srgbClr val="7C6CFF">
                <a:alpha val="25098"/>
              </a:srgbClr>
            </a:outerShdw>
          </a:effectLst>
        </p:spPr>
      </p:sp>
      <p:sp>
        <p:nvSpPr>
          <p:cNvPr id="16" name="n2t"/>
          <p:cNvSpPr txBox="1"/>
          <p:nvPr/>
        </p:nvSpPr>
        <p:spPr>
          <a:xfrm>
            <a:off x="4064000" y="2768600"/>
            <a:ext cx="1320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34D399"/>
                </a:solidFill>
                <a:latin typeface="MiSans"/>
                <a:ea typeface="MiSans"/>
              </a:rPr>
              <a:t>●</a:t>
            </a: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 </a:t>
            </a: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Enrich Lead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700" noProof="1">
                <a:solidFill>
                  <a:srgbClr val="52525B"/>
                </a:solidFill>
                <a:latin typeface="MiSans"/>
                <a:ea typeface="MiSans"/>
              </a:rPr>
              <a:t>OPENAI · GPT-4O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✓ 2.1s · $0.018</a:t>
            </a:r>
            <a:endParaRPr lang="en-US" sz="1600" noProof="1"/>
          </a:p>
        </p:txBody>
      </p:sp>
      <p:sp>
        <p:nvSpPr>
          <p:cNvPr id="17" name="n3"/>
          <p:cNvSpPr/>
          <p:nvPr/>
        </p:nvSpPr>
        <p:spPr>
          <a:xfrm>
            <a:off x="6578600" y="2667000"/>
            <a:ext cx="1524000" cy="81280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8" name="n3t"/>
          <p:cNvSpPr txBox="1"/>
          <p:nvPr/>
        </p:nvSpPr>
        <p:spPr>
          <a:xfrm>
            <a:off x="6731000" y="2768600"/>
            <a:ext cx="1320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34D399"/>
                </a:solidFill>
                <a:latin typeface="MiSans"/>
                <a:ea typeface="MiSans"/>
              </a:rPr>
              <a:t>●</a:t>
            </a: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 </a:t>
            </a: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Score Lead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700" noProof="1">
                <a:solidFill>
                  <a:srgbClr val="52525B"/>
                </a:solidFill>
                <a:latin typeface="MiSans"/>
                <a:ea typeface="MiSans"/>
              </a:rPr>
              <a:t>GPT-4O-MINI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✓ 0.9s · $0.009</a:t>
            </a:r>
            <a:endParaRPr lang="en-US" sz="1600" noProof="1"/>
          </a:p>
        </p:txBody>
      </p:sp>
      <p:sp>
        <p:nvSpPr>
          <p:cNvPr id="19" name="n4"/>
          <p:cNvSpPr/>
          <p:nvPr/>
        </p:nvSpPr>
        <p:spPr>
          <a:xfrm>
            <a:off x="7340600" y="4445000"/>
            <a:ext cx="1397000" cy="81280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F87171">
                <a:alpha val="50196"/>
              </a:srgbClr>
            </a:solidFill>
          </a:ln>
        </p:spPr>
      </p:sp>
      <p:sp>
        <p:nvSpPr>
          <p:cNvPr id="20" name="n4t"/>
          <p:cNvSpPr txBox="1"/>
          <p:nvPr/>
        </p:nvSpPr>
        <p:spPr>
          <a:xfrm>
            <a:off x="7493000" y="4546600"/>
            <a:ext cx="1168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F87171"/>
                </a:solidFill>
                <a:latin typeface="MiSans"/>
                <a:ea typeface="MiSans"/>
              </a:rPr>
              <a:t>●</a:t>
            </a: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 </a:t>
            </a: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Sheets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700" noProof="1">
                <a:solidFill>
                  <a:srgbClr val="52525B"/>
                </a:solidFill>
                <a:latin typeface="MiSans"/>
                <a:ea typeface="MiSans"/>
              </a:rPr>
              <a:t>GOOGLE SHEETS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F87171"/>
                </a:solidFill>
                <a:latin typeface="MiSans"/>
                <a:ea typeface="MiSans"/>
              </a:rPr>
              <a:t>✗ Row limit</a:t>
            </a:r>
            <a:endParaRPr lang="en-US" sz="1600" noProof="1"/>
          </a:p>
        </p:txBody>
      </p:sp>
      <p:sp>
        <p:nvSpPr>
          <p:cNvPr id="21" name="mm"/>
          <p:cNvSpPr/>
          <p:nvPr/>
        </p:nvSpPr>
        <p:spPr>
          <a:xfrm>
            <a:off x="787400" y="5588000"/>
            <a:ext cx="1270000" cy="609600"/>
          </a:xfrm>
          <a:prstGeom prst="roundRect">
            <a:avLst>
              <a:gd name="adj" fmla="val 12000"/>
            </a:avLst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22" name="mm-vp"/>
          <p:cNvSpPr/>
          <p:nvPr/>
        </p:nvSpPr>
        <p:spPr>
          <a:xfrm>
            <a:off x="863600" y="5664200"/>
            <a:ext cx="584200" cy="381000"/>
          </a:xfrm>
          <a:prstGeom prst="rect">
            <a:avLst/>
          </a:prstGeom>
          <a:noFill/>
          <a:ln w="12700">
            <a:solidFill>
              <a:srgbClr val="3F3F46"/>
            </a:solidFill>
          </a:ln>
        </p:spPr>
      </p:sp>
      <p:sp>
        <p:nvSpPr>
          <p:cNvPr id="23" name="zm"/>
          <p:cNvSpPr/>
          <p:nvPr/>
        </p:nvSpPr>
        <p:spPr>
          <a:xfrm>
            <a:off x="7061200" y="5816600"/>
            <a:ext cx="1524000" cy="30480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4" name="zm-t"/>
          <p:cNvSpPr txBox="1"/>
          <p:nvPr/>
        </p:nvSpPr>
        <p:spPr>
          <a:xfrm>
            <a:off x="7061200" y="581660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−   87%   +   Fit</a:t>
            </a:r>
            <a:endParaRPr lang="en-US" sz="900" noProof="1"/>
          </a:p>
        </p:txBody>
      </p:sp>
      <p:sp>
        <p:nvSpPr>
          <p:cNvPr id="25" name="dr"/>
          <p:cNvSpPr/>
          <p:nvPr/>
        </p:nvSpPr>
        <p:spPr>
          <a:xfrm>
            <a:off x="8839200" y="1270000"/>
            <a:ext cx="2743200" cy="5080000"/>
          </a:xfrm>
          <a:prstGeom prst="roundRect">
            <a:avLst>
              <a:gd name="adj" fmla="val 5000"/>
            </a:avLst>
          </a:prstGeom>
          <a:solidFill>
            <a:srgbClr val="111113"/>
          </a:solidFill>
          <a:ln w="12700">
            <a:solidFill>
              <a:srgbClr val="232326"/>
            </a:solidFill>
          </a:ln>
          <a:effectLst>
            <a:outerShdw blurRad="381000" dist="101600" dir="10800000" sx="100000" sy="100000" kx="0" ky="0" algn="bl" rotWithShape="0">
              <a:srgbClr val="000000">
                <a:alpha val="50196"/>
              </a:srgbClr>
            </a:outerShdw>
          </a:effectLst>
        </p:spPr>
      </p:sp>
      <p:sp>
        <p:nvSpPr>
          <p:cNvPr id="26" name="dr-head"/>
          <p:cNvSpPr txBox="1"/>
          <p:nvPr/>
        </p:nvSpPr>
        <p:spPr>
          <a:xfrm>
            <a:off x="9017000" y="14224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✦ Enrich Lead</a:t>
            </a:r>
            <a:r>
              <a:rPr lang="en-US" sz="800" noProof="1">
                <a:solidFill>
                  <a:srgbClr val="34D399"/>
                </a:solidFill>
                <a:latin typeface="MiSans"/>
                <a:ea typeface="MiSans"/>
              </a:rPr>
              <a:t>   ● Success</a:t>
            </a: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  ✕</a:t>
            </a:r>
            <a:endParaRPr lang="en-US" sz="1600" noProof="1"/>
          </a:p>
        </p:txBody>
      </p:sp>
      <p:sp>
        <p:nvSpPr>
          <p:cNvPr id="27" name="dr-meta"/>
          <p:cNvSpPr txBox="1"/>
          <p:nvPr/>
        </p:nvSpPr>
        <p:spPr>
          <a:xfrm>
            <a:off x="9017000" y="18034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2.1s · 1,420 tok · $0.018 · run #1284</a:t>
            </a:r>
            <a:endParaRPr lang="en-US" sz="800" noProof="1"/>
          </a:p>
        </p:txBody>
      </p:sp>
      <p:sp>
        <p:nvSpPr>
          <p:cNvPr id="28" name="dr-tabs"/>
          <p:cNvSpPr txBox="1"/>
          <p:nvPr/>
        </p:nvSpPr>
        <p:spPr>
          <a:xfrm>
            <a:off x="9017000" y="2082800"/>
            <a:ext cx="241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Configure</a:t>
            </a:r>
            <a:r>
              <a:rPr lang="en-US" sz="950" noProof="1">
                <a:solidFill>
                  <a:srgbClr val="52525B"/>
                </a:solidFill>
                <a:latin typeface="MiSans"/>
                <a:ea typeface="MiSans"/>
              </a:rPr>
              <a:t>   Test   Logs</a:t>
            </a:r>
            <a:endParaRPr lang="en-US" sz="1600" noProof="1"/>
          </a:p>
        </p:txBody>
      </p:sp>
      <p:sp>
        <p:nvSpPr>
          <p:cNvPr id="29" name="dr-tabline"/>
          <p:cNvSpPr/>
          <p:nvPr>
            <p:extLst>
              <p:ext uri="{F5677B7D-0D2A-4D9B-9A5C-6D8D7D0E5A5D}">
                <pptd:line encoding="base64url">eyJ2aWV3Qm94IjpbNTIsMl0sInBvaW50cyI6IjAsMSA1MiwxIn0</pptd:line>
              </p:ext>
            </p:extLst>
          </p:nvPr>
        </p:nvSpPr>
        <p:spPr>
          <a:xfrm>
            <a:off x="9017000" y="2311400"/>
            <a:ext cx="660400" cy="25400"/>
          </a:xfrm>
          <a:custGeom>
            <a:avLst/>
            <a:gdLst/>
            <a:ahLst/>
            <a:cxnLst/>
            <a:rect l="l" t="t" r="r" b="b"/>
            <a:pathLst>
              <a:path w="52" h="2">
                <a:moveTo>
                  <a:pt x="0" y="1"/>
                </a:moveTo>
                <a:lnTo>
                  <a:pt x="52" y="1"/>
                </a:lnTo>
              </a:path>
            </a:pathLst>
          </a:custGeom>
          <a:noFill/>
          <a:ln w="25400" cap="rnd">
            <a:solidFill>
              <a:srgbClr val="7C6CFF"/>
            </a:solidFill>
            <a:round/>
          </a:ln>
        </p:spPr>
      </p:sp>
      <p:sp>
        <p:nvSpPr>
          <p:cNvPr id="30" name="dr-f1l"/>
          <p:cNvSpPr txBox="1"/>
          <p:nvPr/>
        </p:nvSpPr>
        <p:spPr>
          <a:xfrm>
            <a:off x="9017000" y="2489200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750" noProof="1" spc="80" kern="0">
                <a:solidFill>
                  <a:srgbClr val="52525B"/>
                </a:solidFill>
                <a:latin typeface="MiSans"/>
                <a:ea typeface="MiSans"/>
              </a:rPr>
              <a:t>MODEL</a:t>
            </a:r>
            <a:endParaRPr lang="en-US" sz="750" noProof="1"/>
          </a:p>
        </p:txBody>
      </p:sp>
      <p:sp>
        <p:nvSpPr>
          <p:cNvPr id="31" name="dr-f1"/>
          <p:cNvSpPr/>
          <p:nvPr/>
        </p:nvSpPr>
        <p:spPr>
          <a:xfrm>
            <a:off x="9017000" y="2667000"/>
            <a:ext cx="2387600" cy="304800"/>
          </a:xfrm>
          <a:prstGeom prst="roundRect">
            <a:avLst>
              <a:gd name="adj" fmla="val 18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32" name="dr-f1t"/>
          <p:cNvSpPr txBox="1"/>
          <p:nvPr/>
        </p:nvSpPr>
        <p:spPr>
          <a:xfrm>
            <a:off x="9144000" y="26670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FAFAFA"/>
                </a:solidFill>
                <a:latin typeface="MiSans"/>
                <a:ea typeface="MiSans"/>
              </a:rPr>
              <a:t>GPT-4o</a:t>
            </a:r>
            <a:endParaRPr lang="en-US" sz="950" noProof="1"/>
          </a:p>
        </p:txBody>
      </p:sp>
      <p:sp>
        <p:nvSpPr>
          <p:cNvPr id="33" name="dr-f2l"/>
          <p:cNvSpPr txBox="1"/>
          <p:nvPr/>
        </p:nvSpPr>
        <p:spPr>
          <a:xfrm>
            <a:off x="9017000" y="3124200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750" noProof="1" spc="80" kern="0">
                <a:solidFill>
                  <a:srgbClr val="52525B"/>
                </a:solidFill>
                <a:latin typeface="MiSans"/>
                <a:ea typeface="MiSans"/>
              </a:rPr>
              <a:t>TEMPERATURE · 0.7</a:t>
            </a:r>
            <a:endParaRPr lang="en-US" sz="750" noProof="1"/>
          </a:p>
        </p:txBody>
      </p:sp>
      <p:sp>
        <p:nvSpPr>
          <p:cNvPr id="34" name="dr-slider"/>
          <p:cNvSpPr/>
          <p:nvPr/>
        </p:nvSpPr>
        <p:spPr>
          <a:xfrm>
            <a:off x="9017000" y="3327400"/>
            <a:ext cx="2387600" cy="50800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>
            <a:noFill/>
          </a:ln>
        </p:spPr>
      </p:sp>
      <p:sp>
        <p:nvSpPr>
          <p:cNvPr id="35" name="dr-slider-f"/>
          <p:cNvSpPr/>
          <p:nvPr/>
        </p:nvSpPr>
        <p:spPr>
          <a:xfrm>
            <a:off x="9017000" y="3327400"/>
            <a:ext cx="1651000" cy="50800"/>
          </a:xfrm>
          <a:prstGeom prst="roundRect">
            <a:avLst>
              <a:gd name="adj" fmla="val 50000"/>
            </a:avLst>
          </a:prstGeom>
          <a:solidFill>
            <a:srgbClr val="7C6CFF"/>
          </a:solidFill>
          <a:ln>
            <a:noFill/>
          </a:ln>
        </p:spPr>
      </p:sp>
      <p:sp>
        <p:nvSpPr>
          <p:cNvPr id="36" name="dr-slider-k"/>
          <p:cNvSpPr/>
          <p:nvPr/>
        </p:nvSpPr>
        <p:spPr>
          <a:xfrm>
            <a:off x="10591800" y="3276600"/>
            <a:ext cx="152400" cy="152400"/>
          </a:xfrm>
          <a:prstGeom prst="ellipse">
            <a:avLst/>
          </a:prstGeom>
          <a:solidFill>
            <a:srgbClr val="7C6CFF"/>
          </a:solidFill>
          <a:ln>
            <a:noFill/>
          </a:ln>
        </p:spPr>
      </p:sp>
      <p:sp>
        <p:nvSpPr>
          <p:cNvPr id="37" name="dr-f3l"/>
          <p:cNvSpPr txBox="1"/>
          <p:nvPr/>
        </p:nvSpPr>
        <p:spPr>
          <a:xfrm>
            <a:off x="9017000" y="3632200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750" noProof="1" spc="80" kern="0">
                <a:solidFill>
                  <a:srgbClr val="52525B"/>
                </a:solidFill>
                <a:latin typeface="MiSans"/>
                <a:ea typeface="MiSans"/>
              </a:rPr>
              <a:t>PROMPT</a:t>
            </a:r>
            <a:endParaRPr lang="en-US" sz="750" noProof="1"/>
          </a:p>
        </p:txBody>
      </p:sp>
      <p:sp>
        <p:nvSpPr>
          <p:cNvPr id="38" name="dr-f3"/>
          <p:cNvSpPr/>
          <p:nvPr/>
        </p:nvSpPr>
        <p:spPr>
          <a:xfrm>
            <a:off x="9017000" y="3810000"/>
            <a:ext cx="2387600" cy="1219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7C6CFF"/>
            </a:solidFill>
          </a:ln>
        </p:spPr>
      </p:sp>
      <p:sp>
        <p:nvSpPr>
          <p:cNvPr id="39" name="dr-f3t"/>
          <p:cNvSpPr txBox="1"/>
          <p:nvPr/>
        </p:nvSpPr>
        <p:spPr>
          <a:xfrm>
            <a:off x="9144000" y="3911600"/>
            <a:ext cx="2159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850" noProof="1">
                <a:solidFill>
                  <a:srgbClr val="A1A1AA"/>
                </a:solidFill>
                <a:latin typeface="MiSans"/>
                <a:ea typeface="MiSans"/>
              </a:rPr>
              <a:t>Enrich the inbound lead </a:t>
            </a:r>
            <a:r>
              <a:rPr lang="en-US" sz="850" noProof="1">
                <a:solidFill>
                  <a:srgbClr val="7C6CFF"/>
                </a:solidFill>
                <a:latin typeface="MiSans"/>
                <a:ea typeface="MiSans"/>
              </a:rPr>
              <a:t>{{n1.lead}}</a:t>
            </a:r>
            <a:r>
              <a:rPr lang="en-US" sz="850" noProof="1">
                <a:solidFill>
                  <a:srgbClr val="A1A1AA"/>
                </a:solidFill>
                <a:latin typeface="MiSans"/>
                <a:ea typeface="MiSans"/>
              </a:rPr>
              <a:t> with firmographic data.</a:t>
            </a:r>
            <a:endParaRPr lang="en-US" sz="8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850" noProof="1">
                <a:solidFill>
                  <a:srgbClr val="A1A1AA"/>
                </a:solidFill>
                <a:latin typeface="MiSans"/>
                <a:ea typeface="MiSans"/>
              </a:rPr>
              <a:t>Return title, headcount, industry, and ICP fit 0–1.</a:t>
            </a:r>
            <a:endParaRPr lang="en-US" sz="850" noProof="1"/>
          </a:p>
        </p:txBody>
      </p:sp>
      <p:sp>
        <p:nvSpPr>
          <p:cNvPr id="40" name="dr-toggle"/>
          <p:cNvSpPr txBox="1"/>
          <p:nvPr/>
        </p:nvSpPr>
        <p:spPr>
          <a:xfrm>
            <a:off x="9017000" y="5207000"/>
            <a:ext cx="238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C6CFF"/>
                </a:solidFill>
                <a:latin typeface="MiSans"/>
                <a:ea typeface="MiSans"/>
              </a:rPr>
              <a:t>☑</a:t>
            </a: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 Enforce JSON schema</a:t>
            </a:r>
            <a:endParaRPr lang="en-US" sz="1600" noProof="1"/>
          </a:p>
        </p:txBody>
      </p:sp>
      <p:sp>
        <p:nvSpPr>
          <p:cNvPr id="41" name="dr-foot1"/>
          <p:cNvSpPr/>
          <p:nvPr/>
        </p:nvSpPr>
        <p:spPr>
          <a:xfrm>
            <a:off x="9017000" y="5689600"/>
            <a:ext cx="1143000" cy="304800"/>
          </a:xfrm>
          <a:prstGeom prst="roundRect">
            <a:avLst>
              <a:gd name="adj" fmla="val 18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42" name="dr-foot1t"/>
          <p:cNvSpPr txBox="1"/>
          <p:nvPr/>
        </p:nvSpPr>
        <p:spPr>
          <a:xfrm>
            <a:off x="9017000" y="56896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Duplicate</a:t>
            </a:r>
            <a:endParaRPr lang="en-US" sz="900" noProof="1"/>
          </a:p>
        </p:txBody>
      </p:sp>
      <p:sp>
        <p:nvSpPr>
          <p:cNvPr id="43" name="dr-foot2"/>
          <p:cNvSpPr/>
          <p:nvPr/>
        </p:nvSpPr>
        <p:spPr>
          <a:xfrm>
            <a:off x="10261600" y="5689600"/>
            <a:ext cx="1143000" cy="304800"/>
          </a:xfrm>
          <a:prstGeom prst="roundRect">
            <a:avLst>
              <a:gd name="adj" fmla="val 18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44" name="dr-foot2t"/>
          <p:cNvSpPr txBox="1"/>
          <p:nvPr/>
        </p:nvSpPr>
        <p:spPr>
          <a:xfrm>
            <a:off x="10261600" y="56896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F87171"/>
                </a:solidFill>
                <a:latin typeface="MiSans"/>
                <a:ea typeface="MiSans"/>
              </a:rPr>
              <a:t>Delete</a:t>
            </a:r>
            <a:endParaRPr lang="en-US" sz="900" noProof="1"/>
          </a:p>
        </p:txBody>
      </p:sp>
      <p:sp>
        <p:nvSpPr>
          <p:cNvPr id="45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08 — SCREEN · RUN INSPECTOR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Execution history &amp; payload inspector</a:t>
            </a:r>
            <a:endParaRPr lang="en-US" sz="2400" noProof="1"/>
          </a:p>
        </p:txBody>
      </p:sp>
      <p:sp>
        <p:nvSpPr>
          <p:cNvPr id="4" name="anno"/>
          <p:cNvSpPr txBox="1"/>
          <p:nvPr/>
        </p:nvSpPr>
        <p:spPr>
          <a:xfrm>
            <a:off x="8255000" y="660400"/>
            <a:ext cx="3327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every step: input / output / error</a:t>
            </a:r>
            <a:endParaRPr lang="en-US" sz="1000" noProof="1"/>
          </a:p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re-run from any step</a:t>
            </a:r>
            <a:endParaRPr lang="en-US" sz="1000" noProof="1"/>
          </a:p>
        </p:txBody>
      </p:sp>
      <p:sp>
        <p:nvSpPr>
          <p:cNvPr id="5" name="list-head"/>
          <p:cNvSpPr/>
          <p:nvPr/>
        </p:nvSpPr>
        <p:spPr>
          <a:xfrm>
            <a:off x="609600" y="1270000"/>
            <a:ext cx="6604000" cy="508000"/>
          </a:xfrm>
          <a:prstGeom prst="roundRect">
            <a:avLst>
              <a:gd name="adj" fmla="val 12000"/>
            </a:avLst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6" name="list-head-t"/>
          <p:cNvSpPr txBox="1"/>
          <p:nvPr/>
        </p:nvSpPr>
        <p:spPr>
          <a:xfrm>
            <a:off x="787400" y="12700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⌕ Search flows or #run id…</a:t>
            </a:r>
            <a:r>
              <a:rPr lang="en-US" sz="900" noProof="1">
                <a:solidFill>
                  <a:srgbClr val="FAFAFA"/>
                </a:solidFill>
                <a:latin typeface="MiSans"/>
                <a:ea typeface="MiSans"/>
              </a:rPr>
              <a:t>        All runs</a:t>
            </a: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  Succeeded  Failed  Running</a:t>
            </a:r>
            <a:endParaRPr lang="en-US" sz="1600" noProof="1"/>
          </a:p>
        </p:txBody>
      </p:sp>
      <p:sp>
        <p:nvSpPr>
          <p:cNvPr id="7" name="r1"/>
          <p:cNvSpPr/>
          <p:nvPr/>
        </p:nvSpPr>
        <p:spPr>
          <a:xfrm>
            <a:off x="609600" y="1905000"/>
            <a:ext cx="6604000" cy="18796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8" name="r1-head"/>
          <p:cNvSpPr txBox="1"/>
          <p:nvPr/>
        </p:nvSpPr>
        <p:spPr>
          <a:xfrm>
            <a:off x="787400" y="2006600"/>
            <a:ext cx="622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▾ </a:t>
            </a: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#1283</a:t>
            </a:r>
            <a:r>
              <a:rPr lang="en-US" sz="950" noProof="1">
                <a:solidFill>
                  <a:srgbClr val="FAFAFA"/>
                </a:solidFill>
                <a:latin typeface="MiSans"/>
                <a:ea typeface="MiSans"/>
              </a:rPr>
              <a:t>  </a:t>
            </a: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Lead Enrichment Pipeline</a:t>
            </a:r>
            <a:r>
              <a:rPr lang="en-US" sz="800" noProof="1">
                <a:solidFill>
                  <a:srgbClr val="F87171"/>
                </a:solidFill>
                <a:latin typeface="MiSans"/>
                <a:ea typeface="MiSans"/>
              </a:rPr>
              <a:t>   ● FAILED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   4/7 · 5.2s · $0.027</a:t>
            </a:r>
            <a:endParaRPr lang="en-US" sz="1600" noProof="1"/>
          </a:p>
        </p:txBody>
      </p:sp>
      <p:sp>
        <p:nvSpPr>
          <p:cNvPr id="9" name="st1"/>
          <p:cNvSpPr/>
          <p:nvPr/>
        </p:nvSpPr>
        <p:spPr>
          <a:xfrm>
            <a:off x="787400" y="2438400"/>
            <a:ext cx="1066800" cy="508000"/>
          </a:xfrm>
          <a:prstGeom prst="roundRect">
            <a:avLst>
              <a:gd name="adj" fmla="val 14000"/>
            </a:avLst>
          </a:prstGeom>
          <a:solidFill>
            <a:srgbClr val="0D0D0F"/>
          </a:solidFill>
          <a:ln w="12700">
            <a:solidFill>
              <a:srgbClr val="232326"/>
            </a:solidFill>
          </a:ln>
        </p:spPr>
      </p:sp>
      <p:sp>
        <p:nvSpPr>
          <p:cNvPr id="10" name="st1t"/>
          <p:cNvSpPr txBox="1"/>
          <p:nvPr/>
        </p:nvSpPr>
        <p:spPr>
          <a:xfrm>
            <a:off x="863600" y="2489200"/>
            <a:ext cx="914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800" noProof="1">
                <a:solidFill>
                  <a:srgbClr val="FAFAFA"/>
                </a:solidFill>
                <a:latin typeface="MiSans"/>
                <a:ea typeface="MiSans"/>
              </a:rPr>
              <a:t>⚡ Webhook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34D399"/>
                </a:solidFill>
                <a:latin typeface="MiSans"/>
                <a:ea typeface="MiSans"/>
              </a:rPr>
              <a:t>Success · 38ms</a:t>
            </a:r>
            <a:endParaRPr lang="en-US" sz="1600" noProof="1"/>
          </a:p>
        </p:txBody>
      </p:sp>
      <p:sp>
        <p:nvSpPr>
          <p:cNvPr id="11" name="arr1"/>
          <p:cNvSpPr txBox="1"/>
          <p:nvPr/>
        </p:nvSpPr>
        <p:spPr>
          <a:xfrm>
            <a:off x="1879600" y="2489200"/>
            <a:ext cx="177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→</a:t>
            </a:r>
            <a:endParaRPr lang="en-US" sz="900" noProof="1"/>
          </a:p>
        </p:txBody>
      </p:sp>
      <p:sp>
        <p:nvSpPr>
          <p:cNvPr id="12" name="st2"/>
          <p:cNvSpPr/>
          <p:nvPr/>
        </p:nvSpPr>
        <p:spPr>
          <a:xfrm>
            <a:off x="2082800" y="2438400"/>
            <a:ext cx="1066800" cy="508000"/>
          </a:xfrm>
          <a:prstGeom prst="roundRect">
            <a:avLst>
              <a:gd name="adj" fmla="val 14000"/>
            </a:avLst>
          </a:prstGeom>
          <a:solidFill>
            <a:srgbClr val="0D0D0F"/>
          </a:solidFill>
          <a:ln w="12700">
            <a:solidFill>
              <a:srgbClr val="232326"/>
            </a:solidFill>
          </a:ln>
        </p:spPr>
      </p:sp>
      <p:sp>
        <p:nvSpPr>
          <p:cNvPr id="13" name="st2t"/>
          <p:cNvSpPr txBox="1"/>
          <p:nvPr/>
        </p:nvSpPr>
        <p:spPr>
          <a:xfrm>
            <a:off x="2159000" y="2489200"/>
            <a:ext cx="914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800" noProof="1">
                <a:solidFill>
                  <a:srgbClr val="FAFAFA"/>
                </a:solidFill>
                <a:latin typeface="MiSans"/>
                <a:ea typeface="MiSans"/>
              </a:rPr>
              <a:t>✦ Enrich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34D399"/>
                </a:solidFill>
                <a:latin typeface="MiSans"/>
                <a:ea typeface="MiSans"/>
              </a:rPr>
              <a:t>Success · 2.0s</a:t>
            </a:r>
            <a:endParaRPr lang="en-US" sz="1600" noProof="1"/>
          </a:p>
        </p:txBody>
      </p:sp>
      <p:sp>
        <p:nvSpPr>
          <p:cNvPr id="14" name="arr2"/>
          <p:cNvSpPr txBox="1"/>
          <p:nvPr/>
        </p:nvSpPr>
        <p:spPr>
          <a:xfrm>
            <a:off x="3175000" y="2489200"/>
            <a:ext cx="177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→</a:t>
            </a:r>
            <a:endParaRPr lang="en-US" sz="900" noProof="1"/>
          </a:p>
        </p:txBody>
      </p:sp>
      <p:sp>
        <p:nvSpPr>
          <p:cNvPr id="15" name="st3"/>
          <p:cNvSpPr/>
          <p:nvPr/>
        </p:nvSpPr>
        <p:spPr>
          <a:xfrm>
            <a:off x="3378200" y="2438400"/>
            <a:ext cx="1066800" cy="508000"/>
          </a:xfrm>
          <a:prstGeom prst="roundRect">
            <a:avLst>
              <a:gd name="adj" fmla="val 14000"/>
            </a:avLst>
          </a:prstGeom>
          <a:solidFill>
            <a:srgbClr val="0D0D0F"/>
          </a:solidFill>
          <a:ln w="12700">
            <a:solidFill>
              <a:srgbClr val="232326"/>
            </a:solidFill>
          </a:ln>
        </p:spPr>
      </p:sp>
      <p:sp>
        <p:nvSpPr>
          <p:cNvPr id="16" name="st3t"/>
          <p:cNvSpPr txBox="1"/>
          <p:nvPr/>
        </p:nvSpPr>
        <p:spPr>
          <a:xfrm>
            <a:off x="3454400" y="2489200"/>
            <a:ext cx="914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800" noProof="1">
                <a:solidFill>
                  <a:srgbClr val="FAFAFA"/>
                </a:solidFill>
                <a:latin typeface="MiSans"/>
                <a:ea typeface="MiSans"/>
              </a:rPr>
              <a:t>✦ Score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34D399"/>
                </a:solidFill>
                <a:latin typeface="MiSans"/>
                <a:ea typeface="MiSans"/>
              </a:rPr>
              <a:t>Success · 0.9s</a:t>
            </a:r>
            <a:endParaRPr lang="en-US" sz="1600" noProof="1"/>
          </a:p>
        </p:txBody>
      </p:sp>
      <p:sp>
        <p:nvSpPr>
          <p:cNvPr id="17" name="arr3"/>
          <p:cNvSpPr txBox="1"/>
          <p:nvPr/>
        </p:nvSpPr>
        <p:spPr>
          <a:xfrm>
            <a:off x="4470400" y="2489200"/>
            <a:ext cx="177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→</a:t>
            </a:r>
            <a:endParaRPr lang="en-US" sz="900" noProof="1"/>
          </a:p>
        </p:txBody>
      </p:sp>
      <p:sp>
        <p:nvSpPr>
          <p:cNvPr id="18" name="st4"/>
          <p:cNvSpPr/>
          <p:nvPr/>
        </p:nvSpPr>
        <p:spPr>
          <a:xfrm>
            <a:off x="4673600" y="2438400"/>
            <a:ext cx="1066800" cy="508000"/>
          </a:xfrm>
          <a:prstGeom prst="roundRect">
            <a:avLst>
              <a:gd name="adj" fmla="val 14000"/>
            </a:avLst>
          </a:prstGeom>
          <a:solidFill>
            <a:srgbClr val="0D0D0F"/>
          </a:solidFill>
          <a:ln w="12700">
            <a:solidFill>
              <a:srgbClr val="7C6CFF"/>
            </a:solidFill>
          </a:ln>
          <a:effectLst>
            <a:outerShdw blurRad="177800" dist="0" dir="0" sx="100000" sy="100000" kx="0" ky="0" algn="bl" rotWithShape="0">
              <a:srgbClr val="7C6CFF">
                <a:alpha val="25098"/>
              </a:srgbClr>
            </a:outerShdw>
          </a:effectLst>
        </p:spPr>
      </p:sp>
      <p:sp>
        <p:nvSpPr>
          <p:cNvPr id="19" name="st4t"/>
          <p:cNvSpPr txBox="1"/>
          <p:nvPr/>
        </p:nvSpPr>
        <p:spPr>
          <a:xfrm>
            <a:off x="4749800" y="2489200"/>
            <a:ext cx="914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800" noProof="1">
                <a:solidFill>
                  <a:srgbClr val="FAFAFA"/>
                </a:solidFill>
                <a:latin typeface="MiSans"/>
                <a:ea typeface="MiSans"/>
              </a:rPr>
              <a:t>▦ Sheets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F87171"/>
                </a:solidFill>
                <a:latin typeface="MiSans"/>
                <a:ea typeface="MiSans"/>
              </a:rPr>
              <a:t>Failed · 2.0s</a:t>
            </a:r>
            <a:endParaRPr lang="en-US" sz="1600" noProof="1"/>
          </a:p>
        </p:txBody>
      </p:sp>
      <p:sp>
        <p:nvSpPr>
          <p:cNvPr id="20" name="arr4"/>
          <p:cNvSpPr txBox="1"/>
          <p:nvPr/>
        </p:nvSpPr>
        <p:spPr>
          <a:xfrm>
            <a:off x="5765800" y="2489200"/>
            <a:ext cx="177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→</a:t>
            </a:r>
            <a:endParaRPr lang="en-US" sz="900" noProof="1"/>
          </a:p>
        </p:txBody>
      </p:sp>
      <p:sp>
        <p:nvSpPr>
          <p:cNvPr id="21" name="st5"/>
          <p:cNvSpPr/>
          <p:nvPr/>
        </p:nvSpPr>
        <p:spPr>
          <a:xfrm>
            <a:off x="5969000" y="2438400"/>
            <a:ext cx="1066800" cy="508000"/>
          </a:xfrm>
          <a:prstGeom prst="roundRect">
            <a:avLst>
              <a:gd name="adj" fmla="val 14000"/>
            </a:avLst>
          </a:prstGeom>
          <a:solidFill>
            <a:srgbClr val="0D0D0F"/>
          </a:solidFill>
          <a:ln w="12700">
            <a:solidFill>
              <a:srgbClr val="232326"/>
            </a:solidFill>
            <a:prstDash val="dash"/>
          </a:ln>
        </p:spPr>
      </p:sp>
      <p:sp>
        <p:nvSpPr>
          <p:cNvPr id="22" name="st5t"/>
          <p:cNvSpPr txBox="1"/>
          <p:nvPr/>
        </p:nvSpPr>
        <p:spPr>
          <a:xfrm>
            <a:off x="6045200" y="2489200"/>
            <a:ext cx="914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# Slack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52525B"/>
                </a:solidFill>
                <a:latin typeface="MiSans"/>
                <a:ea typeface="MiSans"/>
              </a:rPr>
              <a:t>Skipped</a:t>
            </a:r>
            <a:endParaRPr lang="en-US" sz="1600" noProof="1"/>
          </a:p>
        </p:txBody>
      </p:sp>
      <p:sp>
        <p:nvSpPr>
          <p:cNvPr id="23" name="eb"/>
          <p:cNvSpPr/>
          <p:nvPr/>
        </p:nvSpPr>
        <p:spPr>
          <a:xfrm>
            <a:off x="787400" y="3098800"/>
            <a:ext cx="6248400" cy="508000"/>
          </a:xfrm>
          <a:prstGeom prst="roundRect">
            <a:avLst>
              <a:gd name="adj" fmla="val 14000"/>
            </a:avLst>
          </a:prstGeom>
          <a:solidFill>
            <a:srgbClr val="F87171">
              <a:alpha val="5098"/>
            </a:srgbClr>
          </a:solidFill>
          <a:ln w="12700">
            <a:solidFill>
              <a:srgbClr val="F87171">
                <a:alpha val="25098"/>
              </a:srgbClr>
            </a:solidFill>
          </a:ln>
        </p:spPr>
      </p:sp>
      <p:sp>
        <p:nvSpPr>
          <p:cNvPr id="24" name="eb-t"/>
          <p:cNvSpPr txBox="1"/>
          <p:nvPr/>
        </p:nvSpPr>
        <p:spPr>
          <a:xfrm>
            <a:off x="939800" y="30988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F87171"/>
                </a:solidFill>
                <a:latin typeface="MiSans"/>
                <a:ea typeface="MiSans"/>
              </a:rPr>
              <a:t>⚠ Sheets — Add Row</a:t>
            </a:r>
            <a:r>
              <a:rPr lang="en-US" sz="850" noProof="1">
                <a:solidFill>
                  <a:srgbClr val="A1A1AA"/>
                </a:solidFill>
                <a:latin typeface="MiSans"/>
                <a:ea typeface="MiSans"/>
              </a:rPr>
              <a:t> — Row limit exceeded (plan cap 10,000 rows)</a:t>
            </a:r>
            <a:endParaRPr lang="en-US" sz="1600" noProof="1"/>
          </a:p>
        </p:txBody>
      </p:sp>
      <p:sp>
        <p:nvSpPr>
          <p:cNvPr id="25" name="eb-btn"/>
          <p:cNvSpPr/>
          <p:nvPr/>
        </p:nvSpPr>
        <p:spPr>
          <a:xfrm>
            <a:off x="6172200" y="3225800"/>
            <a:ext cx="762000" cy="25400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F87171">
                <a:alpha val="40000"/>
              </a:srgbClr>
            </a:solidFill>
          </a:ln>
        </p:spPr>
      </p:sp>
      <p:sp>
        <p:nvSpPr>
          <p:cNvPr id="26" name="eb-btn-t"/>
          <p:cNvSpPr txBox="1"/>
          <p:nvPr/>
        </p:nvSpPr>
        <p:spPr>
          <a:xfrm>
            <a:off x="6172200" y="32258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F87171"/>
                </a:solidFill>
                <a:latin typeface="MiSans"/>
                <a:ea typeface="MiSans"/>
              </a:rPr>
              <a:t>Inspect</a:t>
            </a:r>
            <a:endParaRPr lang="en-US" sz="800" noProof="1"/>
          </a:p>
        </p:txBody>
      </p:sp>
      <p:sp>
        <p:nvSpPr>
          <p:cNvPr id="27" name="r2"/>
          <p:cNvSpPr/>
          <p:nvPr/>
        </p:nvSpPr>
        <p:spPr>
          <a:xfrm>
            <a:off x="609600" y="3911600"/>
            <a:ext cx="6604000" cy="4318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8" name="r2-t"/>
          <p:cNvSpPr txBox="1"/>
          <p:nvPr/>
        </p:nvSpPr>
        <p:spPr>
          <a:xfrm>
            <a:off x="787400" y="3911600"/>
            <a:ext cx="6223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▸ </a:t>
            </a: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#1284</a:t>
            </a:r>
            <a:r>
              <a:rPr lang="en-US" sz="950" noProof="1">
                <a:solidFill>
                  <a:srgbClr val="FAFAFA"/>
                </a:solidFill>
                <a:latin typeface="MiSans"/>
                <a:ea typeface="MiSans"/>
              </a:rPr>
              <a:t>  </a:t>
            </a: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Lead Enrichment Pipeline</a:t>
            </a:r>
            <a:r>
              <a:rPr lang="en-US" sz="800" noProof="1">
                <a:solidFill>
                  <a:srgbClr val="34D399"/>
                </a:solidFill>
                <a:latin typeface="MiSans"/>
                <a:ea typeface="MiSans"/>
              </a:rPr>
              <a:t>   ● SUCCESS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   7/7 · 8.4s · $0.042</a:t>
            </a:r>
            <a:endParaRPr lang="en-US" sz="1600" noProof="1"/>
          </a:p>
        </p:txBody>
      </p:sp>
      <p:sp>
        <p:nvSpPr>
          <p:cNvPr id="29" name="r3"/>
          <p:cNvSpPr/>
          <p:nvPr/>
        </p:nvSpPr>
        <p:spPr>
          <a:xfrm>
            <a:off x="609600" y="4445000"/>
            <a:ext cx="6604000" cy="4318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0" name="r3-t"/>
          <p:cNvSpPr txBox="1"/>
          <p:nvPr/>
        </p:nvSpPr>
        <p:spPr>
          <a:xfrm>
            <a:off x="787400" y="4445000"/>
            <a:ext cx="6223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▸ </a:t>
            </a: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#1280</a:t>
            </a:r>
            <a:r>
              <a:rPr lang="en-US" sz="950" noProof="1">
                <a:solidFill>
                  <a:srgbClr val="FAFAFA"/>
                </a:solidFill>
                <a:latin typeface="MiSans"/>
                <a:ea typeface="MiSans"/>
              </a:rPr>
              <a:t>  </a:t>
            </a: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Competitor Price Watch</a:t>
            </a:r>
            <a:r>
              <a:rPr lang="en-US" sz="800" noProof="1">
                <a:solidFill>
                  <a:srgbClr val="38BDF8"/>
                </a:solidFill>
                <a:latin typeface="MiSans"/>
                <a:ea typeface="MiSans"/>
              </a:rPr>
              <a:t>   ● RUNNING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   3/6 · … · $0.019</a:t>
            </a:r>
            <a:endParaRPr lang="en-US" sz="1600" noProof="1"/>
          </a:p>
        </p:txBody>
      </p:sp>
      <p:sp>
        <p:nvSpPr>
          <p:cNvPr id="31" name="es"/>
          <p:cNvSpPr/>
          <p:nvPr/>
        </p:nvSpPr>
        <p:spPr>
          <a:xfrm>
            <a:off x="609600" y="5003800"/>
            <a:ext cx="6604000" cy="1346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dash"/>
          </a:ln>
        </p:spPr>
      </p:sp>
      <p:sp>
        <p:nvSpPr>
          <p:cNvPr id="32" name="es-icon"/>
          <p:cNvSpPr/>
          <p:nvPr>
            <p:extLst>
              <p:ext uri="{F5677B7D-0D2A-4D9B-9A5C-6D8D7D0E5A5D}">
                <pptd:icon encoding="base64url">eyJpY29uTmFtZSI6ImZhczptYWduaWZ5aW5nLWdsYXNzIn0</pptd:icon>
              </p:ext>
            </p:extLst>
          </p:nvPr>
        </p:nvSpPr>
        <p:spPr>
          <a:xfrm>
            <a:off x="3454400" y="5207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52525B"/>
          </a:solidFill>
          <a:ln>
            <a:noFill/>
          </a:ln>
        </p:spPr>
      </p:sp>
      <p:sp>
        <p:nvSpPr>
          <p:cNvPr id="33" name="es-t"/>
          <p:cNvSpPr txBox="1"/>
          <p:nvPr/>
        </p:nvSpPr>
        <p:spPr>
          <a:xfrm>
            <a:off x="1651000" y="5486400"/>
            <a:ext cx="457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050" noProof="1" b="1">
                <a:solidFill>
                  <a:srgbClr val="FAFAFA"/>
                </a:solidFill>
                <a:latin typeface="MiSans"/>
                <a:ea typeface="MiSans"/>
              </a:rPr>
              <a:t>No runs match these filters</a:t>
            </a:r>
            <a:endParaRPr lang="en-US" sz="1600" noProof="1"/>
          </a:p>
          <a:p>
            <a:pPr algn="ctr"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Try clearing the search or switching back to all runs.</a:t>
            </a:r>
            <a:endParaRPr lang="en-US" sz="1600" noProof="1"/>
          </a:p>
        </p:txBody>
      </p:sp>
      <p:sp>
        <p:nvSpPr>
          <p:cNvPr id="34" name="insp"/>
          <p:cNvSpPr/>
          <p:nvPr/>
        </p:nvSpPr>
        <p:spPr>
          <a:xfrm>
            <a:off x="7416800" y="1270000"/>
            <a:ext cx="4165600" cy="50800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 w="12700">
            <a:solidFill>
              <a:srgbClr val="232326"/>
            </a:solidFill>
          </a:ln>
          <a:effectLst>
            <a:outerShdw blurRad="381000" dist="101600" dir="10800000" sx="100000" sy="100000" kx="0" ky="0" algn="bl" rotWithShape="0">
              <a:srgbClr val="000000">
                <a:alpha val="50196"/>
              </a:srgbClr>
            </a:outerShdw>
          </a:effectLst>
        </p:spPr>
      </p:sp>
      <p:sp>
        <p:nvSpPr>
          <p:cNvPr id="35" name="insp-head"/>
          <p:cNvSpPr txBox="1"/>
          <p:nvPr/>
        </p:nvSpPr>
        <p:spPr>
          <a:xfrm>
            <a:off x="7594600" y="14224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▦ Sheets — Add Row</a:t>
            </a:r>
            <a:r>
              <a:rPr lang="en-US" sz="800" noProof="1">
                <a:solidFill>
                  <a:srgbClr val="F87171"/>
                </a:solidFill>
                <a:latin typeface="MiSans"/>
                <a:ea typeface="MiSans"/>
              </a:rPr>
              <a:t>  ● FAILED</a:t>
            </a: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  ✕</a:t>
            </a:r>
            <a:endParaRPr lang="en-US" sz="1600" noProof="1"/>
          </a:p>
        </p:txBody>
      </p:sp>
      <p:sp>
        <p:nvSpPr>
          <p:cNvPr id="36" name="insp-meta"/>
          <p:cNvSpPr txBox="1"/>
          <p:nvPr/>
        </p:nvSpPr>
        <p:spPr>
          <a:xfrm>
            <a:off x="7594600" y="1778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2.0s · run #1283 · sheets · n4</a:t>
            </a:r>
            <a:endParaRPr lang="en-US" sz="800" noProof="1"/>
          </a:p>
        </p:txBody>
      </p:sp>
      <p:sp>
        <p:nvSpPr>
          <p:cNvPr id="37" name="insp-tabs"/>
          <p:cNvSpPr txBox="1"/>
          <p:nvPr/>
        </p:nvSpPr>
        <p:spPr>
          <a:xfrm>
            <a:off x="7594600" y="2057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52525B"/>
                </a:solidFill>
                <a:latin typeface="MiSans"/>
                <a:ea typeface="MiSans"/>
              </a:rPr>
              <a:t>Input   Output   </a:t>
            </a: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Error</a:t>
            </a:r>
            <a:r>
              <a:rPr lang="en-US" sz="800" noProof="1">
                <a:solidFill>
                  <a:srgbClr val="F87171"/>
                </a:solidFill>
                <a:latin typeface="MiSans"/>
                <a:ea typeface="MiSans"/>
              </a:rPr>
              <a:t> ●</a:t>
            </a:r>
            <a:endParaRPr lang="en-US" sz="1600" noProof="1"/>
          </a:p>
        </p:txBody>
      </p:sp>
      <p:sp>
        <p:nvSpPr>
          <p:cNvPr id="38" name="insp-tabline"/>
          <p:cNvSpPr/>
          <p:nvPr>
            <p:extLst>
              <p:ext uri="{F5677B7D-0D2A-4D9B-9A5C-6D8D7D0E5A5D}">
                <pptd:line encoding="base64url">eyJ2aWV3Qm94IjpbNDAsMl0sInBvaW50cyI6IjAsMSA0MCwxIn0</pptd:line>
              </p:ext>
            </p:extLst>
          </p:nvPr>
        </p:nvSpPr>
        <p:spPr>
          <a:xfrm>
            <a:off x="8483600" y="2286000"/>
            <a:ext cx="508000" cy="25400"/>
          </a:xfrm>
          <a:custGeom>
            <a:avLst/>
            <a:gdLst/>
            <a:ahLst/>
            <a:cxnLst/>
            <a:rect l="l" t="t" r="r" b="b"/>
            <a:pathLst>
              <a:path w="40" h="2">
                <a:moveTo>
                  <a:pt x="0" y="1"/>
                </a:moveTo>
                <a:lnTo>
                  <a:pt x="40" y="1"/>
                </a:lnTo>
              </a:path>
            </a:pathLst>
          </a:custGeom>
          <a:noFill/>
          <a:ln w="25400" cap="rnd">
            <a:solidFill>
              <a:srgbClr val="7C6CFF"/>
            </a:solidFill>
            <a:round/>
          </a:ln>
        </p:spPr>
      </p:sp>
      <p:sp>
        <p:nvSpPr>
          <p:cNvPr id="39" name="ec"/>
          <p:cNvSpPr/>
          <p:nvPr/>
        </p:nvSpPr>
        <p:spPr>
          <a:xfrm>
            <a:off x="7594600" y="2438400"/>
            <a:ext cx="3810000" cy="1066800"/>
          </a:xfrm>
          <a:prstGeom prst="roundRect">
            <a:avLst>
              <a:gd name="adj" fmla="val 10000"/>
            </a:avLst>
          </a:prstGeom>
          <a:solidFill>
            <a:srgbClr val="F87171">
              <a:alpha val="5098"/>
            </a:srgbClr>
          </a:solidFill>
          <a:ln w="12700">
            <a:solidFill>
              <a:srgbClr val="F87171">
                <a:alpha val="25098"/>
              </a:srgbClr>
            </a:solidFill>
          </a:ln>
        </p:spPr>
      </p:sp>
      <p:sp>
        <p:nvSpPr>
          <p:cNvPr id="40" name="ec-t"/>
          <p:cNvSpPr txBox="1"/>
          <p:nvPr/>
        </p:nvSpPr>
        <p:spPr>
          <a:xfrm>
            <a:off x="7747000" y="2540000"/>
            <a:ext cx="350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50" noProof="1" b="1">
                <a:solidFill>
                  <a:srgbClr val="F87171"/>
                </a:solidFill>
                <a:latin typeface="MiSans"/>
                <a:ea typeface="MiSans"/>
              </a:rPr>
              <a:t>⚠ QUOTA_EXCEEDED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Spreadsheet 'Inbound Q3' has reached the 10,000 row cap on your current plan.</a:t>
            </a:r>
            <a:endParaRPr lang="en-US" sz="1600" noProof="1"/>
          </a:p>
        </p:txBody>
      </p:sp>
      <p:sp>
        <p:nvSpPr>
          <p:cNvPr id="41" name="fc"/>
          <p:cNvSpPr/>
          <p:nvPr/>
        </p:nvSpPr>
        <p:spPr>
          <a:xfrm>
            <a:off x="7594600" y="3632200"/>
            <a:ext cx="3810000" cy="8382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42" name="fc-t"/>
          <p:cNvSpPr txBox="1"/>
          <p:nvPr/>
        </p:nvSpPr>
        <p:spPr>
          <a:xfrm>
            <a:off x="7747000" y="3733800"/>
            <a:ext cx="3505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SUGGESTED FIX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Archive old rows or connect a new spreadsheet in the node config.</a:t>
            </a:r>
            <a:endParaRPr lang="en-US" sz="1600" noProof="1"/>
          </a:p>
        </p:txBody>
      </p:sp>
      <p:sp>
        <p:nvSpPr>
          <p:cNvPr id="43" name="rr"/>
          <p:cNvSpPr/>
          <p:nvPr/>
        </p:nvSpPr>
        <p:spPr>
          <a:xfrm>
            <a:off x="7594600" y="4622800"/>
            <a:ext cx="2032000" cy="355600"/>
          </a:xfrm>
          <a:prstGeom prst="roundRect">
            <a:avLst>
              <a:gd name="adj" fmla="val 20000"/>
            </a:avLst>
          </a:prstGeom>
          <a:solidFill>
            <a:srgbClr val="7C6CFF"/>
          </a:solidFill>
          <a:ln>
            <a:noFill/>
          </a:ln>
        </p:spPr>
      </p:sp>
      <p:sp>
        <p:nvSpPr>
          <p:cNvPr id="44" name="rr-t"/>
          <p:cNvSpPr txBox="1"/>
          <p:nvPr/>
        </p:nvSpPr>
        <p:spPr>
          <a:xfrm>
            <a:off x="7594600" y="46228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000000"/>
                </a:solidFill>
                <a:latin typeface="MiSans"/>
                <a:ea typeface="MiSans"/>
              </a:rPr>
              <a:t>↻ Re-run from this step</a:t>
            </a:r>
            <a:endParaRPr lang="en-US" sz="950" noProof="1"/>
          </a:p>
        </p:txBody>
      </p:sp>
      <p:sp>
        <p:nvSpPr>
          <p:cNvPr id="45" name="rr-note"/>
          <p:cNvSpPr txBox="1"/>
          <p:nvPr/>
        </p:nvSpPr>
        <p:spPr>
          <a:xfrm>
            <a:off x="7594600" y="50800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Upstream outputs preserved — only this step and dependents re-execute.</a:t>
            </a:r>
            <a:endParaRPr lang="en-US" sz="850" noProof="1"/>
          </a:p>
        </p:txBody>
      </p:sp>
      <p:sp>
        <p:nvSpPr>
          <p:cNvPr id="46" name="sn-label"/>
          <p:cNvSpPr txBox="1"/>
          <p:nvPr/>
        </p:nvSpPr>
        <p:spPr>
          <a:xfrm>
            <a:off x="7594600" y="55880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750" noProof="1" spc="80" kern="0">
                <a:solidFill>
                  <a:srgbClr val="52525B"/>
                </a:solidFill>
                <a:latin typeface="MiSans"/>
                <a:ea typeface="MiSans"/>
              </a:rPr>
              <a:t>STEPS</a:t>
            </a:r>
            <a:endParaRPr lang="en-US" sz="750" noProof="1"/>
          </a:p>
        </p:txBody>
      </p:sp>
      <p:sp>
        <p:nvSpPr>
          <p:cNvPr id="47" name="sn1"/>
          <p:cNvSpPr/>
          <p:nvPr/>
        </p:nvSpPr>
        <p:spPr>
          <a:xfrm>
            <a:off x="7594600" y="5816600"/>
            <a:ext cx="482600" cy="27940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48" name="sn1t"/>
          <p:cNvSpPr txBox="1"/>
          <p:nvPr/>
        </p:nvSpPr>
        <p:spPr>
          <a:xfrm>
            <a:off x="7594600" y="58166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4D399"/>
                </a:solidFill>
                <a:latin typeface="MiSans"/>
                <a:ea typeface="MiSans"/>
              </a:rPr>
              <a:t>●</a:t>
            </a:r>
            <a:endParaRPr lang="en-US" sz="800" noProof="1"/>
          </a:p>
        </p:txBody>
      </p:sp>
      <p:sp>
        <p:nvSpPr>
          <p:cNvPr id="49" name="sn2"/>
          <p:cNvSpPr/>
          <p:nvPr/>
        </p:nvSpPr>
        <p:spPr>
          <a:xfrm>
            <a:off x="8153400" y="5816600"/>
            <a:ext cx="482600" cy="27940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50" name="sn2t"/>
          <p:cNvSpPr txBox="1"/>
          <p:nvPr/>
        </p:nvSpPr>
        <p:spPr>
          <a:xfrm>
            <a:off x="8153400" y="58166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4D399"/>
                </a:solidFill>
                <a:latin typeface="MiSans"/>
                <a:ea typeface="MiSans"/>
              </a:rPr>
              <a:t>●</a:t>
            </a:r>
            <a:endParaRPr lang="en-US" sz="800" noProof="1"/>
          </a:p>
        </p:txBody>
      </p:sp>
      <p:sp>
        <p:nvSpPr>
          <p:cNvPr id="51" name="sn3"/>
          <p:cNvSpPr/>
          <p:nvPr/>
        </p:nvSpPr>
        <p:spPr>
          <a:xfrm>
            <a:off x="8712200" y="5816600"/>
            <a:ext cx="482600" cy="27940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52" name="sn3t"/>
          <p:cNvSpPr txBox="1"/>
          <p:nvPr/>
        </p:nvSpPr>
        <p:spPr>
          <a:xfrm>
            <a:off x="8712200" y="58166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34D399"/>
                </a:solidFill>
                <a:latin typeface="MiSans"/>
                <a:ea typeface="MiSans"/>
              </a:rPr>
              <a:t>●</a:t>
            </a:r>
            <a:endParaRPr lang="en-US" sz="800" noProof="1"/>
          </a:p>
        </p:txBody>
      </p:sp>
      <p:sp>
        <p:nvSpPr>
          <p:cNvPr id="53" name="sn4"/>
          <p:cNvSpPr/>
          <p:nvPr/>
        </p:nvSpPr>
        <p:spPr>
          <a:xfrm>
            <a:off x="9271000" y="5816600"/>
            <a:ext cx="482600" cy="279400"/>
          </a:xfrm>
          <a:prstGeom prst="roundRect">
            <a:avLst>
              <a:gd name="adj" fmla="val 20000"/>
            </a:avLst>
          </a:prstGeom>
          <a:solidFill>
            <a:srgbClr val="7C6CFF">
              <a:alpha val="14118"/>
            </a:srgbClr>
          </a:solidFill>
          <a:ln w="12700">
            <a:solidFill>
              <a:srgbClr val="7C6CFF"/>
            </a:solidFill>
          </a:ln>
          <a:effectLst>
            <a:outerShdw blurRad="127000" dist="0" dir="0" sx="100000" sy="100000" kx="0" ky="0" algn="bl" rotWithShape="0">
              <a:srgbClr val="7C6CFF">
                <a:alpha val="25098"/>
              </a:srgbClr>
            </a:outerShdw>
          </a:effectLst>
        </p:spPr>
      </p:sp>
      <p:sp>
        <p:nvSpPr>
          <p:cNvPr id="54" name="sn4t"/>
          <p:cNvSpPr txBox="1"/>
          <p:nvPr/>
        </p:nvSpPr>
        <p:spPr>
          <a:xfrm>
            <a:off x="9271000" y="58166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F87171"/>
                </a:solidFill>
                <a:latin typeface="MiSans"/>
                <a:ea typeface="MiSans"/>
              </a:rPr>
              <a:t>●</a:t>
            </a:r>
            <a:endParaRPr lang="en-US" sz="800" noProof="1"/>
          </a:p>
        </p:txBody>
      </p:sp>
      <p:sp>
        <p:nvSpPr>
          <p:cNvPr id="55" name="sn5"/>
          <p:cNvSpPr/>
          <p:nvPr/>
        </p:nvSpPr>
        <p:spPr>
          <a:xfrm>
            <a:off x="9829800" y="5816600"/>
            <a:ext cx="482600" cy="27940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56" name="sn5t"/>
          <p:cNvSpPr txBox="1"/>
          <p:nvPr/>
        </p:nvSpPr>
        <p:spPr>
          <a:xfrm>
            <a:off x="9829800" y="58166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●</a:t>
            </a:r>
            <a:endParaRPr lang="en-US" sz="800" noProof="1"/>
          </a:p>
        </p:txBody>
      </p:sp>
      <p:sp>
        <p:nvSpPr>
          <p:cNvPr id="57" name="sn6"/>
          <p:cNvSpPr/>
          <p:nvPr/>
        </p:nvSpPr>
        <p:spPr>
          <a:xfrm>
            <a:off x="10388600" y="5816600"/>
            <a:ext cx="482600" cy="27940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58" name="sn6t"/>
          <p:cNvSpPr txBox="1"/>
          <p:nvPr/>
        </p:nvSpPr>
        <p:spPr>
          <a:xfrm>
            <a:off x="10388600" y="58166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●</a:t>
            </a:r>
            <a:endParaRPr lang="en-US" sz="800" noProof="1"/>
          </a:p>
        </p:txBody>
      </p:sp>
      <p:sp>
        <p:nvSpPr>
          <p:cNvPr id="59" name="sn7"/>
          <p:cNvSpPr/>
          <p:nvPr/>
        </p:nvSpPr>
        <p:spPr>
          <a:xfrm>
            <a:off x="10947400" y="5816600"/>
            <a:ext cx="482600" cy="27940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60" name="sn7t"/>
          <p:cNvSpPr txBox="1"/>
          <p:nvPr/>
        </p:nvSpPr>
        <p:spPr>
          <a:xfrm>
            <a:off x="10947400" y="5816600"/>
            <a:ext cx="482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●</a:t>
            </a:r>
            <a:endParaRPr lang="en-US" sz="800" noProof="1"/>
          </a:p>
        </p:txBody>
      </p:sp>
      <p:sp>
        <p:nvSpPr>
          <p:cNvPr id="61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09 — SCREEN · INTEGRATIONS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Integrations &amp; degraded states</a:t>
            </a:r>
            <a:endParaRPr lang="en-US" sz="2400" noProof="1"/>
          </a:p>
        </p:txBody>
      </p:sp>
      <p:sp>
        <p:nvSpPr>
          <p:cNvPr id="4" name="anno"/>
          <p:cNvSpPr txBox="1"/>
          <p:nvPr/>
        </p:nvSpPr>
        <p:spPr>
          <a:xfrm>
            <a:off x="8255000" y="660400"/>
            <a:ext cx="3327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expired tokens never block the app —</a:t>
            </a:r>
            <a:endParaRPr lang="en-US" sz="1000" noProof="1"/>
          </a:p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only the affected flows pause</a:t>
            </a:r>
            <a:endParaRPr lang="en-US" sz="1000" noProof="1"/>
          </a:p>
        </p:txBody>
      </p:sp>
      <p:sp>
        <p:nvSpPr>
          <p:cNvPr id="5" name="wb"/>
          <p:cNvSpPr/>
          <p:nvPr/>
        </p:nvSpPr>
        <p:spPr>
          <a:xfrm>
            <a:off x="609600" y="1320800"/>
            <a:ext cx="10972800" cy="558800"/>
          </a:xfrm>
          <a:prstGeom prst="roundRect">
            <a:avLst>
              <a:gd name="adj" fmla="val 16000"/>
            </a:avLst>
          </a:prstGeom>
          <a:solidFill>
            <a:srgbClr val="FBBF24">
              <a:alpha val="5098"/>
            </a:srgbClr>
          </a:solidFill>
          <a:ln w="12700">
            <a:solidFill>
              <a:srgbClr val="FBBF24">
                <a:alpha val="34902"/>
              </a:srgbClr>
            </a:solidFill>
          </a:ln>
        </p:spPr>
      </p:sp>
      <p:sp>
        <p:nvSpPr>
          <p:cNvPr id="6" name="wb-t"/>
          <p:cNvSpPr txBox="1"/>
          <p:nvPr/>
        </p:nvSpPr>
        <p:spPr>
          <a:xfrm>
            <a:off x="838200" y="13208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FBBF24"/>
                </a:solidFill>
                <a:latin typeface="MiSans"/>
                <a:ea typeface="MiSans"/>
              </a:rPr>
              <a:t>⚠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  Your </a:t>
            </a:r>
            <a:r>
              <a:rPr lang="en-US" sz="1050" noProof="1" b="1">
                <a:solidFill>
                  <a:srgbClr val="FAFAFA"/>
                </a:solidFill>
                <a:latin typeface="MiSans"/>
                <a:ea typeface="MiSans"/>
              </a:rPr>
              <a:t>Slack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 connection expired 2 days ago — 3 flows are affected.</a:t>
            </a:r>
            <a:endParaRPr lang="en-US" sz="1600" noProof="1"/>
          </a:p>
        </p:txBody>
      </p:sp>
      <p:sp>
        <p:nvSpPr>
          <p:cNvPr id="7" name="wb-btn"/>
          <p:cNvSpPr/>
          <p:nvPr/>
        </p:nvSpPr>
        <p:spPr>
          <a:xfrm>
            <a:off x="9652000" y="1447800"/>
            <a:ext cx="1727200" cy="304800"/>
          </a:xfrm>
          <a:prstGeom prst="roundRect">
            <a:avLst>
              <a:gd name="adj" fmla="val 22000"/>
            </a:avLst>
          </a:prstGeom>
          <a:solidFill>
            <a:srgbClr val="7C6CFF"/>
          </a:solidFill>
          <a:ln>
            <a:noFill/>
          </a:ln>
        </p:spPr>
      </p:sp>
      <p:sp>
        <p:nvSpPr>
          <p:cNvPr id="8" name="wb-btn-t"/>
          <p:cNvSpPr txBox="1"/>
          <p:nvPr/>
        </p:nvSpPr>
        <p:spPr>
          <a:xfrm>
            <a:off x="9652000" y="1447800"/>
            <a:ext cx="172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000000"/>
                </a:solidFill>
                <a:latin typeface="MiSans"/>
                <a:ea typeface="MiSans"/>
              </a:rPr>
              <a:t>Reconnect Slack</a:t>
            </a:r>
            <a:endParaRPr lang="en-US" sz="950" noProof="1"/>
          </a:p>
        </p:txBody>
      </p:sp>
      <p:sp>
        <p:nvSpPr>
          <p:cNvPr id="9" name="conn-label"/>
          <p:cNvSpPr txBox="1"/>
          <p:nvPr/>
        </p:nvSpPr>
        <p:spPr>
          <a:xfrm>
            <a:off x="609600" y="21336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CONNECTED · 4</a:t>
            </a:r>
            <a:endParaRPr lang="en-US" sz="1000" noProof="1"/>
          </a:p>
        </p:txBody>
      </p:sp>
      <p:sp>
        <p:nvSpPr>
          <p:cNvPr id="10" name="g1"/>
          <p:cNvSpPr/>
          <p:nvPr/>
        </p:nvSpPr>
        <p:spPr>
          <a:xfrm>
            <a:off x="609600" y="2413000"/>
            <a:ext cx="3530600" cy="9398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1" name="g1t"/>
          <p:cNvSpPr txBox="1"/>
          <p:nvPr/>
        </p:nvSpPr>
        <p:spPr>
          <a:xfrm>
            <a:off x="812800" y="2540000"/>
            <a:ext cx="3175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▦ Google Sheets</a:t>
            </a:r>
            <a:r>
              <a:rPr lang="en-US" sz="850" noProof="1">
                <a:solidFill>
                  <a:srgbClr val="34D399"/>
                </a:solidFill>
                <a:latin typeface="MiSans"/>
                <a:ea typeface="MiSans"/>
              </a:rPr>
              <a:t>   ✓ Connected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Read &amp; append rows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acme.ops@gmail.com · 6 flows</a:t>
            </a:r>
            <a:endParaRPr lang="en-US" sz="1600" noProof="1"/>
          </a:p>
        </p:txBody>
      </p:sp>
      <p:sp>
        <p:nvSpPr>
          <p:cNvPr id="12" name="g2"/>
          <p:cNvSpPr/>
          <p:nvPr/>
        </p:nvSpPr>
        <p:spPr>
          <a:xfrm>
            <a:off x="4330700" y="2413000"/>
            <a:ext cx="3530600" cy="9398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3" name="g2t"/>
          <p:cNvSpPr txBox="1"/>
          <p:nvPr/>
        </p:nvSpPr>
        <p:spPr>
          <a:xfrm>
            <a:off x="4533900" y="2540000"/>
            <a:ext cx="3175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✉ Gmail</a:t>
            </a:r>
            <a:r>
              <a:rPr lang="en-US" sz="850" noProof="1">
                <a:solidFill>
                  <a:srgbClr val="34D399"/>
                </a:solidFill>
                <a:latin typeface="MiSans"/>
                <a:ea typeface="MiSans"/>
              </a:rPr>
              <a:t>   ✓ Connected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Triggers &amp; send email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ops@acme.co · 3 flows</a:t>
            </a:r>
            <a:endParaRPr lang="en-US" sz="1600" noProof="1"/>
          </a:p>
        </p:txBody>
      </p:sp>
      <p:sp>
        <p:nvSpPr>
          <p:cNvPr id="14" name="g3"/>
          <p:cNvSpPr/>
          <p:nvPr/>
        </p:nvSpPr>
        <p:spPr>
          <a:xfrm>
            <a:off x="8051800" y="2413000"/>
            <a:ext cx="3530600" cy="9398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FBBF24">
                <a:alpha val="34902"/>
              </a:srgbClr>
            </a:solidFill>
          </a:ln>
        </p:spPr>
      </p:sp>
      <p:sp>
        <p:nvSpPr>
          <p:cNvPr id="15" name="g3t"/>
          <p:cNvSpPr txBox="1"/>
          <p:nvPr/>
        </p:nvSpPr>
        <p:spPr>
          <a:xfrm>
            <a:off x="8255000" y="2540000"/>
            <a:ext cx="3175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# Slack</a:t>
            </a:r>
            <a:r>
              <a:rPr lang="en-US" sz="850" noProof="1">
                <a:solidFill>
                  <a:srgbClr val="FBBF24"/>
                </a:solidFill>
                <a:latin typeface="MiSans"/>
                <a:ea typeface="MiSans"/>
              </a:rPr>
              <a:t>   ● Expired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Messages &amp; channels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800" noProof="1">
                <a:solidFill>
                  <a:srgbClr val="FBBF24"/>
                </a:solidFill>
                <a:latin typeface="MiSans"/>
                <a:ea typeface="MiSans"/>
              </a:rPr>
              <a:t>acme.slack.com · 3 flows paused</a:t>
            </a:r>
            <a:endParaRPr lang="en-US" sz="1600" noProof="1"/>
          </a:p>
        </p:txBody>
      </p:sp>
      <p:sp>
        <p:nvSpPr>
          <p:cNvPr id="16" name="g4"/>
          <p:cNvSpPr/>
          <p:nvPr/>
        </p:nvSpPr>
        <p:spPr>
          <a:xfrm>
            <a:off x="609600" y="3505200"/>
            <a:ext cx="3530600" cy="9398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7" name="g4t"/>
          <p:cNvSpPr txBox="1"/>
          <p:nvPr/>
        </p:nvSpPr>
        <p:spPr>
          <a:xfrm>
            <a:off x="812800" y="3632200"/>
            <a:ext cx="3175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◉ HubSpot</a:t>
            </a:r>
            <a:r>
              <a:rPr lang="en-US" sz="850" noProof="1">
                <a:solidFill>
                  <a:srgbClr val="34D399"/>
                </a:solidFill>
                <a:latin typeface="MiSans"/>
                <a:ea typeface="MiSans"/>
              </a:rPr>
              <a:t>   ✓ Connected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CRM contacts &amp; deals</a:t>
            </a:r>
            <a:endParaRPr lang="en-US" sz="1600" noProof="1"/>
          </a:p>
          <a:p>
            <a:pPr>
              <a:lnSpc>
                <a:spcPct val="155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API key ····· 9f27 · 2 flows</a:t>
            </a:r>
            <a:endParaRPr lang="en-US" sz="1600" noProof="1"/>
          </a:p>
        </p:txBody>
      </p:sp>
      <p:sp>
        <p:nvSpPr>
          <p:cNvPr id="18" name="cat-label"/>
          <p:cNvSpPr txBox="1"/>
          <p:nvPr/>
        </p:nvSpPr>
        <p:spPr>
          <a:xfrm>
            <a:off x="609600" y="47244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CATALOG · 120+</a:t>
            </a:r>
            <a:endParaRPr lang="en-US" sz="1000" noProof="1"/>
          </a:p>
        </p:txBody>
      </p:sp>
      <p:sp>
        <p:nvSpPr>
          <p:cNvPr id="19" name="cat-search"/>
          <p:cNvSpPr/>
          <p:nvPr/>
        </p:nvSpPr>
        <p:spPr>
          <a:xfrm>
            <a:off x="9042400" y="4622800"/>
            <a:ext cx="2540000" cy="304800"/>
          </a:xfrm>
          <a:prstGeom prst="roundRect">
            <a:avLst>
              <a:gd name="adj" fmla="val 22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0" name="cat-search-t"/>
          <p:cNvSpPr txBox="1"/>
          <p:nvPr/>
        </p:nvSpPr>
        <p:spPr>
          <a:xfrm>
            <a:off x="9194800" y="46228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⌕ Search integrations…</a:t>
            </a:r>
            <a:endParaRPr lang="en-US" sz="900" noProof="1"/>
          </a:p>
        </p:txBody>
      </p:sp>
      <p:sp>
        <p:nvSpPr>
          <p:cNvPr id="21" name="cat1"/>
          <p:cNvSpPr/>
          <p:nvPr/>
        </p:nvSpPr>
        <p:spPr>
          <a:xfrm>
            <a:off x="609600" y="5029200"/>
            <a:ext cx="2603500" cy="5588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2" name="cat1t"/>
          <p:cNvSpPr txBox="1"/>
          <p:nvPr/>
        </p:nvSpPr>
        <p:spPr>
          <a:xfrm>
            <a:off x="762000" y="5029200"/>
            <a:ext cx="234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🔍 </a:t>
            </a: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Zendesk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 Tickets · Connect</a:t>
            </a:r>
            <a:endParaRPr lang="en-US" sz="1600" noProof="1"/>
          </a:p>
        </p:txBody>
      </p:sp>
      <p:sp>
        <p:nvSpPr>
          <p:cNvPr id="23" name="cat2"/>
          <p:cNvSpPr/>
          <p:nvPr/>
        </p:nvSpPr>
        <p:spPr>
          <a:xfrm>
            <a:off x="3390900" y="5029200"/>
            <a:ext cx="2603500" cy="5588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4" name="cat2t"/>
          <p:cNvSpPr txBox="1"/>
          <p:nvPr/>
        </p:nvSpPr>
        <p:spPr>
          <a:xfrm>
            <a:off x="3543300" y="5029200"/>
            <a:ext cx="234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▲ </a:t>
            </a: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Airtable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 Records · Connect</a:t>
            </a:r>
            <a:endParaRPr lang="en-US" sz="1600" noProof="1"/>
          </a:p>
        </p:txBody>
      </p:sp>
      <p:sp>
        <p:nvSpPr>
          <p:cNvPr id="25" name="cat3"/>
          <p:cNvSpPr/>
          <p:nvPr/>
        </p:nvSpPr>
        <p:spPr>
          <a:xfrm>
            <a:off x="6172200" y="5029200"/>
            <a:ext cx="2603500" cy="5588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6" name="cat3t"/>
          <p:cNvSpPr txBox="1"/>
          <p:nvPr/>
        </p:nvSpPr>
        <p:spPr>
          <a:xfrm>
            <a:off x="6324600" y="5029200"/>
            <a:ext cx="234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⬡ </a:t>
            </a: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Snowflake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 SQL · Connect</a:t>
            </a:r>
            <a:endParaRPr lang="en-US" sz="1600" noProof="1"/>
          </a:p>
        </p:txBody>
      </p:sp>
      <p:sp>
        <p:nvSpPr>
          <p:cNvPr id="27" name="cat4"/>
          <p:cNvSpPr/>
          <p:nvPr/>
        </p:nvSpPr>
        <p:spPr>
          <a:xfrm>
            <a:off x="8953500" y="5029200"/>
            <a:ext cx="2628900" cy="5588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8" name="cat4t"/>
          <p:cNvSpPr txBox="1"/>
          <p:nvPr/>
        </p:nvSpPr>
        <p:spPr>
          <a:xfrm>
            <a:off x="9105900" y="5029200"/>
            <a:ext cx="234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🐙 </a:t>
            </a: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GitHub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 Issues · Connect</a:t>
            </a:r>
            <a:endParaRPr lang="en-US" sz="1600" noProof="1"/>
          </a:p>
        </p:txBody>
      </p:sp>
      <p:sp>
        <p:nvSpPr>
          <p:cNvPr id="29" name="cat5"/>
          <p:cNvSpPr/>
          <p:nvPr/>
        </p:nvSpPr>
        <p:spPr>
          <a:xfrm>
            <a:off x="609600" y="5740400"/>
            <a:ext cx="2603500" cy="5588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0" name="cat5t"/>
          <p:cNvSpPr txBox="1"/>
          <p:nvPr/>
        </p:nvSpPr>
        <p:spPr>
          <a:xfrm>
            <a:off x="762000" y="5740400"/>
            <a:ext cx="234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💳 </a:t>
            </a: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Stripe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 Payments · Connect</a:t>
            </a:r>
            <a:endParaRPr lang="en-US" sz="1600" noProof="1"/>
          </a:p>
        </p:txBody>
      </p:sp>
      <p:sp>
        <p:nvSpPr>
          <p:cNvPr id="31" name="cat6"/>
          <p:cNvSpPr/>
          <p:nvPr/>
        </p:nvSpPr>
        <p:spPr>
          <a:xfrm>
            <a:off x="3390900" y="5740400"/>
            <a:ext cx="2603500" cy="5588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2" name="cat6t"/>
          <p:cNvSpPr txBox="1"/>
          <p:nvPr/>
        </p:nvSpPr>
        <p:spPr>
          <a:xfrm>
            <a:off x="3543300" y="5740400"/>
            <a:ext cx="234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▮ </a:t>
            </a: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Notion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 Pages · Connect</a:t>
            </a:r>
            <a:endParaRPr lang="en-US" sz="1600" noProof="1"/>
          </a:p>
        </p:txBody>
      </p:sp>
      <p:sp>
        <p:nvSpPr>
          <p:cNvPr id="33" name="cat7"/>
          <p:cNvSpPr/>
          <p:nvPr/>
        </p:nvSpPr>
        <p:spPr>
          <a:xfrm>
            <a:off x="6172200" y="5740400"/>
            <a:ext cx="2603500" cy="5588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4" name="cat7t"/>
          <p:cNvSpPr txBox="1"/>
          <p:nvPr/>
        </p:nvSpPr>
        <p:spPr>
          <a:xfrm>
            <a:off x="6324600" y="5740400"/>
            <a:ext cx="234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🗄 </a:t>
            </a: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Postgres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 Database · Connect</a:t>
            </a:r>
            <a:endParaRPr lang="en-US" sz="1600" noProof="1"/>
          </a:p>
        </p:txBody>
      </p:sp>
      <p:sp>
        <p:nvSpPr>
          <p:cNvPr id="35" name="cat8"/>
          <p:cNvSpPr/>
          <p:nvPr/>
        </p:nvSpPr>
        <p:spPr>
          <a:xfrm>
            <a:off x="8953500" y="5740400"/>
            <a:ext cx="2628900" cy="5588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6" name="cat8t"/>
          <p:cNvSpPr txBox="1"/>
          <p:nvPr/>
        </p:nvSpPr>
        <p:spPr>
          <a:xfrm>
            <a:off x="9105900" y="5740400"/>
            <a:ext cx="23495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📊 </a:t>
            </a: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Linear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 Issues · Connect</a:t>
            </a:r>
            <a:endParaRPr lang="en-US" sz="1600" noProof="1"/>
          </a:p>
        </p:txBody>
      </p:sp>
      <p:sp>
        <p:nvSpPr>
          <p:cNvPr id="37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10 — SCREEN · TEMPLATES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Template gallery</a:t>
            </a:r>
            <a:endParaRPr lang="en-US" sz="2400" noProof="1"/>
          </a:p>
        </p:txBody>
      </p:sp>
      <p:sp>
        <p:nvSpPr>
          <p:cNvPr id="4" name="anno"/>
          <p:cNvSpPr txBox="1"/>
          <p:nvPr/>
        </p:nvSpPr>
        <p:spPr>
          <a:xfrm>
            <a:off x="8255000" y="660400"/>
            <a:ext cx="3327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each card previews the node chain —</a:t>
            </a:r>
            <a:endParaRPr lang="en-US" sz="1000" noProof="1"/>
          </a:p>
          <a:p>
            <a:pPr algn="r">
              <a:lnSpc>
                <a:spcPct val="15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clicking drops you into the canvas</a:t>
            </a:r>
            <a:endParaRPr lang="en-US" sz="1000" noProof="1"/>
          </a:p>
        </p:txBody>
      </p:sp>
      <p:sp>
        <p:nvSpPr>
          <p:cNvPr id="5" name="p1"/>
          <p:cNvSpPr/>
          <p:nvPr/>
        </p:nvSpPr>
        <p:spPr>
          <a:xfrm>
            <a:off x="609600" y="1295400"/>
            <a:ext cx="762000" cy="330200"/>
          </a:xfrm>
          <a:prstGeom prst="roundRect">
            <a:avLst>
              <a:gd name="adj" fmla="val 50000"/>
            </a:avLst>
          </a:prstGeom>
          <a:solidFill>
            <a:srgbClr val="7C6CFF">
              <a:alpha val="14118"/>
            </a:srgbClr>
          </a:solidFill>
          <a:ln w="12700">
            <a:solidFill>
              <a:srgbClr val="7C6CFF">
                <a:alpha val="40000"/>
              </a:srgbClr>
            </a:solidFill>
          </a:ln>
        </p:spPr>
      </p:sp>
      <p:sp>
        <p:nvSpPr>
          <p:cNvPr id="6" name="p1t"/>
          <p:cNvSpPr txBox="1"/>
          <p:nvPr/>
        </p:nvSpPr>
        <p:spPr>
          <a:xfrm>
            <a:off x="609600" y="1295400"/>
            <a:ext cx="76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All</a:t>
            </a:r>
            <a:endParaRPr lang="en-US" sz="1000" noProof="1"/>
          </a:p>
        </p:txBody>
      </p:sp>
      <p:sp>
        <p:nvSpPr>
          <p:cNvPr id="7" name="p2"/>
          <p:cNvSpPr/>
          <p:nvPr/>
        </p:nvSpPr>
        <p:spPr>
          <a:xfrm>
            <a:off x="1473200" y="1295400"/>
            <a:ext cx="889000" cy="3302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8" name="p2t"/>
          <p:cNvSpPr txBox="1"/>
          <p:nvPr/>
        </p:nvSpPr>
        <p:spPr>
          <a:xfrm>
            <a:off x="1473200" y="1295400"/>
            <a:ext cx="88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Sales</a:t>
            </a:r>
            <a:endParaRPr lang="en-US" sz="1000" noProof="1"/>
          </a:p>
        </p:txBody>
      </p:sp>
      <p:sp>
        <p:nvSpPr>
          <p:cNvPr id="9" name="p3"/>
          <p:cNvSpPr/>
          <p:nvPr/>
        </p:nvSpPr>
        <p:spPr>
          <a:xfrm>
            <a:off x="2463800" y="1295400"/>
            <a:ext cx="1041400" cy="3302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0" name="p3t"/>
          <p:cNvSpPr txBox="1"/>
          <p:nvPr/>
        </p:nvSpPr>
        <p:spPr>
          <a:xfrm>
            <a:off x="2463800" y="1295400"/>
            <a:ext cx="1041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Support</a:t>
            </a:r>
            <a:endParaRPr lang="en-US" sz="1000" noProof="1"/>
          </a:p>
        </p:txBody>
      </p:sp>
      <p:sp>
        <p:nvSpPr>
          <p:cNvPr id="11" name="p4"/>
          <p:cNvSpPr/>
          <p:nvPr/>
        </p:nvSpPr>
        <p:spPr>
          <a:xfrm>
            <a:off x="3606800" y="1295400"/>
            <a:ext cx="1143000" cy="3302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2" name="p4t"/>
          <p:cNvSpPr txBox="1"/>
          <p:nvPr/>
        </p:nvSpPr>
        <p:spPr>
          <a:xfrm>
            <a:off x="3606800" y="1295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Marketing</a:t>
            </a:r>
            <a:endParaRPr lang="en-US" sz="1000" noProof="1"/>
          </a:p>
        </p:txBody>
      </p:sp>
      <p:sp>
        <p:nvSpPr>
          <p:cNvPr id="13" name="p5"/>
          <p:cNvSpPr/>
          <p:nvPr/>
        </p:nvSpPr>
        <p:spPr>
          <a:xfrm>
            <a:off x="4851400" y="1295400"/>
            <a:ext cx="1041400" cy="3302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4" name="p5t"/>
          <p:cNvSpPr txBox="1"/>
          <p:nvPr/>
        </p:nvSpPr>
        <p:spPr>
          <a:xfrm>
            <a:off x="4851400" y="1295400"/>
            <a:ext cx="10414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Data ops</a:t>
            </a:r>
            <a:endParaRPr lang="en-US" sz="1000" noProof="1"/>
          </a:p>
        </p:txBody>
      </p:sp>
      <p:sp>
        <p:nvSpPr>
          <p:cNvPr id="15" name="p6"/>
          <p:cNvSpPr/>
          <p:nvPr/>
        </p:nvSpPr>
        <p:spPr>
          <a:xfrm>
            <a:off x="5994400" y="1295400"/>
            <a:ext cx="965200" cy="33020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6" name="p6t"/>
          <p:cNvSpPr txBox="1"/>
          <p:nvPr/>
        </p:nvSpPr>
        <p:spPr>
          <a:xfrm>
            <a:off x="5994400" y="1295400"/>
            <a:ext cx="965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Finance</a:t>
            </a:r>
            <a:endParaRPr lang="en-US" sz="1000" noProof="1"/>
          </a:p>
        </p:txBody>
      </p:sp>
      <p:sp>
        <p:nvSpPr>
          <p:cNvPr id="17" name="search"/>
          <p:cNvSpPr/>
          <p:nvPr/>
        </p:nvSpPr>
        <p:spPr>
          <a:xfrm>
            <a:off x="9169400" y="1295400"/>
            <a:ext cx="2413000" cy="330200"/>
          </a:xfrm>
          <a:prstGeom prst="roundRect">
            <a:avLst>
              <a:gd name="adj" fmla="val 30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8" name="search-t"/>
          <p:cNvSpPr txBox="1"/>
          <p:nvPr/>
        </p:nvSpPr>
        <p:spPr>
          <a:xfrm>
            <a:off x="9321800" y="12954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52525B"/>
                </a:solidFill>
                <a:latin typeface="MiSans"/>
                <a:ea typeface="MiSans"/>
              </a:rPr>
              <a:t>⌕ Search templates…</a:t>
            </a:r>
            <a:endParaRPr lang="en-US" sz="950" noProof="1"/>
          </a:p>
        </p:txBody>
      </p:sp>
      <p:sp>
        <p:nvSpPr>
          <p:cNvPr id="19" name="t1"/>
          <p:cNvSpPr/>
          <p:nvPr/>
        </p:nvSpPr>
        <p:spPr>
          <a:xfrm>
            <a:off x="609600" y="1879600"/>
            <a:ext cx="5384800" cy="1346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0" name="t1-flow"/>
          <p:cNvSpPr txBox="1"/>
          <p:nvPr/>
        </p:nvSpPr>
        <p:spPr>
          <a:xfrm>
            <a:off x="838200" y="20320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⚡ Hook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✦ Enrich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✦ Score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▦ Sheets </a:t>
            </a:r>
            <a:endParaRPr lang="en-US" sz="1600" noProof="1"/>
          </a:p>
        </p:txBody>
      </p:sp>
      <p:sp>
        <p:nvSpPr>
          <p:cNvPr id="21" name="t1-t"/>
          <p:cNvSpPr txBox="1"/>
          <p:nvPr/>
        </p:nvSpPr>
        <p:spPr>
          <a:xfrm>
            <a:off x="838200" y="2362200"/>
            <a:ext cx="495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FAFAFA"/>
                </a:solidFill>
                <a:latin typeface="MiSans"/>
                <a:ea typeface="MiSans"/>
              </a:rPr>
              <a:t>Lead Enrichment Pipeline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Score and enrich inbound form leads with GPT-4o, route hot ones to sales.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SALES · 4.2k uses · 7 nodes</a:t>
            </a:r>
            <a:endParaRPr lang="en-US" sz="1600" noProof="1"/>
          </a:p>
        </p:txBody>
      </p:sp>
      <p:sp>
        <p:nvSpPr>
          <p:cNvPr id="22" name="t2"/>
          <p:cNvSpPr/>
          <p:nvPr/>
        </p:nvSpPr>
        <p:spPr>
          <a:xfrm>
            <a:off x="6197600" y="1879600"/>
            <a:ext cx="5384800" cy="1346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3" name="t2-flow"/>
          <p:cNvSpPr txBox="1"/>
          <p:nvPr/>
        </p:nvSpPr>
        <p:spPr>
          <a:xfrm>
            <a:off x="6426200" y="20320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🕐 15m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⇄ Fetch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✦ Classify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# Slack </a:t>
            </a:r>
            <a:endParaRPr lang="en-US" sz="1600" noProof="1"/>
          </a:p>
        </p:txBody>
      </p:sp>
      <p:sp>
        <p:nvSpPr>
          <p:cNvPr id="24" name="t2-t"/>
          <p:cNvSpPr txBox="1"/>
          <p:nvPr/>
        </p:nvSpPr>
        <p:spPr>
          <a:xfrm>
            <a:off x="6426200" y="2362200"/>
            <a:ext cx="495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FAFAFA"/>
                </a:solidFill>
                <a:latin typeface="MiSans"/>
                <a:ea typeface="MiSans"/>
              </a:rPr>
              <a:t>Support Ticket Triage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Classify Zendesk tickets by priority and team, post a digest every 15 min.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SUPPORT · 2.8k uses · 5 nodes</a:t>
            </a:r>
            <a:endParaRPr lang="en-US" sz="1600" noProof="1"/>
          </a:p>
        </p:txBody>
      </p:sp>
      <p:sp>
        <p:nvSpPr>
          <p:cNvPr id="25" name="t3"/>
          <p:cNvSpPr/>
          <p:nvPr/>
        </p:nvSpPr>
        <p:spPr>
          <a:xfrm>
            <a:off x="609600" y="3378200"/>
            <a:ext cx="5384800" cy="1346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6" name="t3-flow"/>
          <p:cNvSpPr txBox="1"/>
          <p:nvPr/>
        </p:nvSpPr>
        <p:spPr>
          <a:xfrm>
            <a:off x="838200" y="35306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✉ Gmail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✦ Extract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▦ Ledger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✉ Reply </a:t>
            </a:r>
            <a:endParaRPr lang="en-US" sz="1600" noProof="1"/>
          </a:p>
        </p:txBody>
      </p:sp>
      <p:sp>
        <p:nvSpPr>
          <p:cNvPr id="27" name="t3-t"/>
          <p:cNvSpPr txBox="1"/>
          <p:nvPr/>
        </p:nvSpPr>
        <p:spPr>
          <a:xfrm>
            <a:off x="838200" y="3860800"/>
            <a:ext cx="495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FAFAFA"/>
                </a:solidFill>
                <a:latin typeface="MiSans"/>
                <a:ea typeface="MiSans"/>
              </a:rPr>
              <a:t>Invoice PDF Extractor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Pull totals, vendors, and due dates from attachments into your AP ledger.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FINANCE · 1.9k uses · 4 nodes</a:t>
            </a:r>
            <a:endParaRPr lang="en-US" sz="1600" noProof="1"/>
          </a:p>
        </p:txBody>
      </p:sp>
      <p:sp>
        <p:nvSpPr>
          <p:cNvPr id="28" name="t4"/>
          <p:cNvSpPr/>
          <p:nvPr/>
        </p:nvSpPr>
        <p:spPr>
          <a:xfrm>
            <a:off x="6197600" y="3378200"/>
            <a:ext cx="5384800" cy="1346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9" name="t4-flow"/>
          <p:cNvSpPr txBox="1"/>
          <p:nvPr/>
        </p:nvSpPr>
        <p:spPr>
          <a:xfrm>
            <a:off x="6426200" y="35306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🕐 1h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⇄ Scrape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✦ Diff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# Alert </a:t>
            </a:r>
            <a:endParaRPr lang="en-US" sz="1600" noProof="1"/>
          </a:p>
        </p:txBody>
      </p:sp>
      <p:sp>
        <p:nvSpPr>
          <p:cNvPr id="30" name="t4-t"/>
          <p:cNvSpPr txBox="1"/>
          <p:nvPr/>
        </p:nvSpPr>
        <p:spPr>
          <a:xfrm>
            <a:off x="6426200" y="3860800"/>
            <a:ext cx="495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FAFAFA"/>
                </a:solidFill>
                <a:latin typeface="MiSans"/>
                <a:ea typeface="MiSans"/>
              </a:rPr>
              <a:t>Competitor Price Watch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Monitor pricing pages hourly, Slack summary when anything material changes.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MARKETING · 1.4k uses · 6 nodes</a:t>
            </a:r>
            <a:endParaRPr lang="en-US" sz="1600" noProof="1"/>
          </a:p>
        </p:txBody>
      </p:sp>
      <p:sp>
        <p:nvSpPr>
          <p:cNvPr id="31" name="t5"/>
          <p:cNvSpPr/>
          <p:nvPr/>
        </p:nvSpPr>
        <p:spPr>
          <a:xfrm>
            <a:off x="609600" y="4876800"/>
            <a:ext cx="5384800" cy="1346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2" name="t5-flow"/>
          <p:cNvSpPr txBox="1"/>
          <p:nvPr/>
        </p:nvSpPr>
        <p:spPr>
          <a:xfrm>
            <a:off x="838200" y="5029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🕐 Mon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▮ SQL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✦ Summarize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✉ Email </a:t>
            </a:r>
            <a:endParaRPr lang="en-US" sz="1600" noProof="1"/>
          </a:p>
        </p:txBody>
      </p:sp>
      <p:sp>
        <p:nvSpPr>
          <p:cNvPr id="33" name="t5-t"/>
          <p:cNvSpPr txBox="1"/>
          <p:nvPr/>
        </p:nvSpPr>
        <p:spPr>
          <a:xfrm>
            <a:off x="838200" y="5359400"/>
            <a:ext cx="495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FAFAFA"/>
                </a:solidFill>
                <a:latin typeface="MiSans"/>
                <a:ea typeface="MiSans"/>
              </a:rPr>
              <a:t>Weekly KPI Digest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Query the warehouse Monday, LLM writes the narrative, email it to leadership.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DATA OPS · 980 uses · 6 nodes</a:t>
            </a:r>
            <a:endParaRPr lang="en-US" sz="1600" noProof="1"/>
          </a:p>
        </p:txBody>
      </p:sp>
      <p:sp>
        <p:nvSpPr>
          <p:cNvPr id="34" name="t6"/>
          <p:cNvSpPr/>
          <p:nvPr/>
        </p:nvSpPr>
        <p:spPr>
          <a:xfrm>
            <a:off x="6197600" y="4876800"/>
            <a:ext cx="5384800" cy="1346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5" name="t6-flow"/>
          <p:cNvSpPr txBox="1"/>
          <p:nvPr/>
        </p:nvSpPr>
        <p:spPr>
          <a:xfrm>
            <a:off x="6426200" y="50292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🐙 PR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✦ Review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⑂ Filter 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→ </a:t>
            </a:r>
            <a:r>
              <a:rPr lang="en-US" sz="850" noProof="1">
                <a:solidFill>
                  <a:srgbClr val="A1A1AA"/>
                </a:solidFill>
                <a:highlight>
                  <a:srgbClr val="27272A"/>
                </a:highlight>
                <a:latin typeface="MiSans"/>
                <a:ea typeface="MiSans"/>
              </a:rPr>
              <a:t> 📊 Linear </a:t>
            </a:r>
            <a:endParaRPr lang="en-US" sz="1600" noProof="1"/>
          </a:p>
        </p:txBody>
      </p:sp>
      <p:sp>
        <p:nvSpPr>
          <p:cNvPr id="36" name="t6-t"/>
          <p:cNvSpPr txBox="1"/>
          <p:nvPr/>
        </p:nvSpPr>
        <p:spPr>
          <a:xfrm>
            <a:off x="6426200" y="5359400"/>
            <a:ext cx="4953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FAFAFA"/>
                </a:solidFill>
                <a:latin typeface="MiSans"/>
                <a:ea typeface="MiSans"/>
              </a:rPr>
              <a:t>PR Review Router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Summarize new pull requests, flag risky diffs, file follow-ups in Linear.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ENGINEERING · 720 uses · 5 nodes</a:t>
            </a:r>
            <a:endParaRPr lang="en-US" sz="1600" noProof="1"/>
          </a:p>
        </p:txBody>
      </p:sp>
      <p:sp>
        <p:nvSpPr>
          <p:cNvPr id="37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11 — SCREEN · SETTINGS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Settings — members, keys, billing</a:t>
            </a:r>
            <a:endParaRPr lang="en-US" sz="2400" noProof="1"/>
          </a:p>
        </p:txBody>
      </p:sp>
      <p:sp>
        <p:nvSpPr>
          <p:cNvPr id="4" name="rail"/>
          <p:cNvSpPr/>
          <p:nvPr/>
        </p:nvSpPr>
        <p:spPr>
          <a:xfrm>
            <a:off x="609600" y="1270000"/>
            <a:ext cx="2159000" cy="5080000"/>
          </a:xfrm>
          <a:prstGeom prst="roundRect">
            <a:avLst>
              <a:gd name="adj" fmla="val 5000"/>
            </a:avLst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5" name="rail-t1"/>
          <p:cNvSpPr/>
          <p:nvPr/>
        </p:nvSpPr>
        <p:spPr>
          <a:xfrm>
            <a:off x="736600" y="1473200"/>
            <a:ext cx="1905000" cy="355600"/>
          </a:xfrm>
          <a:prstGeom prst="roundRect">
            <a:avLst>
              <a:gd name="adj" fmla="val 20000"/>
            </a:avLst>
          </a:prstGeom>
          <a:solidFill>
            <a:srgbClr val="7C6CFF">
              <a:alpha val="14118"/>
            </a:srgbClr>
          </a:solidFill>
          <a:ln w="12700">
            <a:solidFill>
              <a:srgbClr val="7C6CFF">
                <a:alpha val="25098"/>
              </a:srgbClr>
            </a:solidFill>
          </a:ln>
        </p:spPr>
      </p:sp>
      <p:sp>
        <p:nvSpPr>
          <p:cNvPr id="6" name="rail-t1t"/>
          <p:cNvSpPr txBox="1"/>
          <p:nvPr/>
        </p:nvSpPr>
        <p:spPr>
          <a:xfrm>
            <a:off x="889000" y="14732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FAFAFA"/>
                </a:solidFill>
                <a:latin typeface="MiSans"/>
                <a:ea typeface="MiSans"/>
              </a:rPr>
              <a:t>Members</a:t>
            </a:r>
            <a:endParaRPr lang="en-US" sz="1050" noProof="1"/>
          </a:p>
        </p:txBody>
      </p:sp>
      <p:sp>
        <p:nvSpPr>
          <p:cNvPr id="7" name="rail-t2"/>
          <p:cNvSpPr txBox="1"/>
          <p:nvPr/>
        </p:nvSpPr>
        <p:spPr>
          <a:xfrm>
            <a:off x="889000" y="19304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General</a:t>
            </a:r>
            <a:endParaRPr lang="en-US" sz="1050" noProof="1"/>
          </a:p>
        </p:txBody>
      </p:sp>
      <p:sp>
        <p:nvSpPr>
          <p:cNvPr id="8" name="rail-t3"/>
          <p:cNvSpPr txBox="1"/>
          <p:nvPr/>
        </p:nvSpPr>
        <p:spPr>
          <a:xfrm>
            <a:off x="889000" y="22860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API keys</a:t>
            </a:r>
            <a:endParaRPr lang="en-US" sz="1050" noProof="1"/>
          </a:p>
        </p:txBody>
      </p:sp>
      <p:sp>
        <p:nvSpPr>
          <p:cNvPr id="9" name="rail-t4"/>
          <p:cNvSpPr txBox="1"/>
          <p:nvPr/>
        </p:nvSpPr>
        <p:spPr>
          <a:xfrm>
            <a:off x="889000" y="26416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Billing &amp; credits</a:t>
            </a:r>
            <a:endParaRPr lang="en-US" sz="1050" noProof="1"/>
          </a:p>
        </p:txBody>
      </p:sp>
      <p:sp>
        <p:nvSpPr>
          <p:cNvPr id="10" name="mem"/>
          <p:cNvSpPr/>
          <p:nvPr/>
        </p:nvSpPr>
        <p:spPr>
          <a:xfrm>
            <a:off x="2971800" y="1270000"/>
            <a:ext cx="4216400" cy="24892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1" name="mem-h"/>
          <p:cNvSpPr txBox="1"/>
          <p:nvPr/>
        </p:nvSpPr>
        <p:spPr>
          <a:xfrm>
            <a:off x="3175000" y="1422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FAFAFA"/>
                </a:solidFill>
                <a:latin typeface="MiSans"/>
                <a:ea typeface="MiSans"/>
              </a:rPr>
              <a:t>Members</a:t>
            </a:r>
            <a:endParaRPr lang="en-US" sz="1200" noProof="1"/>
          </a:p>
        </p:txBody>
      </p:sp>
      <p:sp>
        <p:nvSpPr>
          <p:cNvPr id="12" name="m1-av"/>
          <p:cNvSpPr/>
          <p:nvPr/>
        </p:nvSpPr>
        <p:spPr>
          <a:xfrm>
            <a:off x="3175000" y="1778000"/>
            <a:ext cx="279400" cy="279400"/>
          </a:xfrm>
          <a:prstGeom prst="ellipse">
            <a:avLst/>
          </a:prstGeom>
          <a:gradFill rotWithShape="1">
            <a:gsLst>
              <a:gs pos="0">
                <a:srgbClr val="7C6CFF"/>
              </a:gs>
              <a:gs pos="100000">
                <a:srgbClr val="38BDF8"/>
              </a:gs>
            </a:gsLst>
            <a:lin ang="8100000" scaled="1"/>
          </a:gradFill>
          <a:ln>
            <a:noFill/>
          </a:ln>
        </p:spPr>
      </p:sp>
      <p:sp>
        <p:nvSpPr>
          <p:cNvPr id="13" name="m1-t"/>
          <p:cNvSpPr txBox="1"/>
          <p:nvPr/>
        </p:nvSpPr>
        <p:spPr>
          <a:xfrm>
            <a:off x="3556000" y="17780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Jules Kim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· jules@acme.co</a:t>
            </a:r>
            <a:endParaRPr lang="en-US" sz="1600" noProof="1"/>
          </a:p>
        </p:txBody>
      </p:sp>
      <p:sp>
        <p:nvSpPr>
          <p:cNvPr id="14" name="m1-chip"/>
          <p:cNvSpPr/>
          <p:nvPr/>
        </p:nvSpPr>
        <p:spPr>
          <a:xfrm>
            <a:off x="6172200" y="1828800"/>
            <a:ext cx="787400" cy="203200"/>
          </a:xfrm>
          <a:prstGeom prst="roundRect">
            <a:avLst>
              <a:gd name="adj" fmla="val 30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15" name="m1-chipt"/>
          <p:cNvSpPr txBox="1"/>
          <p:nvPr/>
        </p:nvSpPr>
        <p:spPr>
          <a:xfrm>
            <a:off x="6172200" y="1828800"/>
            <a:ext cx="787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A1A1AA"/>
                </a:solidFill>
                <a:latin typeface="MiSans"/>
                <a:ea typeface="MiSans"/>
              </a:rPr>
              <a:t>Owner</a:t>
            </a:r>
            <a:endParaRPr lang="en-US" sz="800" noProof="1"/>
          </a:p>
        </p:txBody>
      </p:sp>
      <p:sp>
        <p:nvSpPr>
          <p:cNvPr id="16" name="m2-av"/>
          <p:cNvSpPr/>
          <p:nvPr/>
        </p:nvSpPr>
        <p:spPr>
          <a:xfrm>
            <a:off x="3175000" y="2209800"/>
            <a:ext cx="279400" cy="279400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38BDF8"/>
              </a:gs>
            </a:gsLst>
            <a:lin ang="8100000" scaled="1"/>
          </a:gradFill>
          <a:ln>
            <a:noFill/>
          </a:ln>
        </p:spPr>
      </p:sp>
      <p:sp>
        <p:nvSpPr>
          <p:cNvPr id="17" name="m2-t"/>
          <p:cNvSpPr txBox="1"/>
          <p:nvPr/>
        </p:nvSpPr>
        <p:spPr>
          <a:xfrm>
            <a:off x="3556000" y="22098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Marta Reyes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· marta@acme.co</a:t>
            </a:r>
            <a:endParaRPr lang="en-US" sz="1600" noProof="1"/>
          </a:p>
        </p:txBody>
      </p:sp>
      <p:sp>
        <p:nvSpPr>
          <p:cNvPr id="18" name="m2-sel"/>
          <p:cNvSpPr/>
          <p:nvPr/>
        </p:nvSpPr>
        <p:spPr>
          <a:xfrm>
            <a:off x="6172200" y="2235200"/>
            <a:ext cx="787400" cy="228600"/>
          </a:xfrm>
          <a:prstGeom prst="roundRect">
            <a:avLst>
              <a:gd name="adj" fmla="val 22000"/>
            </a:avLst>
          </a:prstGeom>
          <a:solidFill>
            <a:srgbClr val="111113"/>
          </a:solidFill>
          <a:ln w="12700">
            <a:solidFill>
              <a:srgbClr val="3F3F46"/>
            </a:solidFill>
          </a:ln>
        </p:spPr>
      </p:sp>
      <p:sp>
        <p:nvSpPr>
          <p:cNvPr id="19" name="m2-selt"/>
          <p:cNvSpPr txBox="1"/>
          <p:nvPr/>
        </p:nvSpPr>
        <p:spPr>
          <a:xfrm>
            <a:off x="6172200" y="2235200"/>
            <a:ext cx="787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A1A1AA"/>
                </a:solidFill>
                <a:latin typeface="MiSans"/>
                <a:ea typeface="MiSans"/>
              </a:rPr>
              <a:t>Editor ▾</a:t>
            </a:r>
            <a:endParaRPr lang="en-US" sz="800" noProof="1"/>
          </a:p>
        </p:txBody>
      </p:sp>
      <p:sp>
        <p:nvSpPr>
          <p:cNvPr id="20" name="m3-av"/>
          <p:cNvSpPr/>
          <p:nvPr/>
        </p:nvSpPr>
        <p:spPr>
          <a:xfrm>
            <a:off x="3175000" y="2641600"/>
            <a:ext cx="279400" cy="279400"/>
          </a:xfrm>
          <a:prstGeom prst="ellipse">
            <a:avLst/>
          </a:prstGeom>
          <a:gradFill rotWithShape="1">
            <a:gsLst>
              <a:gs pos="0">
                <a:srgbClr val="FBBF24"/>
              </a:gs>
              <a:gs pos="100000">
                <a:srgbClr val="F87171"/>
              </a:gs>
            </a:gsLst>
            <a:lin ang="8100000" scaled="1"/>
          </a:gradFill>
          <a:ln>
            <a:noFill/>
          </a:ln>
        </p:spPr>
      </p:sp>
      <p:sp>
        <p:nvSpPr>
          <p:cNvPr id="21" name="m3-t"/>
          <p:cNvSpPr txBox="1"/>
          <p:nvPr/>
        </p:nvSpPr>
        <p:spPr>
          <a:xfrm>
            <a:off x="3556000" y="26416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 b="1">
                <a:solidFill>
                  <a:srgbClr val="FAFAFA"/>
                </a:solidFill>
                <a:latin typeface="MiSans"/>
                <a:ea typeface="MiSans"/>
              </a:rPr>
              <a:t>Dan Osei</a:t>
            </a: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 · dan@acme.co</a:t>
            </a:r>
            <a:endParaRPr lang="en-US" sz="1600" noProof="1"/>
          </a:p>
        </p:txBody>
      </p:sp>
      <p:sp>
        <p:nvSpPr>
          <p:cNvPr id="22" name="m3-sel"/>
          <p:cNvSpPr/>
          <p:nvPr/>
        </p:nvSpPr>
        <p:spPr>
          <a:xfrm>
            <a:off x="6172200" y="2667000"/>
            <a:ext cx="787400" cy="228600"/>
          </a:xfrm>
          <a:prstGeom prst="roundRect">
            <a:avLst>
              <a:gd name="adj" fmla="val 22000"/>
            </a:avLst>
          </a:prstGeom>
          <a:solidFill>
            <a:srgbClr val="111113"/>
          </a:solidFill>
          <a:ln w="12700">
            <a:solidFill>
              <a:srgbClr val="3F3F46"/>
            </a:solidFill>
          </a:ln>
        </p:spPr>
      </p:sp>
      <p:sp>
        <p:nvSpPr>
          <p:cNvPr id="23" name="m3-selt"/>
          <p:cNvSpPr txBox="1"/>
          <p:nvPr/>
        </p:nvSpPr>
        <p:spPr>
          <a:xfrm>
            <a:off x="6172200" y="2667000"/>
            <a:ext cx="787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A1A1AA"/>
                </a:solidFill>
                <a:latin typeface="MiSans"/>
                <a:ea typeface="MiSans"/>
              </a:rPr>
              <a:t>Viewer ▾</a:t>
            </a:r>
            <a:endParaRPr lang="en-US" sz="800" noProof="1"/>
          </a:p>
        </p:txBody>
      </p:sp>
      <p:sp>
        <p:nvSpPr>
          <p:cNvPr id="24" name="mem-inv"/>
          <p:cNvSpPr/>
          <p:nvPr/>
        </p:nvSpPr>
        <p:spPr>
          <a:xfrm>
            <a:off x="3175000" y="3124200"/>
            <a:ext cx="2844800" cy="330200"/>
          </a:xfrm>
          <a:prstGeom prst="roundRect">
            <a:avLst>
              <a:gd name="adj" fmla="val 18000"/>
            </a:avLst>
          </a:prstGeom>
          <a:solidFill>
            <a:srgbClr val="111113"/>
          </a:solidFill>
          <a:ln w="12700">
            <a:solidFill>
              <a:srgbClr val="3F3F46"/>
            </a:solidFill>
          </a:ln>
        </p:spPr>
      </p:sp>
      <p:sp>
        <p:nvSpPr>
          <p:cNvPr id="25" name="mem-invt"/>
          <p:cNvSpPr txBox="1"/>
          <p:nvPr/>
        </p:nvSpPr>
        <p:spPr>
          <a:xfrm>
            <a:off x="3302000" y="3124200"/>
            <a:ext cx="266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teammate@acme.co</a:t>
            </a:r>
            <a:endParaRPr lang="en-US" sz="900" noProof="1"/>
          </a:p>
        </p:txBody>
      </p:sp>
      <p:sp>
        <p:nvSpPr>
          <p:cNvPr id="26" name="mem-invbtn"/>
          <p:cNvSpPr/>
          <p:nvPr/>
        </p:nvSpPr>
        <p:spPr>
          <a:xfrm>
            <a:off x="6121400" y="3124200"/>
            <a:ext cx="863600" cy="330200"/>
          </a:xfrm>
          <a:prstGeom prst="roundRect">
            <a:avLst>
              <a:gd name="adj" fmla="val 18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7" name="mem-invbtnt"/>
          <p:cNvSpPr txBox="1"/>
          <p:nvPr/>
        </p:nvSpPr>
        <p:spPr>
          <a:xfrm>
            <a:off x="6121400" y="3124200"/>
            <a:ext cx="863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FAFAFA"/>
                </a:solidFill>
                <a:latin typeface="MiSans"/>
                <a:ea typeface="MiSans"/>
              </a:rPr>
              <a:t>Invite</a:t>
            </a:r>
            <a:endParaRPr lang="en-US" sz="900" noProof="1"/>
          </a:p>
        </p:txBody>
      </p:sp>
      <p:sp>
        <p:nvSpPr>
          <p:cNvPr id="28" name="keys"/>
          <p:cNvSpPr/>
          <p:nvPr/>
        </p:nvSpPr>
        <p:spPr>
          <a:xfrm>
            <a:off x="2971800" y="3962400"/>
            <a:ext cx="4216400" cy="15240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9" name="keys-h"/>
          <p:cNvSpPr txBox="1"/>
          <p:nvPr/>
        </p:nvSpPr>
        <p:spPr>
          <a:xfrm>
            <a:off x="3175000" y="4114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FAFAFA"/>
                </a:solidFill>
                <a:latin typeface="MiSans"/>
                <a:ea typeface="MiSans"/>
              </a:rPr>
              <a:t>API keys</a:t>
            </a:r>
            <a:endParaRPr lang="en-US" sz="1200" noProof="1"/>
          </a:p>
        </p:txBody>
      </p:sp>
      <p:sp>
        <p:nvSpPr>
          <p:cNvPr id="30" name="k1-t"/>
          <p:cNvSpPr txBox="1"/>
          <p:nvPr/>
        </p:nvSpPr>
        <p:spPr>
          <a:xfrm>
            <a:off x="3175000" y="4445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fl_live_••••••••4f2a</a:t>
            </a:r>
            <a:r>
              <a:rPr lang="en-US" sz="800" noProof="1">
                <a:solidFill>
                  <a:srgbClr val="34D399"/>
                </a:solidFill>
                <a:latin typeface="MiSans"/>
                <a:ea typeface="MiSans"/>
              </a:rPr>
              <a:t>   ● Active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Created Mar 2 · last used 12m ago</a:t>
            </a:r>
            <a:endParaRPr lang="en-US" sz="1600" noProof="1"/>
          </a:p>
        </p:txBody>
      </p:sp>
      <p:sp>
        <p:nvSpPr>
          <p:cNvPr id="31" name="k2-t"/>
          <p:cNvSpPr txBox="1"/>
          <p:nvPr/>
        </p:nvSpPr>
        <p:spPr>
          <a:xfrm>
            <a:off x="3175000" y="49276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fl_test_••••••••9c1d</a:t>
            </a: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   ● Test</a:t>
            </a:r>
            <a:r>
              <a:rPr lang="en-US" sz="850" noProof="1">
                <a:solidFill>
                  <a:srgbClr val="F87171"/>
                </a:solidFill>
                <a:latin typeface="MiSans"/>
                <a:ea typeface="MiSans"/>
              </a:rPr>
              <a:t>   Revoke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Created Jun 18 · never used</a:t>
            </a:r>
            <a:endParaRPr lang="en-US" sz="1600" noProof="1"/>
          </a:p>
        </p:txBody>
      </p:sp>
      <p:sp>
        <p:nvSpPr>
          <p:cNvPr id="32" name="bil"/>
          <p:cNvSpPr/>
          <p:nvPr/>
        </p:nvSpPr>
        <p:spPr>
          <a:xfrm>
            <a:off x="7391400" y="1270000"/>
            <a:ext cx="4191000" cy="42164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3" name="bil-h"/>
          <p:cNvSpPr txBox="1"/>
          <p:nvPr/>
        </p:nvSpPr>
        <p:spPr>
          <a:xfrm>
            <a:off x="7594600" y="1422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FAFAFA"/>
                </a:solidFill>
                <a:latin typeface="MiSans"/>
                <a:ea typeface="MiSans"/>
              </a:rPr>
              <a:t>Billing &amp; credits</a:t>
            </a:r>
            <a:endParaRPr lang="en-US" sz="1200" noProof="1"/>
          </a:p>
        </p:txBody>
      </p:sp>
      <p:sp>
        <p:nvSpPr>
          <p:cNvPr id="34" name="bil-sub"/>
          <p:cNvSpPr txBox="1"/>
          <p:nvPr/>
        </p:nvSpPr>
        <p:spPr>
          <a:xfrm>
            <a:off x="7594600" y="1651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Growth plan · renews Oct 1, 2026</a:t>
            </a:r>
            <a:endParaRPr lang="en-US" sz="850" noProof="1"/>
          </a:p>
        </p:txBody>
      </p:sp>
      <p:sp>
        <p:nvSpPr>
          <p:cNvPr id="35" name="bil-usage"/>
          <p:cNvSpPr txBox="1"/>
          <p:nvPr/>
        </p:nvSpPr>
        <p:spPr>
          <a:xfrm>
            <a:off x="7594600" y="1981200"/>
            <a:ext cx="3784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Credits this month</a:t>
            </a:r>
            <a:r>
              <a:rPr lang="en-US" sz="900" noProof="1">
                <a:solidFill>
                  <a:srgbClr val="FAFAFA"/>
                </a:solidFill>
                <a:latin typeface="MiSans"/>
                <a:ea typeface="MiSans"/>
              </a:rPr>
              <a:t>              $38.40 / $150</a:t>
            </a:r>
            <a:endParaRPr lang="en-US" sz="1600" noProof="1"/>
          </a:p>
        </p:txBody>
      </p:sp>
      <p:sp>
        <p:nvSpPr>
          <p:cNvPr id="36" name="bil-barbg"/>
          <p:cNvSpPr/>
          <p:nvPr/>
        </p:nvSpPr>
        <p:spPr>
          <a:xfrm>
            <a:off x="7594600" y="2235200"/>
            <a:ext cx="3784600" cy="76200"/>
          </a:xfrm>
          <a:prstGeom prst="roundRect">
            <a:avLst>
              <a:gd name="adj" fmla="val 50000"/>
            </a:avLst>
          </a:prstGeom>
          <a:solidFill>
            <a:srgbClr val="27272A"/>
          </a:solidFill>
          <a:ln>
            <a:noFill/>
          </a:ln>
        </p:spPr>
      </p:sp>
      <p:sp>
        <p:nvSpPr>
          <p:cNvPr id="37" name="bil-barfg"/>
          <p:cNvSpPr/>
          <p:nvPr/>
        </p:nvSpPr>
        <p:spPr>
          <a:xfrm>
            <a:off x="7594600" y="2235200"/>
            <a:ext cx="9906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6CFF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</p:sp>
      <p:sp>
        <p:nvSpPr>
          <p:cNvPr id="38" name="bil-note"/>
          <p:cNvSpPr txBox="1"/>
          <p:nvPr/>
        </p:nvSpPr>
        <p:spPr>
          <a:xfrm>
            <a:off x="7594600" y="2413000"/>
            <a:ext cx="3784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26% used · LLM $31.20 · executions $7.20</a:t>
            </a:r>
            <a:endParaRPr lang="en-US" sz="800" noProof="1"/>
          </a:p>
        </p:txBody>
      </p:sp>
      <p:sp>
        <p:nvSpPr>
          <p:cNvPr id="39" name="bil-div"/>
          <p:cNvSpPr/>
          <p:nvPr>
            <p:extLst>
              <p:ext uri="{F5677B7D-0D2A-4D9B-9A5C-6D8D7D0E5A5D}">
                <pptd:line encoding="base64url">eyJ2aWV3Qm94IjpbMjk4LDJdLCJwb2ludHMiOiIwLDEgMjk4LDEifQ</pptd:line>
              </p:ext>
            </p:extLst>
          </p:nvPr>
        </p:nvSpPr>
        <p:spPr>
          <a:xfrm>
            <a:off x="7594600" y="2743200"/>
            <a:ext cx="3784600" cy="25400"/>
          </a:xfrm>
          <a:custGeom>
            <a:avLst/>
            <a:gdLst/>
            <a:ahLst/>
            <a:cxnLst/>
            <a:rect l="l" t="t" r="r" b="b"/>
            <a:pathLst>
              <a:path w="298" h="2">
                <a:moveTo>
                  <a:pt x="0" y="1"/>
                </a:moveTo>
                <a:lnTo>
                  <a:pt x="298" y="1"/>
                </a:lnTo>
              </a:path>
            </a:pathLst>
          </a:custGeom>
          <a:noFill/>
          <a:ln w="12700" cap="rnd">
            <a:solidFill>
              <a:srgbClr val="232326"/>
            </a:solidFill>
            <a:round/>
          </a:ln>
        </p:spPr>
      </p:sp>
      <p:sp>
        <p:nvSpPr>
          <p:cNvPr id="40" name="bil-plan1"/>
          <p:cNvSpPr txBox="1"/>
          <p:nvPr/>
        </p:nvSpPr>
        <p:spPr>
          <a:xfrm>
            <a:off x="7594600" y="28956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 b="1">
                <a:solidFill>
                  <a:srgbClr val="FAFAFA"/>
                </a:solidFill>
                <a:latin typeface="MiSans"/>
                <a:ea typeface="MiSans"/>
              </a:rPr>
              <a:t>Growth</a:t>
            </a:r>
            <a:r>
              <a:rPr lang="en-US" sz="800" noProof="1">
                <a:solidFill>
                  <a:srgbClr val="34D399"/>
                </a:solidFill>
                <a:latin typeface="MiSans"/>
                <a:ea typeface="MiSans"/>
              </a:rPr>
              <a:t>     ✓ Current plan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$149/mo · $150 credits · 10 seats</a:t>
            </a:r>
            <a:endParaRPr lang="en-US" sz="1600" noProof="1"/>
          </a:p>
        </p:txBody>
      </p:sp>
      <p:sp>
        <p:nvSpPr>
          <p:cNvPr id="41" name="bil-div2"/>
          <p:cNvSpPr/>
          <p:nvPr>
            <p:extLst>
              <p:ext uri="{F5677B7D-0D2A-4D9B-9A5C-6D8D7D0E5A5D}">
                <pptd:line encoding="base64url">eyJ2aWV3Qm94IjpbMjk4LDJdLCJwb2ludHMiOiIwLDEgMjk4LDEifQ</pptd:line>
              </p:ext>
            </p:extLst>
          </p:nvPr>
        </p:nvSpPr>
        <p:spPr>
          <a:xfrm>
            <a:off x="7594600" y="3429000"/>
            <a:ext cx="3784600" cy="25400"/>
          </a:xfrm>
          <a:custGeom>
            <a:avLst/>
            <a:gdLst/>
            <a:ahLst/>
            <a:cxnLst/>
            <a:rect l="l" t="t" r="r" b="b"/>
            <a:pathLst>
              <a:path w="298" h="2">
                <a:moveTo>
                  <a:pt x="0" y="1"/>
                </a:moveTo>
                <a:lnTo>
                  <a:pt x="298" y="1"/>
                </a:lnTo>
              </a:path>
            </a:pathLst>
          </a:custGeom>
          <a:noFill/>
          <a:ln w="12700" cap="rnd">
            <a:solidFill>
              <a:srgbClr val="232326"/>
            </a:solidFill>
            <a:round/>
          </a:ln>
        </p:spPr>
      </p:sp>
      <p:sp>
        <p:nvSpPr>
          <p:cNvPr id="42" name="bil-plan2"/>
          <p:cNvSpPr txBox="1"/>
          <p:nvPr/>
        </p:nvSpPr>
        <p:spPr>
          <a:xfrm>
            <a:off x="7594600" y="35814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 b="1">
                <a:solidFill>
                  <a:srgbClr val="FAFAFA"/>
                </a:solidFill>
                <a:latin typeface="MiSans"/>
                <a:ea typeface="MiSans"/>
              </a:rPr>
              <a:t>Scale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$499/mo · $600 credits · SSO + audit logs</a:t>
            </a:r>
            <a:endParaRPr lang="en-US" sz="1600" noProof="1"/>
          </a:p>
        </p:txBody>
      </p:sp>
      <p:sp>
        <p:nvSpPr>
          <p:cNvPr id="43" name="bil-upg"/>
          <p:cNvSpPr/>
          <p:nvPr/>
        </p:nvSpPr>
        <p:spPr>
          <a:xfrm>
            <a:off x="10363200" y="3632200"/>
            <a:ext cx="1016000" cy="30480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44" name="bil-upgt"/>
          <p:cNvSpPr txBox="1"/>
          <p:nvPr/>
        </p:nvSpPr>
        <p:spPr>
          <a:xfrm>
            <a:off x="10363200" y="36322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FAFAFA"/>
                </a:solidFill>
                <a:latin typeface="MiSans"/>
                <a:ea typeface="MiSans"/>
              </a:rPr>
              <a:t>Upgrade</a:t>
            </a:r>
            <a:endParaRPr lang="en-US" sz="900" noProof="1"/>
          </a:p>
        </p:txBody>
      </p:sp>
      <p:sp>
        <p:nvSpPr>
          <p:cNvPr id="45" name="bil-div3"/>
          <p:cNvSpPr/>
          <p:nvPr>
            <p:extLst>
              <p:ext uri="{F5677B7D-0D2A-4D9B-9A5C-6D8D7D0E5A5D}">
                <pptd:line encoding="base64url">eyJ2aWV3Qm94IjpbMjk4LDJdLCJwb2ludHMiOiIwLDEgMjk4LDEifQ</pptd:line>
              </p:ext>
            </p:extLst>
          </p:nvPr>
        </p:nvSpPr>
        <p:spPr>
          <a:xfrm>
            <a:off x="7594600" y="4191000"/>
            <a:ext cx="3784600" cy="25400"/>
          </a:xfrm>
          <a:custGeom>
            <a:avLst/>
            <a:gdLst/>
            <a:ahLst/>
            <a:cxnLst/>
            <a:rect l="l" t="t" r="r" b="b"/>
            <a:pathLst>
              <a:path w="298" h="2">
                <a:moveTo>
                  <a:pt x="0" y="1"/>
                </a:moveTo>
                <a:lnTo>
                  <a:pt x="298" y="1"/>
                </a:lnTo>
              </a:path>
            </a:pathLst>
          </a:custGeom>
          <a:noFill/>
          <a:ln w="12700" cap="rnd">
            <a:solidFill>
              <a:srgbClr val="232326"/>
            </a:solidFill>
            <a:round/>
          </a:ln>
        </p:spPr>
      </p:sp>
      <p:sp>
        <p:nvSpPr>
          <p:cNvPr id="46" name="bil-llm"/>
          <p:cNvSpPr txBox="1"/>
          <p:nvPr/>
        </p:nvSpPr>
        <p:spPr>
          <a:xfrm>
            <a:off x="7594600" y="4343400"/>
            <a:ext cx="3784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DEFAULT LLM PROVIDER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OpenAI — GPT-4o ▾</a:t>
            </a:r>
            <a:endParaRPr lang="en-US" sz="1600" noProof="1"/>
          </a:p>
        </p:txBody>
      </p:sp>
      <p:sp>
        <p:nvSpPr>
          <p:cNvPr id="47" name="bil-tz"/>
          <p:cNvSpPr txBox="1"/>
          <p:nvPr/>
        </p:nvSpPr>
        <p:spPr>
          <a:xfrm>
            <a:off x="7594600" y="4876800"/>
            <a:ext cx="3784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SCHEDULE TIMEZONE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UTC−7 · Pacific Time ▾</a:t>
            </a:r>
            <a:endParaRPr lang="en-US" sz="1600" noProof="1"/>
          </a:p>
        </p:txBody>
      </p:sp>
      <p:sp>
        <p:nvSpPr>
          <p:cNvPr id="48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12 — STATE MATRIX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Five states, designed for every view</a:t>
            </a:r>
            <a:endParaRPr lang="en-US" sz="2400" noProof="1"/>
          </a:p>
        </p:txBody>
      </p:sp>
      <p:sp>
        <p:nvSpPr>
          <p:cNvPr id="4" name="h1"/>
          <p:cNvSpPr txBox="1"/>
          <p:nvPr/>
        </p:nvSpPr>
        <p:spPr>
          <a:xfrm>
            <a:off x="609600" y="1295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LOADING</a:t>
            </a:r>
            <a:endParaRPr lang="en-US" sz="1000" noProof="1"/>
          </a:p>
        </p:txBody>
      </p:sp>
      <p:sp>
        <p:nvSpPr>
          <p:cNvPr id="5" name="h2"/>
          <p:cNvSpPr txBox="1"/>
          <p:nvPr/>
        </p:nvSpPr>
        <p:spPr>
          <a:xfrm>
            <a:off x="2870200" y="1295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EMPTY</a:t>
            </a:r>
            <a:endParaRPr lang="en-US" sz="1000" noProof="1"/>
          </a:p>
        </p:txBody>
      </p:sp>
      <p:sp>
        <p:nvSpPr>
          <p:cNvPr id="6" name="h3"/>
          <p:cNvSpPr txBox="1"/>
          <p:nvPr/>
        </p:nvSpPr>
        <p:spPr>
          <a:xfrm>
            <a:off x="5130800" y="1295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POPULATED</a:t>
            </a:r>
            <a:endParaRPr lang="en-US" sz="1000" noProof="1"/>
          </a:p>
        </p:txBody>
      </p:sp>
      <p:sp>
        <p:nvSpPr>
          <p:cNvPr id="7" name="h4"/>
          <p:cNvSpPr txBox="1"/>
          <p:nvPr/>
        </p:nvSpPr>
        <p:spPr>
          <a:xfrm>
            <a:off x="7391400" y="1295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ERROR</a:t>
            </a:r>
            <a:endParaRPr lang="en-US" sz="1000" noProof="1"/>
          </a:p>
        </p:txBody>
      </p:sp>
      <p:sp>
        <p:nvSpPr>
          <p:cNvPr id="8" name="h5"/>
          <p:cNvSpPr txBox="1"/>
          <p:nvPr/>
        </p:nvSpPr>
        <p:spPr>
          <a:xfrm>
            <a:off x="9652000" y="12954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DEGRADED</a:t>
            </a:r>
            <a:endParaRPr lang="en-US" sz="1000" noProof="1"/>
          </a:p>
        </p:txBody>
      </p:sp>
      <p:sp>
        <p:nvSpPr>
          <p:cNvPr id="9" name="l1"/>
          <p:cNvSpPr/>
          <p:nvPr/>
        </p:nvSpPr>
        <p:spPr>
          <a:xfrm>
            <a:off x="609600" y="1574800"/>
            <a:ext cx="2057400" cy="3048000"/>
          </a:xfrm>
          <a:prstGeom prst="roundRect">
            <a:avLst>
              <a:gd name="adj" fmla="val 5000"/>
            </a:avLst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10" name="l-sk1"/>
          <p:cNvSpPr/>
          <p:nvPr/>
        </p:nvSpPr>
        <p:spPr>
          <a:xfrm>
            <a:off x="787400" y="1803400"/>
            <a:ext cx="1701800" cy="254000"/>
          </a:xfrm>
          <a:prstGeom prst="roundRect">
            <a:avLst>
              <a:gd name="adj" fmla="val 24000"/>
            </a:avLst>
          </a:prstGeom>
          <a:solidFill>
            <a:srgbClr val="18181B"/>
          </a:solidFill>
          <a:ln>
            <a:noFill/>
          </a:ln>
        </p:spPr>
      </p:sp>
      <p:sp>
        <p:nvSpPr>
          <p:cNvPr id="11" name="l-sk2"/>
          <p:cNvSpPr/>
          <p:nvPr/>
        </p:nvSpPr>
        <p:spPr>
          <a:xfrm>
            <a:off x="787400" y="2184400"/>
            <a:ext cx="1701800" cy="254000"/>
          </a:xfrm>
          <a:prstGeom prst="roundRect">
            <a:avLst>
              <a:gd name="adj" fmla="val 24000"/>
            </a:avLst>
          </a:prstGeom>
          <a:solidFill>
            <a:srgbClr val="18181B"/>
          </a:solidFill>
          <a:ln>
            <a:noFill/>
          </a:ln>
        </p:spPr>
      </p:sp>
      <p:sp>
        <p:nvSpPr>
          <p:cNvPr id="12" name="l-sk3"/>
          <p:cNvSpPr/>
          <p:nvPr/>
        </p:nvSpPr>
        <p:spPr>
          <a:xfrm>
            <a:off x="787400" y="2565400"/>
            <a:ext cx="1270000" cy="254000"/>
          </a:xfrm>
          <a:prstGeom prst="roundRect">
            <a:avLst>
              <a:gd name="adj" fmla="val 24000"/>
            </a:avLst>
          </a:prstGeom>
          <a:solidFill>
            <a:srgbClr val="18181B"/>
          </a:solidFill>
          <a:ln>
            <a:noFill/>
          </a:ln>
        </p:spPr>
      </p:sp>
      <p:sp>
        <p:nvSpPr>
          <p:cNvPr id="13" name="l-sk4"/>
          <p:cNvSpPr/>
          <p:nvPr/>
        </p:nvSpPr>
        <p:spPr>
          <a:xfrm>
            <a:off x="787400" y="3048000"/>
            <a:ext cx="1701800" cy="9398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>
            <a:noFill/>
          </a:ln>
        </p:spPr>
      </p:sp>
      <p:sp>
        <p:nvSpPr>
          <p:cNvPr id="14" name="l-note"/>
          <p:cNvSpPr txBox="1"/>
          <p:nvPr/>
        </p:nvSpPr>
        <p:spPr>
          <a:xfrm>
            <a:off x="787400" y="4114800"/>
            <a:ext cx="1701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Skeletons match real field heights — zero layout shift. Never a full-screen spinner.</a:t>
            </a:r>
            <a:endParaRPr lang="en-US" sz="850" noProof="1"/>
          </a:p>
        </p:txBody>
      </p:sp>
      <p:sp>
        <p:nvSpPr>
          <p:cNvPr id="15" name="e1"/>
          <p:cNvSpPr/>
          <p:nvPr/>
        </p:nvSpPr>
        <p:spPr>
          <a:xfrm>
            <a:off x="2870200" y="1574800"/>
            <a:ext cx="2057400" cy="3048000"/>
          </a:xfrm>
          <a:prstGeom prst="roundRect">
            <a:avLst>
              <a:gd name="adj" fmla="val 5000"/>
            </a:avLst>
          </a:prstGeom>
          <a:solidFill>
            <a:srgbClr val="111113"/>
          </a:solidFill>
          <a:ln w="12700">
            <a:solidFill>
              <a:srgbClr val="3F3F46"/>
            </a:solidFill>
            <a:prstDash val="dash"/>
          </a:ln>
        </p:spPr>
      </p:sp>
      <p:sp>
        <p:nvSpPr>
          <p:cNvPr id="16" name="e-ic"/>
          <p:cNvSpPr/>
          <p:nvPr>
            <p:extLst>
              <p:ext uri="{F5677B7D-0D2A-4D9B-9A5C-6D8D7D0E5A5D}">
                <pptd:icon encoding="base64url">eyJpY29uTmFtZSI6ImZhczpib2x0In0</pptd:icon>
              </p:ext>
            </p:extLst>
          </p:nvPr>
        </p:nvSpPr>
        <p:spPr>
          <a:xfrm>
            <a:off x="3771900" y="2133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39" y="-10"/>
                </a:moveTo>
                <a:cubicBezTo>
                  <a:pt x="351" y="-1"/>
                  <a:pt x="355" y="14"/>
                  <a:pt x="350" y="28"/>
                </a:cubicBezTo>
                <a:lnTo>
                  <a:pt x="271" y="224"/>
                </a:lnTo>
                <a:lnTo>
                  <a:pt x="416" y="224"/>
                </a:lnTo>
                <a:cubicBezTo>
                  <a:pt x="430" y="224"/>
                  <a:pt x="442" y="232"/>
                  <a:pt x="446" y="245"/>
                </a:cubicBezTo>
                <a:cubicBezTo>
                  <a:pt x="451" y="258"/>
                  <a:pt x="447" y="272"/>
                  <a:pt x="437" y="281"/>
                </a:cubicBezTo>
                <a:lnTo>
                  <a:pt x="149" y="521"/>
                </a:lnTo>
                <a:cubicBezTo>
                  <a:pt x="137" y="530"/>
                  <a:pt x="121" y="531"/>
                  <a:pt x="109" y="522"/>
                </a:cubicBezTo>
                <a:cubicBezTo>
                  <a:pt x="97" y="513"/>
                  <a:pt x="93" y="498"/>
                  <a:pt x="98" y="484"/>
                </a:cubicBezTo>
                <a:lnTo>
                  <a:pt x="177" y="288"/>
                </a:lnTo>
                <a:lnTo>
                  <a:pt x="32" y="288"/>
                </a:lnTo>
                <a:cubicBezTo>
                  <a:pt x="19" y="288"/>
                  <a:pt x="7" y="280"/>
                  <a:pt x="2" y="267"/>
                </a:cubicBezTo>
                <a:cubicBezTo>
                  <a:pt x="-3" y="254"/>
                  <a:pt x="1" y="240"/>
                  <a:pt x="11" y="231"/>
                </a:cubicBezTo>
                <a:lnTo>
                  <a:pt x="300" y="-9"/>
                </a:lnTo>
                <a:cubicBezTo>
                  <a:pt x="311" y="-18"/>
                  <a:pt x="327" y="-19"/>
                  <a:pt x="339" y="-10"/>
                </a:cubicBezTo>
                <a:close/>
              </a:path>
            </a:pathLst>
          </a:custGeom>
          <a:solidFill>
            <a:srgbClr val="52525B"/>
          </a:solidFill>
          <a:ln>
            <a:noFill/>
          </a:ln>
        </p:spPr>
      </p:sp>
      <p:sp>
        <p:nvSpPr>
          <p:cNvPr id="17" name="e-h"/>
          <p:cNvSpPr txBox="1"/>
          <p:nvPr/>
        </p:nvSpPr>
        <p:spPr>
          <a:xfrm>
            <a:off x="3022600" y="2540000"/>
            <a:ext cx="1752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FAFAFA"/>
                </a:solidFill>
                <a:latin typeface="MiSans"/>
                <a:ea typeface="MiSans"/>
              </a:rPr>
              <a:t>Start with a trigger</a:t>
            </a:r>
            <a:endParaRPr lang="en-US" sz="1100" noProof="1"/>
          </a:p>
        </p:txBody>
      </p:sp>
      <p:sp>
        <p:nvSpPr>
          <p:cNvPr id="18" name="e-s"/>
          <p:cNvSpPr txBox="1"/>
          <p:nvPr/>
        </p:nvSpPr>
        <p:spPr>
          <a:xfrm>
            <a:off x="3048000" y="2819400"/>
            <a:ext cx="1701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Every flow begins with an event — webhook, schedule, or email.</a:t>
            </a:r>
            <a:endParaRPr lang="en-US" sz="850" noProof="1"/>
          </a:p>
        </p:txBody>
      </p:sp>
      <p:sp>
        <p:nvSpPr>
          <p:cNvPr id="19" name="e-cta"/>
          <p:cNvSpPr/>
          <p:nvPr/>
        </p:nvSpPr>
        <p:spPr>
          <a:xfrm>
            <a:off x="3200400" y="3505200"/>
            <a:ext cx="1397000" cy="330200"/>
          </a:xfrm>
          <a:prstGeom prst="roundRect">
            <a:avLst>
              <a:gd name="adj" fmla="val 22000"/>
            </a:avLst>
          </a:prstGeom>
          <a:solidFill>
            <a:srgbClr val="7C6CFF"/>
          </a:solidFill>
          <a:ln>
            <a:noFill/>
          </a:ln>
        </p:spPr>
      </p:sp>
      <p:sp>
        <p:nvSpPr>
          <p:cNvPr id="20" name="e-ctat"/>
          <p:cNvSpPr txBox="1"/>
          <p:nvPr/>
        </p:nvSpPr>
        <p:spPr>
          <a:xfrm>
            <a:off x="3200400" y="3505200"/>
            <a:ext cx="139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 b="1">
                <a:solidFill>
                  <a:srgbClr val="000000"/>
                </a:solidFill>
                <a:latin typeface="MiSans"/>
                <a:ea typeface="MiSans"/>
              </a:rPr>
              <a:t>+ Add a trigger</a:t>
            </a:r>
            <a:endParaRPr lang="en-US" sz="900" noProof="1"/>
          </a:p>
        </p:txBody>
      </p:sp>
      <p:sp>
        <p:nvSpPr>
          <p:cNvPr id="21" name="e-cta2"/>
          <p:cNvSpPr txBox="1"/>
          <p:nvPr/>
        </p:nvSpPr>
        <p:spPr>
          <a:xfrm>
            <a:off x="3022600" y="3937000"/>
            <a:ext cx="1752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A1A1AA"/>
                </a:solidFill>
                <a:latin typeface="MiSans"/>
                <a:ea typeface="MiSans"/>
              </a:rPr>
              <a:t>or browse templates</a:t>
            </a:r>
            <a:endParaRPr lang="en-US" sz="850" noProof="1"/>
          </a:p>
        </p:txBody>
      </p:sp>
      <p:sp>
        <p:nvSpPr>
          <p:cNvPr id="22" name="p1"/>
          <p:cNvSpPr/>
          <p:nvPr/>
        </p:nvSpPr>
        <p:spPr>
          <a:xfrm>
            <a:off x="5130800" y="1574800"/>
            <a:ext cx="2057400" cy="3048000"/>
          </a:xfrm>
          <a:prstGeom prst="roundRect">
            <a:avLst>
              <a:gd name="adj" fmla="val 5000"/>
            </a:avLst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23" name="p-n1"/>
          <p:cNvSpPr/>
          <p:nvPr/>
        </p:nvSpPr>
        <p:spPr>
          <a:xfrm>
            <a:off x="5334000" y="1854200"/>
            <a:ext cx="1651000" cy="6604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4" name="p-n1t"/>
          <p:cNvSpPr txBox="1"/>
          <p:nvPr/>
        </p:nvSpPr>
        <p:spPr>
          <a:xfrm>
            <a:off x="5461000" y="1930400"/>
            <a:ext cx="1422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700" noProof="1">
                <a:solidFill>
                  <a:srgbClr val="34D399"/>
                </a:solidFill>
                <a:latin typeface="MiSans"/>
                <a:ea typeface="MiSans"/>
              </a:rPr>
              <a:t>●</a:t>
            </a:r>
            <a:r>
              <a:rPr lang="en-US" sz="900" noProof="1">
                <a:solidFill>
                  <a:srgbClr val="FAFAFA"/>
                </a:solidFill>
                <a:latin typeface="MiSans"/>
                <a:ea typeface="MiSans"/>
              </a:rPr>
              <a:t> </a:t>
            </a:r>
            <a:r>
              <a:rPr lang="en-US" sz="900" noProof="1" b="1">
                <a:solidFill>
                  <a:srgbClr val="FAFAFA"/>
                </a:solidFill>
                <a:latin typeface="MiSans"/>
                <a:ea typeface="MiSans"/>
              </a:rPr>
              <a:t>Enrich Lead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750" noProof="1">
                <a:solidFill>
                  <a:srgbClr val="52525B"/>
                </a:solidFill>
                <a:latin typeface="MiSans"/>
                <a:ea typeface="MiSans"/>
              </a:rPr>
              <a:t>✓ 2.1s · $0.018</a:t>
            </a:r>
            <a:endParaRPr lang="en-US" sz="1600" noProof="1"/>
          </a:p>
        </p:txBody>
      </p:sp>
      <p:sp>
        <p:nvSpPr>
          <p:cNvPr id="25" name="p-n2"/>
          <p:cNvSpPr/>
          <p:nvPr/>
        </p:nvSpPr>
        <p:spPr>
          <a:xfrm>
            <a:off x="5334000" y="2667000"/>
            <a:ext cx="1651000" cy="6604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7C6CFF"/>
            </a:solidFill>
          </a:ln>
          <a:effectLst>
            <a:outerShdw blurRad="177800" dist="0" dir="0" sx="100000" sy="100000" kx="0" ky="0" algn="bl" rotWithShape="0">
              <a:srgbClr val="7C6CFF">
                <a:alpha val="25098"/>
              </a:srgbClr>
            </a:outerShdw>
          </a:effectLst>
        </p:spPr>
      </p:sp>
      <p:sp>
        <p:nvSpPr>
          <p:cNvPr id="26" name="p-n2t"/>
          <p:cNvSpPr txBox="1"/>
          <p:nvPr/>
        </p:nvSpPr>
        <p:spPr>
          <a:xfrm>
            <a:off x="5461000" y="2743200"/>
            <a:ext cx="1422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700" noProof="1">
                <a:solidFill>
                  <a:srgbClr val="38BDF8"/>
                </a:solidFill>
                <a:latin typeface="MiSans"/>
                <a:ea typeface="MiSans"/>
              </a:rPr>
              <a:t>●</a:t>
            </a:r>
            <a:r>
              <a:rPr lang="en-US" sz="900" noProof="1">
                <a:solidFill>
                  <a:srgbClr val="FAFAFA"/>
                </a:solidFill>
                <a:latin typeface="MiSans"/>
                <a:ea typeface="MiSans"/>
              </a:rPr>
              <a:t> </a:t>
            </a:r>
            <a:r>
              <a:rPr lang="en-US" sz="900" noProof="1" b="1">
                <a:solidFill>
                  <a:srgbClr val="FAFAFA"/>
                </a:solidFill>
                <a:latin typeface="MiSans"/>
                <a:ea typeface="MiSans"/>
              </a:rPr>
              <a:t>Score Lead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750" noProof="1">
                <a:solidFill>
                  <a:srgbClr val="38BDF8"/>
                </a:solidFill>
                <a:latin typeface="MiSans"/>
                <a:ea typeface="MiSans"/>
              </a:rPr>
              <a:t>Running… 1.2s</a:t>
            </a:r>
            <a:endParaRPr lang="en-US" sz="1600" noProof="1"/>
          </a:p>
        </p:txBody>
      </p:sp>
      <p:sp>
        <p:nvSpPr>
          <p:cNvPr id="27" name="p-n3"/>
          <p:cNvSpPr/>
          <p:nvPr/>
        </p:nvSpPr>
        <p:spPr>
          <a:xfrm>
            <a:off x="5334000" y="3479800"/>
            <a:ext cx="1651000" cy="660400"/>
          </a:xfrm>
          <a:prstGeom prst="roundRect">
            <a:avLst>
              <a:gd name="adj" fmla="val 14000"/>
            </a:avLst>
          </a:prstGeom>
          <a:solidFill>
            <a:srgbClr val="18181B"/>
          </a:solidFill>
          <a:ln w="12700">
            <a:solidFill>
              <a:srgbClr val="232326"/>
            </a:solidFill>
            <a:prstDash val="dash"/>
          </a:ln>
        </p:spPr>
      </p:sp>
      <p:sp>
        <p:nvSpPr>
          <p:cNvPr id="28" name="p-n3t"/>
          <p:cNvSpPr txBox="1"/>
          <p:nvPr/>
        </p:nvSpPr>
        <p:spPr>
          <a:xfrm>
            <a:off x="5461000" y="3556000"/>
            <a:ext cx="1422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700" noProof="1">
                <a:solidFill>
                  <a:srgbClr val="52525B"/>
                </a:solidFill>
                <a:latin typeface="MiSans"/>
                <a:ea typeface="MiSans"/>
              </a:rPr>
              <a:t>●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 </a:t>
            </a:r>
            <a:r>
              <a:rPr lang="en-US" sz="900" noProof="1" b="1">
                <a:solidFill>
                  <a:srgbClr val="52525B"/>
                </a:solidFill>
                <a:latin typeface="MiSans"/>
                <a:ea typeface="MiSans"/>
              </a:rPr>
              <a:t>Slack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750" noProof="1">
                <a:solidFill>
                  <a:srgbClr val="52525B"/>
                </a:solidFill>
                <a:latin typeface="MiSans"/>
                <a:ea typeface="MiSans"/>
              </a:rPr>
              <a:t>Queued</a:t>
            </a:r>
            <a:endParaRPr lang="en-US" sz="1600" noProof="1"/>
          </a:p>
        </p:txBody>
      </p:sp>
      <p:sp>
        <p:nvSpPr>
          <p:cNvPr id="29" name="x1"/>
          <p:cNvSpPr/>
          <p:nvPr/>
        </p:nvSpPr>
        <p:spPr>
          <a:xfrm>
            <a:off x="7391400" y="1574800"/>
            <a:ext cx="2057400" cy="3048000"/>
          </a:xfrm>
          <a:prstGeom prst="roundRect">
            <a:avLst>
              <a:gd name="adj" fmla="val 5000"/>
            </a:avLst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30" name="x-card"/>
          <p:cNvSpPr/>
          <p:nvPr/>
        </p:nvSpPr>
        <p:spPr>
          <a:xfrm>
            <a:off x="7569200" y="1905000"/>
            <a:ext cx="1701800" cy="1397000"/>
          </a:xfrm>
          <a:prstGeom prst="roundRect">
            <a:avLst>
              <a:gd name="adj" fmla="val 10000"/>
            </a:avLst>
          </a:prstGeom>
          <a:solidFill>
            <a:srgbClr val="F87171">
              <a:alpha val="5098"/>
            </a:srgbClr>
          </a:solidFill>
          <a:ln w="12700">
            <a:solidFill>
              <a:srgbClr val="F87171">
                <a:alpha val="25098"/>
              </a:srgbClr>
            </a:solidFill>
          </a:ln>
        </p:spPr>
      </p:sp>
      <p:sp>
        <p:nvSpPr>
          <p:cNvPr id="31" name="x-t"/>
          <p:cNvSpPr txBox="1"/>
          <p:nvPr/>
        </p:nvSpPr>
        <p:spPr>
          <a:xfrm>
            <a:off x="7696200" y="2032000"/>
            <a:ext cx="14478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900" noProof="1" b="1">
                <a:solidFill>
                  <a:srgbClr val="F87171"/>
                </a:solidFill>
                <a:latin typeface="MiSans"/>
                <a:ea typeface="MiSans"/>
              </a:rPr>
              <a:t>⚠ Couldn't load this flow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800" noProof="1">
                <a:solidFill>
                  <a:srgbClr val="A1A1AA"/>
                </a:solidFill>
                <a:latin typeface="MiSans"/>
                <a:ea typeface="MiSans"/>
              </a:rPr>
              <a:t>Check your connection and try again.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800" noProof="1">
                <a:solidFill>
                  <a:srgbClr val="52525B"/>
                </a:solidFill>
                <a:latin typeface="MiSans"/>
                <a:ea typeface="MiSans"/>
              </a:rPr>
              <a:t>Auto-retry ×3 with backoff 1s/2s/4s</a:t>
            </a:r>
            <a:endParaRPr lang="en-US" sz="1600" noProof="1"/>
          </a:p>
        </p:txBody>
      </p:sp>
      <p:sp>
        <p:nvSpPr>
          <p:cNvPr id="32" name="x-btn"/>
          <p:cNvSpPr/>
          <p:nvPr/>
        </p:nvSpPr>
        <p:spPr>
          <a:xfrm>
            <a:off x="8026400" y="3454400"/>
            <a:ext cx="787400" cy="279400"/>
          </a:xfrm>
          <a:prstGeom prst="roundRect">
            <a:avLst>
              <a:gd name="adj" fmla="val 22000"/>
            </a:avLst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33" name="x-btnt"/>
          <p:cNvSpPr txBox="1"/>
          <p:nvPr/>
        </p:nvSpPr>
        <p:spPr>
          <a:xfrm>
            <a:off x="8026400" y="3454400"/>
            <a:ext cx="787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50" noProof="1">
                <a:solidFill>
                  <a:srgbClr val="FAFAFA"/>
                </a:solidFill>
                <a:latin typeface="MiSans"/>
                <a:ea typeface="MiSans"/>
              </a:rPr>
              <a:t>Retry</a:t>
            </a:r>
            <a:endParaRPr lang="en-US" sz="850" noProof="1"/>
          </a:p>
        </p:txBody>
      </p:sp>
      <p:sp>
        <p:nvSpPr>
          <p:cNvPr id="34" name="x-note"/>
          <p:cNvSpPr txBox="1"/>
          <p:nvPr/>
        </p:nvSpPr>
        <p:spPr>
          <a:xfrm>
            <a:off x="7569200" y="3886200"/>
            <a:ext cx="1701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Save failures queue silent retries; badge flips to "Failed to save — retrying".</a:t>
            </a:r>
            <a:endParaRPr lang="en-US" sz="850" noProof="1"/>
          </a:p>
        </p:txBody>
      </p:sp>
      <p:sp>
        <p:nvSpPr>
          <p:cNvPr id="35" name="d1"/>
          <p:cNvSpPr/>
          <p:nvPr/>
        </p:nvSpPr>
        <p:spPr>
          <a:xfrm>
            <a:off x="9652000" y="1574800"/>
            <a:ext cx="1930400" cy="3048000"/>
          </a:xfrm>
          <a:prstGeom prst="roundRect">
            <a:avLst>
              <a:gd name="adj" fmla="val 5000"/>
            </a:avLst>
          </a:prstGeom>
          <a:solidFill>
            <a:srgbClr val="111113"/>
          </a:solidFill>
          <a:ln w="12700">
            <a:solidFill>
              <a:srgbClr val="232326"/>
            </a:solidFill>
          </a:ln>
        </p:spPr>
      </p:sp>
      <p:sp>
        <p:nvSpPr>
          <p:cNvPr id="36" name="d-b1"/>
          <p:cNvSpPr/>
          <p:nvPr/>
        </p:nvSpPr>
        <p:spPr>
          <a:xfrm>
            <a:off x="9804400" y="1803400"/>
            <a:ext cx="1625600" cy="508000"/>
          </a:xfrm>
          <a:prstGeom prst="roundRect">
            <a:avLst>
              <a:gd name="adj" fmla="val 16000"/>
            </a:avLst>
          </a:prstGeom>
          <a:solidFill>
            <a:srgbClr val="FBBF24">
              <a:alpha val="5098"/>
            </a:srgbClr>
          </a:solidFill>
          <a:ln w="12700">
            <a:solidFill>
              <a:srgbClr val="FBBF24">
                <a:alpha val="25098"/>
              </a:srgbClr>
            </a:solidFill>
          </a:ln>
        </p:spPr>
      </p:sp>
      <p:sp>
        <p:nvSpPr>
          <p:cNvPr id="37" name="d-b1t"/>
          <p:cNvSpPr txBox="1"/>
          <p:nvPr/>
        </p:nvSpPr>
        <p:spPr>
          <a:xfrm>
            <a:off x="9906000" y="1803400"/>
            <a:ext cx="1447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800" noProof="1" b="1">
                <a:solidFill>
                  <a:srgbClr val="FBBF24"/>
                </a:solidFill>
                <a:latin typeface="MiSans"/>
                <a:ea typeface="MiSans"/>
              </a:rPr>
              <a:t>Reconnect Slack</a:t>
            </a:r>
            <a:endParaRPr lang="en-US" sz="1600" noProof="1"/>
          </a:p>
          <a:p>
            <a:pPr algn="l">
              <a:lnSpc>
                <a:spcPct val="140000"/>
              </a:lnSpc>
            </a:pPr>
            <a:r>
              <a:rPr lang="en-US" sz="750" noProof="1">
                <a:solidFill>
                  <a:srgbClr val="A1A1AA"/>
                </a:solidFill>
                <a:latin typeface="MiSans"/>
                <a:ea typeface="MiSans"/>
              </a:rPr>
              <a:t>token expired</a:t>
            </a:r>
            <a:endParaRPr lang="en-US" sz="1600" noProof="1"/>
          </a:p>
        </p:txBody>
      </p:sp>
      <p:sp>
        <p:nvSpPr>
          <p:cNvPr id="38" name="d-n1"/>
          <p:cNvSpPr txBox="1"/>
          <p:nvPr/>
        </p:nvSpPr>
        <p:spPr>
          <a:xfrm>
            <a:off x="9804400" y="24892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50" noProof="1">
                <a:solidFill>
                  <a:srgbClr val="FBBF24"/>
                </a:solidFill>
                <a:latin typeface="MiSans"/>
                <a:ea typeface="MiSans"/>
              </a:rPr>
              <a:t>5/7 steps completed</a:t>
            </a:r>
            <a:endParaRPr lang="en-US" sz="850" noProof="1"/>
          </a:p>
          <a:p>
            <a:pPr>
              <a:lnSpc>
                <a:spcPct val="15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2 skipped downstream</a:t>
            </a:r>
            <a:endParaRPr lang="en-US" sz="850" noProof="1"/>
          </a:p>
        </p:txBody>
      </p:sp>
      <p:sp>
        <p:nvSpPr>
          <p:cNvPr id="39" name="d-n2"/>
          <p:cNvSpPr txBox="1"/>
          <p:nvPr/>
        </p:nvSpPr>
        <p:spPr>
          <a:xfrm>
            <a:off x="9804400" y="31496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50" noProof="1">
                <a:solidFill>
                  <a:srgbClr val="FBBF24"/>
                </a:solidFill>
                <a:latin typeface="MiSans"/>
                <a:ea typeface="MiSans"/>
              </a:rPr>
              <a:t>Running… 12s</a:t>
            </a:r>
            <a:endParaRPr lang="en-US" sz="850" noProof="1"/>
          </a:p>
          <a:p>
            <a:pPr>
              <a:lnSpc>
                <a:spcPct val="15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provider slow, continues</a:t>
            </a:r>
            <a:endParaRPr lang="en-US" sz="850" noProof="1"/>
          </a:p>
        </p:txBody>
      </p:sp>
      <p:sp>
        <p:nvSpPr>
          <p:cNvPr id="40" name="d-n3"/>
          <p:cNvSpPr txBox="1"/>
          <p:nvPr/>
        </p:nvSpPr>
        <p:spPr>
          <a:xfrm>
            <a:off x="9804400" y="3810000"/>
            <a:ext cx="1625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850" noProof="1">
                <a:solidFill>
                  <a:srgbClr val="38BDF8"/>
                </a:solidFill>
                <a:latin typeface="MiSans"/>
                <a:ea typeface="MiSans"/>
              </a:rPr>
              <a:t>● Offline mode</a:t>
            </a:r>
            <a:endParaRPr lang="en-US" sz="850" noProof="1"/>
          </a:p>
          <a:p>
            <a:pPr>
              <a:lnSpc>
                <a:spcPct val="150000"/>
              </a:lnSpc>
            </a:pPr>
            <a:r>
              <a:rPr lang="en-US" sz="850" noProof="1">
                <a:solidFill>
                  <a:srgbClr val="52525B"/>
                </a:solidFill>
                <a:latin typeface="MiSans"/>
                <a:ea typeface="MiSans"/>
              </a:rPr>
              <a:t>edit locally, run disabled</a:t>
            </a:r>
            <a:endParaRPr lang="en-US" sz="850" noProof="1"/>
          </a:p>
        </p:txBody>
      </p:sp>
      <p:sp>
        <p:nvSpPr>
          <p:cNvPr id="41" name="rules"/>
          <p:cNvSpPr/>
          <p:nvPr/>
        </p:nvSpPr>
        <p:spPr>
          <a:xfrm>
            <a:off x="609600" y="497840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42" name="rules-t"/>
          <p:cNvSpPr txBox="1"/>
          <p:nvPr/>
        </p:nvSpPr>
        <p:spPr>
          <a:xfrm>
            <a:off x="838200" y="5156200"/>
            <a:ext cx="10541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050" noProof="1" b="1">
                <a:solidFill>
                  <a:srgbClr val="FAFAFA"/>
                </a:solidFill>
                <a:latin typeface="MiSans"/>
                <a:ea typeface="MiSans"/>
              </a:rPr>
              <a:t>Rules: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 shell (header/sidebar) renders instantly — only data regions skeleton.</a:t>
            </a:r>
            <a:endParaRPr lang="en-US" sz="1050" noProof="1"/>
          </a:p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Errors always ship with a recovery action: </a:t>
            </a:r>
            <a:r>
              <a:rPr lang="en-US" sz="1050" noProof="1">
                <a:solidFill>
                  <a:srgbClr val="FAFAFA"/>
                </a:solidFill>
                <a:latin typeface="MiSans"/>
                <a:ea typeface="MiSans"/>
              </a:rPr>
              <a:t>Retry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 · </a:t>
            </a:r>
            <a:r>
              <a:rPr lang="en-US" sz="1050" noProof="1">
                <a:solidFill>
                  <a:srgbClr val="FAFAFA"/>
                </a:solidFill>
                <a:latin typeface="MiSans"/>
                <a:ea typeface="MiSans"/>
              </a:rPr>
              <a:t>Re-run from this step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 · </a:t>
            </a:r>
            <a:r>
              <a:rPr lang="en-US" sz="1050" noProof="1">
                <a:solidFill>
                  <a:srgbClr val="FAFAFA"/>
                </a:solidFill>
                <a:latin typeface="MiSans"/>
                <a:ea typeface="MiSans"/>
              </a:rPr>
              <a:t>Reconnect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 · </a:t>
            </a:r>
            <a:r>
              <a:rPr lang="en-US" sz="1050" noProof="1">
                <a:solidFill>
                  <a:srgbClr val="FAFAFA"/>
                </a:solidFill>
                <a:latin typeface="MiSans"/>
                <a:ea typeface="MiSans"/>
              </a:rPr>
              <a:t>Clear filters</a:t>
            </a: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.</a:t>
            </a:r>
            <a:endParaRPr lang="en-US" sz="1050" noProof="1"/>
          </a:p>
          <a:p>
            <a:pPr>
              <a:lnSpc>
                <a:spcPct val="170000"/>
              </a:lnSpc>
            </a:pPr>
            <a:r>
              <a:rPr lang="en-US" sz="1050" noProof="1">
                <a:solidFill>
                  <a:srgbClr val="A1A1AA"/>
                </a:solidFill>
                <a:latin typeface="MiSans"/>
                <a:ea typeface="MiSans"/>
              </a:rPr>
              <a:t>Degraded ≠ blocked: an expired token pauses only its own flows. Partial runs preserve upstream outputs for cheap re-runs.</a:t>
            </a:r>
            <a:endParaRPr lang="en-US" sz="1050" noProof="1"/>
          </a:p>
        </p:txBody>
      </p:sp>
      <p:sp>
        <p:nvSpPr>
          <p:cNvPr id="43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13 — RESPONSIVE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Breakpoints: 1440 desktop · 1024 tablet · 375 mobile</a:t>
            </a:r>
            <a:endParaRPr lang="en-US" sz="2400" noProof="1"/>
          </a:p>
        </p:txBody>
      </p:sp>
      <p:sp>
        <p:nvSpPr>
          <p:cNvPr id="4" name="d-label"/>
          <p:cNvSpPr txBox="1"/>
          <p:nvPr/>
        </p:nvSpPr>
        <p:spPr>
          <a:xfrm>
            <a:off x="609600" y="13208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Desktop ≥1280 — full layout</a:t>
            </a:r>
            <a:endParaRPr lang="en-US" sz="1000" noProof="1"/>
          </a:p>
        </p:txBody>
      </p:sp>
      <p:sp>
        <p:nvSpPr>
          <p:cNvPr id="5" name="d-frame"/>
          <p:cNvSpPr/>
          <p:nvPr/>
        </p:nvSpPr>
        <p:spPr>
          <a:xfrm>
            <a:off x="609600" y="1600200"/>
            <a:ext cx="6604000" cy="3810000"/>
          </a:xfrm>
          <a:prstGeom prst="roundRect">
            <a:avLst>
              <a:gd name="adj" fmla="val 3000"/>
            </a:avLst>
          </a:prstGeom>
          <a:solidFill>
            <a:srgbClr val="111113"/>
          </a:solidFill>
          <a:ln w="12700">
            <a:solidFill>
              <a:srgbClr val="3F3F46"/>
            </a:solidFill>
          </a:ln>
        </p:spPr>
      </p:sp>
      <p:sp>
        <p:nvSpPr>
          <p:cNvPr id="6" name="d-head"/>
          <p:cNvSpPr/>
          <p:nvPr/>
        </p:nvSpPr>
        <p:spPr>
          <a:xfrm>
            <a:off x="609600" y="1600200"/>
            <a:ext cx="6604000" cy="279400"/>
          </a:xfrm>
          <a:prstGeom prst="rect">
            <a:avLst/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7" name="d-side"/>
          <p:cNvSpPr/>
          <p:nvPr/>
        </p:nvSpPr>
        <p:spPr>
          <a:xfrm>
            <a:off x="609600" y="1879600"/>
            <a:ext cx="990600" cy="3225800"/>
          </a:xfrm>
          <a:prstGeom prst="rect">
            <a:avLst/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8" name="d-canvas"/>
          <p:cNvSpPr/>
          <p:nvPr/>
        </p:nvSpPr>
        <p:spPr>
          <a:xfrm>
            <a:off x="1600200" y="1879600"/>
            <a:ext cx="3835400" cy="2413000"/>
          </a:xfrm>
          <a:prstGeom prst="rect">
            <a:avLst/>
          </a:prstGeom>
          <a:solidFill>
            <a:srgbClr val="0B0B0D"/>
          </a:solidFill>
          <a:ln>
            <a:noFill/>
          </a:ln>
        </p:spPr>
      </p:sp>
      <p:sp>
        <p:nvSpPr>
          <p:cNvPr id="9" name="d-n1"/>
          <p:cNvSpPr/>
          <p:nvPr/>
        </p:nvSpPr>
        <p:spPr>
          <a:xfrm>
            <a:off x="1905000" y="2413000"/>
            <a:ext cx="812800" cy="381000"/>
          </a:xfrm>
          <a:prstGeom prst="roundRect">
            <a:avLst>
              <a:gd name="adj" fmla="val 16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0" name="d-n2"/>
          <p:cNvSpPr/>
          <p:nvPr/>
        </p:nvSpPr>
        <p:spPr>
          <a:xfrm>
            <a:off x="3048000" y="2413000"/>
            <a:ext cx="812800" cy="381000"/>
          </a:xfrm>
          <a:prstGeom prst="roundRect">
            <a:avLst>
              <a:gd name="adj" fmla="val 16000"/>
            </a:avLst>
          </a:prstGeom>
          <a:solidFill>
            <a:srgbClr val="18181B"/>
          </a:solidFill>
          <a:ln w="12700">
            <a:solidFill>
              <a:srgbClr val="7C6CFF"/>
            </a:solidFill>
          </a:ln>
        </p:spPr>
      </p:sp>
      <p:sp>
        <p:nvSpPr>
          <p:cNvPr id="11" name="d-n3"/>
          <p:cNvSpPr/>
          <p:nvPr/>
        </p:nvSpPr>
        <p:spPr>
          <a:xfrm>
            <a:off x="4191000" y="2413000"/>
            <a:ext cx="812800" cy="381000"/>
          </a:xfrm>
          <a:prstGeom prst="roundRect">
            <a:avLst>
              <a:gd name="adj" fmla="val 16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2" name="d-drawer"/>
          <p:cNvSpPr/>
          <p:nvPr/>
        </p:nvSpPr>
        <p:spPr>
          <a:xfrm>
            <a:off x="5435600" y="1879600"/>
            <a:ext cx="1778000" cy="3225800"/>
          </a:xfrm>
          <a:prstGeom prst="rect">
            <a:avLst/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3" name="d-dock"/>
          <p:cNvSpPr/>
          <p:nvPr/>
        </p:nvSpPr>
        <p:spPr>
          <a:xfrm>
            <a:off x="1600200" y="4292600"/>
            <a:ext cx="3835400" cy="812800"/>
          </a:xfrm>
          <a:prstGeom prst="rect">
            <a:avLst/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4" name="d-l1"/>
          <p:cNvSpPr txBox="1"/>
          <p:nvPr/>
        </p:nvSpPr>
        <p:spPr>
          <a:xfrm>
            <a:off x="711200" y="1981200"/>
            <a:ext cx="8382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</a:pPr>
            <a:r>
              <a:rPr lang="en-US" sz="750" noProof="1">
                <a:solidFill>
                  <a:srgbClr val="52525B"/>
                </a:solidFill>
                <a:latin typeface="MiSans"/>
                <a:ea typeface="MiSans"/>
              </a:rPr>
              <a:t>Sidebar</a:t>
            </a:r>
            <a:endParaRPr lang="en-US" sz="750" noProof="1"/>
          </a:p>
          <a:p>
            <a:pPr>
              <a:lnSpc>
                <a:spcPct val="180000"/>
              </a:lnSpc>
            </a:pPr>
            <a:r>
              <a:rPr lang="en-US" sz="750" noProof="1">
                <a:solidFill>
                  <a:srgbClr val="52525B"/>
                </a:solidFill>
                <a:latin typeface="MiSans"/>
                <a:ea typeface="MiSans"/>
              </a:rPr>
              <a:t>240px</a:t>
            </a:r>
            <a:endParaRPr lang="en-US" sz="750" noProof="1"/>
          </a:p>
        </p:txBody>
      </p:sp>
      <p:sp>
        <p:nvSpPr>
          <p:cNvPr id="15" name="d-l2"/>
          <p:cNvSpPr txBox="1"/>
          <p:nvPr/>
        </p:nvSpPr>
        <p:spPr>
          <a:xfrm>
            <a:off x="5588000" y="19812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80000"/>
              </a:lnSpc>
            </a:pPr>
            <a:r>
              <a:rPr lang="en-US" sz="750" noProof="1">
                <a:solidFill>
                  <a:srgbClr val="52525B"/>
                </a:solidFill>
                <a:latin typeface="MiSans"/>
                <a:ea typeface="MiSans"/>
              </a:rPr>
              <a:t>Drawer 360px</a:t>
            </a:r>
            <a:endParaRPr lang="en-US" sz="750" noProof="1"/>
          </a:p>
        </p:txBody>
      </p:sp>
      <p:sp>
        <p:nvSpPr>
          <p:cNvPr id="16" name="d-l3"/>
          <p:cNvSpPr txBox="1"/>
          <p:nvPr/>
        </p:nvSpPr>
        <p:spPr>
          <a:xfrm>
            <a:off x="1727200" y="4394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750" noProof="1">
                <a:solidFill>
                  <a:srgbClr val="52525B"/>
                </a:solidFill>
                <a:latin typeface="MiSans"/>
                <a:ea typeface="MiSans"/>
              </a:rPr>
              <a:t>Run dock 240px · ⌘J</a:t>
            </a:r>
            <a:endParaRPr lang="en-US" sz="750" noProof="1"/>
          </a:p>
        </p:txBody>
      </p:sp>
      <p:sp>
        <p:nvSpPr>
          <p:cNvPr id="17" name="d-note"/>
          <p:cNvSpPr txBox="1"/>
          <p:nvPr/>
        </p:nvSpPr>
        <p:spPr>
          <a:xfrm>
            <a:off x="609600" y="55118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All regions visible simultaneously. Canvas min width 840px. Dot-grid, drag &amp; drop, full keyboard map.</a:t>
            </a:r>
            <a:endParaRPr lang="en-US" sz="950" noProof="1"/>
          </a:p>
        </p:txBody>
      </p:sp>
      <p:sp>
        <p:nvSpPr>
          <p:cNvPr id="18" name="t-label"/>
          <p:cNvSpPr txBox="1"/>
          <p:nvPr/>
        </p:nvSpPr>
        <p:spPr>
          <a:xfrm>
            <a:off x="7620000" y="13208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Tablet 768–1279 — overlays</a:t>
            </a:r>
            <a:endParaRPr lang="en-US" sz="1000" noProof="1"/>
          </a:p>
        </p:txBody>
      </p:sp>
      <p:sp>
        <p:nvSpPr>
          <p:cNvPr id="19" name="t-frame"/>
          <p:cNvSpPr/>
          <p:nvPr/>
        </p:nvSpPr>
        <p:spPr>
          <a:xfrm>
            <a:off x="7620000" y="1600200"/>
            <a:ext cx="3962400" cy="2794000"/>
          </a:xfrm>
          <a:prstGeom prst="roundRect">
            <a:avLst>
              <a:gd name="adj" fmla="val 4000"/>
            </a:avLst>
          </a:prstGeom>
          <a:solidFill>
            <a:srgbClr val="111113"/>
          </a:solidFill>
          <a:ln w="12700">
            <a:solidFill>
              <a:srgbClr val="3F3F46"/>
            </a:solidFill>
          </a:ln>
        </p:spPr>
      </p:sp>
      <p:sp>
        <p:nvSpPr>
          <p:cNvPr id="20" name="t-head"/>
          <p:cNvSpPr/>
          <p:nvPr/>
        </p:nvSpPr>
        <p:spPr>
          <a:xfrm>
            <a:off x="7620000" y="1600200"/>
            <a:ext cx="3962400" cy="228600"/>
          </a:xfrm>
          <a:prstGeom prst="rect">
            <a:avLst/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1" name="t-rail"/>
          <p:cNvSpPr/>
          <p:nvPr/>
        </p:nvSpPr>
        <p:spPr>
          <a:xfrm>
            <a:off x="7620000" y="1828800"/>
            <a:ext cx="330200" cy="2565400"/>
          </a:xfrm>
          <a:prstGeom prst="rect">
            <a:avLst/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2" name="t-scrim"/>
          <p:cNvSpPr/>
          <p:nvPr/>
        </p:nvSpPr>
        <p:spPr>
          <a:xfrm>
            <a:off x="7950200" y="1828800"/>
            <a:ext cx="2108200" cy="25654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</p:sp>
      <p:sp>
        <p:nvSpPr>
          <p:cNvPr id="23" name="t-drawer"/>
          <p:cNvSpPr/>
          <p:nvPr/>
        </p:nvSpPr>
        <p:spPr>
          <a:xfrm>
            <a:off x="8890000" y="1828800"/>
            <a:ext cx="2692400" cy="2565400"/>
          </a:xfrm>
          <a:prstGeom prst="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</p:sp>
      <p:sp>
        <p:nvSpPr>
          <p:cNvPr id="24" name="t-dl"/>
          <p:cNvSpPr txBox="1"/>
          <p:nvPr/>
        </p:nvSpPr>
        <p:spPr>
          <a:xfrm>
            <a:off x="9017000" y="1930400"/>
            <a:ext cx="2413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750" noProof="1">
                <a:solidFill>
                  <a:srgbClr val="52525B"/>
                </a:solidFill>
                <a:latin typeface="MiSans"/>
                <a:ea typeface="MiSans"/>
              </a:rPr>
              <a:t>Drawer overlays
+ scrim, swipe to dismiss</a:t>
            </a:r>
            <a:endParaRPr lang="en-US" sz="750" noProof="1"/>
          </a:p>
        </p:txBody>
      </p:sp>
      <p:sp>
        <p:nvSpPr>
          <p:cNvPr id="25" name="t-note"/>
          <p:cNvSpPr txBox="1"/>
          <p:nvPr/>
        </p:nvSpPr>
        <p:spPr>
          <a:xfrm>
            <a:off x="7620000" y="4521200"/>
            <a:ext cx="39624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950" noProof="1">
                <a:solidFill>
                  <a:srgbClr val="A1A1AA"/>
                </a:solidFill>
                <a:latin typeface="MiSans"/>
                <a:ea typeface="MiSans"/>
              </a:rPr>
              <a:t>Sidebar collapses to 48px icon rail. Drawer becomes overlay with scrim. Two-finger pan/pinch zoom; drag-drop → tap-to-place.</a:t>
            </a:r>
            <a:endParaRPr lang="en-US" sz="950" noProof="1"/>
          </a:p>
        </p:txBody>
      </p:sp>
      <p:sp>
        <p:nvSpPr>
          <p:cNvPr id="26" name="m-label"/>
          <p:cNvSpPr txBox="1"/>
          <p:nvPr/>
        </p:nvSpPr>
        <p:spPr>
          <a:xfrm>
            <a:off x="7620000" y="54356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FAFAFA"/>
                </a:solidFill>
                <a:latin typeface="MiSans"/>
                <a:ea typeface="MiSans"/>
              </a:rPr>
              <a:t>Mobile &lt;768 — monitor only</a:t>
            </a:r>
            <a:endParaRPr lang="en-US" sz="1000" noProof="1"/>
          </a:p>
        </p:txBody>
      </p:sp>
      <p:sp>
        <p:nvSpPr>
          <p:cNvPr id="27" name="m-frame"/>
          <p:cNvSpPr/>
          <p:nvPr/>
        </p:nvSpPr>
        <p:spPr>
          <a:xfrm>
            <a:off x="7620000" y="5689600"/>
            <a:ext cx="1651000" cy="914400"/>
          </a:xfrm>
          <a:prstGeom prst="roundRect">
            <a:avLst>
              <a:gd name="adj" fmla="val 6000"/>
            </a:avLst>
          </a:prstGeom>
          <a:solidFill>
            <a:srgbClr val="111113"/>
          </a:solidFill>
          <a:ln w="12700">
            <a:solidFill>
              <a:srgbClr val="3F3F46"/>
            </a:solidFill>
          </a:ln>
        </p:spPr>
      </p:sp>
      <p:sp>
        <p:nvSpPr>
          <p:cNvPr id="28" name="m-banner"/>
          <p:cNvSpPr/>
          <p:nvPr/>
        </p:nvSpPr>
        <p:spPr>
          <a:xfrm>
            <a:off x="7696200" y="5765800"/>
            <a:ext cx="1498600" cy="203200"/>
          </a:xfrm>
          <a:prstGeom prst="roundRect">
            <a:avLst>
              <a:gd name="adj" fmla="val 24000"/>
            </a:avLst>
          </a:prstGeom>
          <a:solidFill>
            <a:srgbClr val="FBBF24">
              <a:alpha val="10196"/>
            </a:srgbClr>
          </a:solidFill>
          <a:ln w="12700">
            <a:solidFill>
              <a:srgbClr val="FBBF24">
                <a:alpha val="25098"/>
              </a:srgbClr>
            </a:solidFill>
          </a:ln>
        </p:spPr>
      </p:sp>
      <p:sp>
        <p:nvSpPr>
          <p:cNvPr id="29" name="m-runs"/>
          <p:cNvSpPr/>
          <p:nvPr/>
        </p:nvSpPr>
        <p:spPr>
          <a:xfrm>
            <a:off x="7696200" y="6019800"/>
            <a:ext cx="1498600" cy="508000"/>
          </a:xfrm>
          <a:prstGeom prst="roundRect">
            <a:avLst>
              <a:gd name="adj" fmla="val 12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30" name="m-note"/>
          <p:cNvSpPr txBox="1"/>
          <p:nvPr/>
        </p:nvSpPr>
        <p:spPr>
          <a:xfrm>
            <a:off x="9448800" y="56896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900" noProof="1">
                <a:solidFill>
                  <a:srgbClr val="A1A1AA"/>
                </a:solidFill>
                <a:latin typeface="MiSans"/>
                <a:ea typeface="MiSans"/>
              </a:rPr>
              <a:t>Editing disabled with persistent banner. Run monitor becomes primary; drawer → bottom sheet (92vh).</a:t>
            </a:r>
            <a:endParaRPr lang="en-US" sz="900" noProof="1"/>
          </a:p>
        </p:txBody>
      </p:sp>
      <p:sp>
        <p:nvSpPr>
          <p:cNvPr id="31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4064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50" kern="0">
                <a:solidFill>
                  <a:srgbClr val="52525B"/>
                </a:solidFill>
                <a:latin typeface="MiSans"/>
                <a:ea typeface="MiSans"/>
              </a:rPr>
              <a:t>14 — MOTION &amp; INTERACTION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60400"/>
            <a:ext cx="889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FAFAFA"/>
                </a:solidFill>
                <a:latin typeface="MiSans"/>
                <a:ea typeface="MiSans"/>
              </a:rPr>
              <a:t>Timing, easing, and keyboard contract</a:t>
            </a:r>
            <a:endParaRPr lang="en-US" sz="2400" noProof="1"/>
          </a:p>
        </p:txBody>
      </p:sp>
      <p:sp>
        <p:nvSpPr>
          <p:cNvPr id="4" name="dur-label"/>
          <p:cNvSpPr txBox="1"/>
          <p:nvPr/>
        </p:nvSpPr>
        <p:spPr>
          <a:xfrm>
            <a:off x="609600" y="1371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DURATION SCALE</a:t>
            </a:r>
            <a:endParaRPr lang="en-US" sz="1000" noProof="1"/>
          </a:p>
        </p:txBody>
      </p:sp>
      <p:sp>
        <p:nvSpPr>
          <p:cNvPr id="5" name="d1-bar"/>
          <p:cNvSpPr/>
          <p:nvPr/>
        </p:nvSpPr>
        <p:spPr>
          <a:xfrm>
            <a:off x="609600" y="1676400"/>
            <a:ext cx="508000" cy="279400"/>
          </a:xfrm>
          <a:prstGeom prst="roundRect">
            <a:avLst>
              <a:gd name="adj" fmla="val 20000"/>
            </a:avLst>
          </a:prstGeom>
          <a:solidFill>
            <a:srgbClr val="7C6CFF"/>
          </a:solidFill>
          <a:ln>
            <a:noFill/>
          </a:ln>
        </p:spPr>
      </p:sp>
      <p:sp>
        <p:nvSpPr>
          <p:cNvPr id="6" name="d1-t"/>
          <p:cNvSpPr txBox="1"/>
          <p:nvPr/>
        </p:nvSpPr>
        <p:spPr>
          <a:xfrm>
            <a:off x="1244600" y="16764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80ms — press states, toggles</a:t>
            </a:r>
            <a:endParaRPr lang="en-US" sz="1000" noProof="1"/>
          </a:p>
        </p:txBody>
      </p:sp>
      <p:sp>
        <p:nvSpPr>
          <p:cNvPr id="7" name="d2-bar"/>
          <p:cNvSpPr/>
          <p:nvPr/>
        </p:nvSpPr>
        <p:spPr>
          <a:xfrm>
            <a:off x="609600" y="2057400"/>
            <a:ext cx="952500" cy="279400"/>
          </a:xfrm>
          <a:prstGeom prst="roundRect">
            <a:avLst>
              <a:gd name="adj" fmla="val 20000"/>
            </a:avLst>
          </a:prstGeom>
          <a:solidFill>
            <a:srgbClr val="7C6CFF">
              <a:alpha val="85000"/>
            </a:srgbClr>
          </a:solidFill>
          <a:ln>
            <a:noFill/>
          </a:ln>
        </p:spPr>
      </p:sp>
      <p:sp>
        <p:nvSpPr>
          <p:cNvPr id="8" name="d2-t"/>
          <p:cNvSpPr txBox="1"/>
          <p:nvPr/>
        </p:nvSpPr>
        <p:spPr>
          <a:xfrm>
            <a:off x="1689100" y="20574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150ms — hovers, color swaps, dropdowns</a:t>
            </a:r>
            <a:endParaRPr lang="en-US" sz="1000" noProof="1"/>
          </a:p>
        </p:txBody>
      </p:sp>
      <p:sp>
        <p:nvSpPr>
          <p:cNvPr id="9" name="d3-bar"/>
          <p:cNvSpPr/>
          <p:nvPr/>
        </p:nvSpPr>
        <p:spPr>
          <a:xfrm>
            <a:off x="609600" y="2438400"/>
            <a:ext cx="1270000" cy="279400"/>
          </a:xfrm>
          <a:prstGeom prst="roundRect">
            <a:avLst>
              <a:gd name="adj" fmla="val 20000"/>
            </a:avLst>
          </a:prstGeom>
          <a:solidFill>
            <a:srgbClr val="7C6CFF">
              <a:alpha val="70000"/>
            </a:srgbClr>
          </a:solidFill>
          <a:ln>
            <a:noFill/>
          </a:ln>
        </p:spPr>
      </p:sp>
      <p:sp>
        <p:nvSpPr>
          <p:cNvPr id="10" name="d3-t"/>
          <p:cNvSpPr txBox="1"/>
          <p:nvPr/>
        </p:nvSpPr>
        <p:spPr>
          <a:xfrm>
            <a:off x="2006600" y="24384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200ms — tabs, badges, tooltips</a:t>
            </a:r>
            <a:endParaRPr lang="en-US" sz="1000" noProof="1"/>
          </a:p>
        </p:txBody>
      </p:sp>
      <p:sp>
        <p:nvSpPr>
          <p:cNvPr id="11" name="d4-bar"/>
          <p:cNvSpPr/>
          <p:nvPr/>
        </p:nvSpPr>
        <p:spPr>
          <a:xfrm>
            <a:off x="609600" y="2819400"/>
            <a:ext cx="1587500" cy="279400"/>
          </a:xfrm>
          <a:prstGeom prst="roundRect">
            <a:avLst>
              <a:gd name="adj" fmla="val 20000"/>
            </a:avLst>
          </a:prstGeom>
          <a:solidFill>
            <a:srgbClr val="7C6CFF">
              <a:alpha val="55000"/>
            </a:srgbClr>
          </a:solidFill>
          <a:ln>
            <a:noFill/>
          </a:ln>
        </p:spPr>
      </p:sp>
      <p:sp>
        <p:nvSpPr>
          <p:cNvPr id="12" name="d4-t"/>
          <p:cNvSpPr txBox="1"/>
          <p:nvPr/>
        </p:nvSpPr>
        <p:spPr>
          <a:xfrm>
            <a:off x="2324100" y="28194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250ms — drawer slide (expo-out)</a:t>
            </a:r>
            <a:endParaRPr lang="en-US" sz="1000" noProof="1"/>
          </a:p>
        </p:txBody>
      </p:sp>
      <p:sp>
        <p:nvSpPr>
          <p:cNvPr id="13" name="d5-bar"/>
          <p:cNvSpPr/>
          <p:nvPr/>
        </p:nvSpPr>
        <p:spPr>
          <a:xfrm>
            <a:off x="609600" y="3200400"/>
            <a:ext cx="1905000" cy="279400"/>
          </a:xfrm>
          <a:prstGeom prst="roundRect">
            <a:avLst>
              <a:gd name="adj" fmla="val 20000"/>
            </a:avLst>
          </a:prstGeom>
          <a:solidFill>
            <a:srgbClr val="7C6CFF">
              <a:alpha val="40000"/>
            </a:srgbClr>
          </a:solidFill>
          <a:ln>
            <a:noFill/>
          </a:ln>
        </p:spPr>
      </p:sp>
      <p:sp>
        <p:nvSpPr>
          <p:cNvPr id="14" name="d5-t"/>
          <p:cNvSpPr txBox="1"/>
          <p:nvPr/>
        </p:nvSpPr>
        <p:spPr>
          <a:xfrm>
            <a:off x="2641600" y="3200400"/>
            <a:ext cx="431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300ms — hard ceiling. Nothing exceeds this.</a:t>
            </a:r>
            <a:endParaRPr lang="en-US" sz="1000" noProof="1"/>
          </a:p>
        </p:txBody>
      </p:sp>
      <p:sp>
        <p:nvSpPr>
          <p:cNvPr id="15" name="ez-label"/>
          <p:cNvSpPr txBox="1"/>
          <p:nvPr/>
        </p:nvSpPr>
        <p:spPr>
          <a:xfrm>
            <a:off x="609600" y="3810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EASING</a:t>
            </a:r>
            <a:endParaRPr lang="en-US" sz="1000" noProof="1"/>
          </a:p>
        </p:txBody>
      </p:sp>
      <p:sp>
        <p:nvSpPr>
          <p:cNvPr id="16" name="ez1"/>
          <p:cNvSpPr/>
          <p:nvPr/>
        </p:nvSpPr>
        <p:spPr>
          <a:xfrm>
            <a:off x="609600" y="4089400"/>
            <a:ext cx="3048000" cy="7874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7" name="ez1-t"/>
          <p:cNvSpPr txBox="1"/>
          <p:nvPr/>
        </p:nvSpPr>
        <p:spPr>
          <a:xfrm>
            <a:off x="787400" y="4191000"/>
            <a:ext cx="2717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cubic-bezier(0.16, 1, 0.3, 1)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expo-out — default for entering elements</a:t>
            </a:r>
            <a:endParaRPr lang="en-US" sz="1600" noProof="1"/>
          </a:p>
        </p:txBody>
      </p:sp>
      <p:sp>
        <p:nvSpPr>
          <p:cNvPr id="18" name="ez2"/>
          <p:cNvSpPr/>
          <p:nvPr/>
        </p:nvSpPr>
        <p:spPr>
          <a:xfrm>
            <a:off x="3860800" y="4089400"/>
            <a:ext cx="3048000" cy="7874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9" name="ez2-t"/>
          <p:cNvSpPr txBox="1"/>
          <p:nvPr/>
        </p:nvSpPr>
        <p:spPr>
          <a:xfrm>
            <a:off x="4038600" y="4191000"/>
            <a:ext cx="2717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00" noProof="1" b="1">
                <a:solidFill>
                  <a:srgbClr val="FAFAFA"/>
                </a:solidFill>
                <a:latin typeface="MiSans"/>
                <a:ea typeface="MiSans"/>
              </a:rPr>
              <a:t>cubic-bezier(0.4, 0, 0.2, 1)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symmetric — in-place state transitions</a:t>
            </a:r>
            <a:endParaRPr lang="en-US" sz="1600" noProof="1"/>
          </a:p>
        </p:txBody>
      </p:sp>
      <p:sp>
        <p:nvSpPr>
          <p:cNvPr id="20" name="mi-label"/>
          <p:cNvSpPr txBox="1"/>
          <p:nvPr/>
        </p:nvSpPr>
        <p:spPr>
          <a:xfrm>
            <a:off x="609600" y="520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MICRO-INTERACTIONS</a:t>
            </a:r>
            <a:endParaRPr lang="en-US" sz="1000" noProof="1"/>
          </a:p>
        </p:txBody>
      </p:sp>
      <p:sp>
        <p:nvSpPr>
          <p:cNvPr id="21" name="mi"/>
          <p:cNvSpPr txBox="1"/>
          <p:nvPr/>
        </p:nvSpPr>
        <p:spPr>
          <a:xfrm>
            <a:off x="609600" y="54864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5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No hover lifts — density aesthetic; only color/background changes.</a:t>
            </a:r>
            <a:endParaRPr lang="en-US" sz="1000" noProof="1"/>
          </a:p>
          <a:p>
            <a:pPr>
              <a:lnSpc>
                <a:spcPct val="175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Canvas pan/zoom is unanimated (1:1 direct manipulation). Node drag: scale 1.02 + shadow.</a:t>
            </a:r>
            <a:endParaRPr lang="en-US" sz="1000" noProof="1"/>
          </a:p>
          <a:p>
            <a:pPr>
              <a:lnSpc>
                <a:spcPct val="175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Port magnifies 10→14px on hover. Success: one-shot ✓ draw-on. Failure: single ±2px shake, never repeated.</a:t>
            </a:r>
            <a:endParaRPr lang="en-US" sz="1000" noProof="1"/>
          </a:p>
          <a:p>
            <a:pPr>
              <a:lnSpc>
                <a:spcPct val="175000"/>
              </a:lnSpc>
            </a:pP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prefers-reduced-motion: edge flow, shake, and skeleton pulse all disabled.</a:t>
            </a:r>
            <a:endParaRPr lang="en-US" sz="1000" noProof="1"/>
          </a:p>
        </p:txBody>
      </p:sp>
      <p:sp>
        <p:nvSpPr>
          <p:cNvPr id="22" name="kb-label"/>
          <p:cNvSpPr txBox="1"/>
          <p:nvPr/>
        </p:nvSpPr>
        <p:spPr>
          <a:xfrm>
            <a:off x="7874000" y="1371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KEYBOARD MAP</a:t>
            </a:r>
            <a:endParaRPr lang="en-US" sz="1000" noProof="1"/>
          </a:p>
        </p:txBody>
      </p:sp>
      <p:sp>
        <p:nvSpPr>
          <p:cNvPr id="23" name="kb"/>
          <p:cNvSpPr/>
          <p:nvPr/>
        </p:nvSpPr>
        <p:spPr>
          <a:xfrm>
            <a:off x="7874000" y="1651000"/>
            <a:ext cx="3708400" cy="330200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24" name="kb-t"/>
          <p:cNvSpPr txBox="1"/>
          <p:nvPr/>
        </p:nvSpPr>
        <p:spPr>
          <a:xfrm>
            <a:off x="8102600" y="1828800"/>
            <a:ext cx="3302000" cy="299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200000"/>
              </a:lnSpc>
            </a:pPr>
            <a:r>
              <a:rPr lang="en-US" sz="1000" noProof="1">
                <a:solidFill>
                  <a:srgbClr val="FAFAFA"/>
                </a:solidFill>
                <a:highlight>
                  <a:srgbClr val="27272A"/>
                </a:highlight>
                <a:latin typeface="MiSans"/>
                <a:ea typeface="MiSans"/>
              </a:rPr>
              <a:t> ⌘↵ </a:t>
            </a: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  Run flow</a:t>
            </a:r>
            <a:endParaRPr lang="en-US" sz="1000" noProof="1"/>
          </a:p>
          <a:p>
            <a:pPr>
              <a:lnSpc>
                <a:spcPct val="200000"/>
              </a:lnSpc>
            </a:pPr>
            <a:r>
              <a:rPr lang="en-US" sz="1000" noProof="1">
                <a:solidFill>
                  <a:srgbClr val="FAFAFA"/>
                </a:solidFill>
                <a:highlight>
                  <a:srgbClr val="27272A"/>
                </a:highlight>
                <a:latin typeface="MiSans"/>
                <a:ea typeface="MiSans"/>
              </a:rPr>
              <a:t> / </a:t>
            </a: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  Search nodes</a:t>
            </a:r>
            <a:endParaRPr lang="en-US" sz="1000" noProof="1"/>
          </a:p>
          <a:p>
            <a:pPr>
              <a:lnSpc>
                <a:spcPct val="200000"/>
              </a:lnSpc>
            </a:pPr>
            <a:r>
              <a:rPr lang="en-US" sz="1000" noProof="1">
                <a:solidFill>
                  <a:srgbClr val="FAFAFA"/>
                </a:solidFill>
                <a:highlight>
                  <a:srgbClr val="27272A"/>
                </a:highlight>
                <a:latin typeface="MiSans"/>
                <a:ea typeface="MiSans"/>
              </a:rPr>
              <a:t> ⌘J </a:t>
            </a: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  Toggle run dock</a:t>
            </a:r>
            <a:endParaRPr lang="en-US" sz="1000" noProof="1"/>
          </a:p>
          <a:p>
            <a:pPr>
              <a:lnSpc>
                <a:spcPct val="200000"/>
              </a:lnSpc>
            </a:pPr>
            <a:r>
              <a:rPr lang="en-US" sz="1000" noProof="1">
                <a:solidFill>
                  <a:srgbClr val="FAFAFA"/>
                </a:solidFill>
                <a:highlight>
                  <a:srgbClr val="27272A"/>
                </a:highlight>
                <a:latin typeface="MiSans"/>
                <a:ea typeface="MiSans"/>
              </a:rPr>
              <a:t> ⌘0 </a:t>
            </a: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  Fit canvas</a:t>
            </a:r>
            <a:endParaRPr lang="en-US" sz="1000" noProof="1"/>
          </a:p>
          <a:p>
            <a:pPr>
              <a:lnSpc>
                <a:spcPct val="200000"/>
              </a:lnSpc>
            </a:pPr>
            <a:r>
              <a:rPr lang="en-US" sz="1000" noProof="1">
                <a:solidFill>
                  <a:srgbClr val="FAFAFA"/>
                </a:solidFill>
                <a:highlight>
                  <a:srgbClr val="27272A"/>
                </a:highlight>
                <a:latin typeface="MiSans"/>
                <a:ea typeface="MiSans"/>
              </a:rPr>
              <a:t> ⌘D </a:t>
            </a: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  Duplicate node</a:t>
            </a:r>
            <a:endParaRPr lang="en-US" sz="1000" noProof="1"/>
          </a:p>
          <a:p>
            <a:pPr>
              <a:lnSpc>
                <a:spcPct val="200000"/>
              </a:lnSpc>
            </a:pPr>
            <a:r>
              <a:rPr lang="en-US" sz="1000" noProof="1">
                <a:solidFill>
                  <a:srgbClr val="FAFAFA"/>
                </a:solidFill>
                <a:highlight>
                  <a:srgbClr val="27272A"/>
                </a:highlight>
                <a:latin typeface="MiSans"/>
                <a:ea typeface="MiSans"/>
              </a:rPr>
              <a:t> Del </a:t>
            </a: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  Delete selection</a:t>
            </a:r>
            <a:endParaRPr lang="en-US" sz="1000" noProof="1"/>
          </a:p>
          <a:p>
            <a:pPr>
              <a:lnSpc>
                <a:spcPct val="200000"/>
              </a:lnSpc>
            </a:pPr>
            <a:r>
              <a:rPr lang="en-US" sz="1000" noProof="1">
                <a:solidFill>
                  <a:srgbClr val="FAFAFA"/>
                </a:solidFill>
                <a:highlight>
                  <a:srgbClr val="27272A"/>
                </a:highlight>
                <a:latin typeface="MiSans"/>
                <a:ea typeface="MiSans"/>
              </a:rPr>
              <a:t> Esc </a:t>
            </a: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  Close drawer / deselect</a:t>
            </a:r>
            <a:endParaRPr lang="en-US" sz="1000" noProof="1"/>
          </a:p>
          <a:p>
            <a:pPr>
              <a:lnSpc>
                <a:spcPct val="200000"/>
              </a:lnSpc>
            </a:pPr>
            <a:r>
              <a:rPr lang="en-US" sz="1000" noProof="1">
                <a:solidFill>
                  <a:srgbClr val="FAFAFA"/>
                </a:solidFill>
                <a:highlight>
                  <a:srgbClr val="27272A"/>
                </a:highlight>
                <a:latin typeface="MiSans"/>
                <a:ea typeface="MiSans"/>
              </a:rPr>
              <a:t> ←↑↓→ </a:t>
            </a:r>
            <a:r>
              <a:rPr lang="en-US" sz="1000" noProof="1">
                <a:solidFill>
                  <a:srgbClr val="A1A1AA"/>
                </a:solidFill>
                <a:latin typeface="MiSans"/>
                <a:ea typeface="MiSans"/>
              </a:rPr>
              <a:t>  Nudge 12px (+Shift 1px)</a:t>
            </a:r>
            <a:endParaRPr lang="en-US" sz="1000" noProof="1"/>
          </a:p>
        </p:txBody>
      </p:sp>
      <p:sp>
        <p:nvSpPr>
          <p:cNvPr id="25" name="fr-label"/>
          <p:cNvSpPr txBox="1"/>
          <p:nvPr/>
        </p:nvSpPr>
        <p:spPr>
          <a:xfrm>
            <a:off x="7874000" y="520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spc="120" kern="0">
                <a:solidFill>
                  <a:srgbClr val="52525B"/>
                </a:solidFill>
                <a:latin typeface="MiSans"/>
                <a:ea typeface="MiSans"/>
              </a:rPr>
              <a:t>FOCUS-VISIBLE</a:t>
            </a:r>
            <a:endParaRPr lang="en-US" sz="1000" noProof="1"/>
          </a:p>
        </p:txBody>
      </p:sp>
      <p:sp>
        <p:nvSpPr>
          <p:cNvPr id="26" name="fr-btn"/>
          <p:cNvSpPr/>
          <p:nvPr/>
        </p:nvSpPr>
        <p:spPr>
          <a:xfrm>
            <a:off x="7874000" y="5486400"/>
            <a:ext cx="1524000" cy="406400"/>
          </a:xfrm>
          <a:prstGeom prst="roundRect">
            <a:avLst>
              <a:gd name="adj" fmla="val 22000"/>
            </a:avLst>
          </a:prstGeom>
          <a:solidFill>
            <a:srgbClr val="7C6CFF"/>
          </a:solidFill>
          <a:ln w="25400">
            <a:solidFill>
              <a:srgbClr val="09090B"/>
            </a:solidFill>
          </a:ln>
          <a:effectLst>
            <a:outerShdw blurRad="0" dist="0" dir="0" sx="100000" sy="100000" kx="0" ky="0" algn="bl" rotWithShape="0">
              <a:srgbClr val="000000">
                <a:alpha val="0"/>
              </a:srgbClr>
            </a:outerShdw>
          </a:effectLst>
        </p:spPr>
      </p:sp>
      <p:sp>
        <p:nvSpPr>
          <p:cNvPr id="27" name="fr-ring"/>
          <p:cNvSpPr/>
          <p:nvPr/>
        </p:nvSpPr>
        <p:spPr>
          <a:xfrm>
            <a:off x="7823200" y="5435600"/>
            <a:ext cx="1625600" cy="508000"/>
          </a:xfrm>
          <a:prstGeom prst="roundRect">
            <a:avLst>
              <a:gd name="adj" fmla="val 22000"/>
            </a:avLst>
          </a:prstGeom>
          <a:noFill/>
          <a:ln w="25400">
            <a:solidFill>
              <a:srgbClr val="7C6CFF"/>
            </a:solidFill>
          </a:ln>
        </p:spPr>
      </p:sp>
      <p:sp>
        <p:nvSpPr>
          <p:cNvPr id="28" name="fr-t"/>
          <p:cNvSpPr txBox="1"/>
          <p:nvPr/>
        </p:nvSpPr>
        <p:spPr>
          <a:xfrm>
            <a:off x="7874000" y="5486400"/>
            <a:ext cx="1524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b="1">
                <a:solidFill>
                  <a:srgbClr val="000000"/>
                </a:solidFill>
                <a:latin typeface="MiSans"/>
                <a:ea typeface="MiSans"/>
              </a:rPr>
              <a:t>▶ Run flow</a:t>
            </a:r>
            <a:endParaRPr lang="en-US" sz="1050" noProof="1"/>
          </a:p>
        </p:txBody>
      </p:sp>
      <p:sp>
        <p:nvSpPr>
          <p:cNvPr id="29" name="fr-note"/>
          <p:cNvSpPr txBox="1"/>
          <p:nvPr/>
        </p:nvSpPr>
        <p:spPr>
          <a:xfrm>
            <a:off x="9652000" y="54864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double ring: 2px bg +</a:t>
            </a: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2px accent offset</a:t>
            </a:r>
            <a:endParaRPr lang="en-US" sz="900" noProof="1"/>
          </a:p>
        </p:txBody>
      </p:sp>
      <p:sp>
        <p:nvSpPr>
          <p:cNvPr id="30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15</a:t>
            </a:r>
            <a:endParaRPr lang="en-US" sz="10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7142B"/>
            </a:gs>
            <a:gs pos="100000">
              <a:srgbClr val="09090B"/>
            </a:gs>
          </a:gsLst>
          <a:path path="circle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651000" y="13970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3400" noProof="1" b="1">
                <a:solidFill>
                  <a:srgbClr val="FAFAFA"/>
                </a:solidFill>
                <a:latin typeface="MiSans"/>
                <a:ea typeface="MiSans"/>
              </a:rPr>
              <a:t>Design coverage — all surfaces &amp; states</a:t>
            </a:r>
            <a:endParaRPr lang="en-US" sz="1600" noProof="1"/>
          </a:p>
        </p:txBody>
      </p:sp>
      <p:sp>
        <p:nvSpPr>
          <p:cNvPr id="3" name="g1"/>
          <p:cNvSpPr/>
          <p:nvPr/>
        </p:nvSpPr>
        <p:spPr>
          <a:xfrm>
            <a:off x="1651000" y="2413000"/>
            <a:ext cx="2794000" cy="1092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4" name="g1t"/>
          <p:cNvSpPr txBox="1"/>
          <p:nvPr/>
        </p:nvSpPr>
        <p:spPr>
          <a:xfrm>
            <a:off x="1854200" y="25654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FAFAFA"/>
                </a:solidFill>
                <a:latin typeface="MiSans"/>
                <a:ea typeface="MiSans"/>
              </a:rPr>
              <a:t>⌂ Dashboard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KPIs, flows table, activity feed</a:t>
            </a:r>
            <a:endParaRPr lang="en-US" sz="1600" noProof="1"/>
          </a:p>
        </p:txBody>
      </p:sp>
      <p:sp>
        <p:nvSpPr>
          <p:cNvPr id="5" name="g2"/>
          <p:cNvSpPr/>
          <p:nvPr/>
        </p:nvSpPr>
        <p:spPr>
          <a:xfrm>
            <a:off x="4699000" y="2413000"/>
            <a:ext cx="2794000" cy="1092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7C6CFF"/>
            </a:solidFill>
          </a:ln>
          <a:effectLst>
            <a:outerShdw blurRad="228600" dist="0" dir="0" sx="100000" sy="100000" kx="0" ky="0" algn="bl" rotWithShape="0">
              <a:srgbClr val="7C6CFF">
                <a:alpha val="18824"/>
              </a:srgbClr>
            </a:outerShdw>
          </a:effectLst>
        </p:spPr>
      </p:sp>
      <p:sp>
        <p:nvSpPr>
          <p:cNvPr id="6" name="g2t"/>
          <p:cNvSpPr txBox="1"/>
          <p:nvPr/>
        </p:nvSpPr>
        <p:spPr>
          <a:xfrm>
            <a:off x="4902200" y="25654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FAFAFA"/>
                </a:solidFill>
                <a:latin typeface="MiSans"/>
                <a:ea typeface="MiSans"/>
              </a:rPr>
              <a:t>⌘ Builder canvas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Nodes, edges, config drawer</a:t>
            </a:r>
            <a:endParaRPr lang="en-US" sz="1600" noProof="1"/>
          </a:p>
        </p:txBody>
      </p:sp>
      <p:sp>
        <p:nvSpPr>
          <p:cNvPr id="7" name="g3"/>
          <p:cNvSpPr/>
          <p:nvPr/>
        </p:nvSpPr>
        <p:spPr>
          <a:xfrm>
            <a:off x="7747000" y="2413000"/>
            <a:ext cx="2794000" cy="1092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8" name="g3t"/>
          <p:cNvSpPr txBox="1"/>
          <p:nvPr/>
        </p:nvSpPr>
        <p:spPr>
          <a:xfrm>
            <a:off x="7950200" y="25654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FAFAFA"/>
                </a:solidFill>
                <a:latin typeface="MiSans"/>
                <a:ea typeface="MiSans"/>
              </a:rPr>
              <a:t>◷ Run inspector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History, payloads, re-run</a:t>
            </a:r>
            <a:endParaRPr lang="en-US" sz="1600" noProof="1"/>
          </a:p>
        </p:txBody>
      </p:sp>
      <p:sp>
        <p:nvSpPr>
          <p:cNvPr id="9" name="g4"/>
          <p:cNvSpPr/>
          <p:nvPr/>
        </p:nvSpPr>
        <p:spPr>
          <a:xfrm>
            <a:off x="1651000" y="3708400"/>
            <a:ext cx="2794000" cy="1092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0" name="g4t"/>
          <p:cNvSpPr txBox="1"/>
          <p:nvPr/>
        </p:nvSpPr>
        <p:spPr>
          <a:xfrm>
            <a:off x="1854200" y="38608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FAFAFA"/>
                </a:solidFill>
                <a:latin typeface="MiSans"/>
                <a:ea typeface="MiSans"/>
              </a:rPr>
              <a:t>⬡ Integrations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Connections + catalog, degraded states</a:t>
            </a:r>
            <a:endParaRPr lang="en-US" sz="1600" noProof="1"/>
          </a:p>
        </p:txBody>
      </p:sp>
      <p:sp>
        <p:nvSpPr>
          <p:cNvPr id="11" name="g5"/>
          <p:cNvSpPr/>
          <p:nvPr/>
        </p:nvSpPr>
        <p:spPr>
          <a:xfrm>
            <a:off x="4699000" y="3708400"/>
            <a:ext cx="2794000" cy="1092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2" name="g5t"/>
          <p:cNvSpPr txBox="1"/>
          <p:nvPr/>
        </p:nvSpPr>
        <p:spPr>
          <a:xfrm>
            <a:off x="4902200" y="38608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FAFAFA"/>
                </a:solidFill>
                <a:latin typeface="MiSans"/>
                <a:ea typeface="MiSans"/>
              </a:rPr>
              <a:t>▤ Templates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Starter flows by category</a:t>
            </a:r>
            <a:endParaRPr lang="en-US" sz="1600" noProof="1"/>
          </a:p>
        </p:txBody>
      </p:sp>
      <p:sp>
        <p:nvSpPr>
          <p:cNvPr id="13" name="g6"/>
          <p:cNvSpPr/>
          <p:nvPr/>
        </p:nvSpPr>
        <p:spPr>
          <a:xfrm>
            <a:off x="7747000" y="3708400"/>
            <a:ext cx="2794000" cy="1092200"/>
          </a:xfrm>
          <a:prstGeom prst="roundRect">
            <a:avLst>
              <a:gd name="adj" fmla="val 8000"/>
            </a:avLst>
          </a:prstGeom>
          <a:solidFill>
            <a:srgbClr val="18181B"/>
          </a:solidFill>
          <a:ln w="12700">
            <a:solidFill>
              <a:srgbClr val="232326"/>
            </a:solidFill>
          </a:ln>
        </p:spPr>
      </p:sp>
      <p:sp>
        <p:nvSpPr>
          <p:cNvPr id="14" name="g6t"/>
          <p:cNvSpPr txBox="1"/>
          <p:nvPr/>
        </p:nvSpPr>
        <p:spPr>
          <a:xfrm>
            <a:off x="7950200" y="38608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FAFAFA"/>
                </a:solidFill>
                <a:latin typeface="MiSans"/>
                <a:ea typeface="MiSans"/>
              </a:rPr>
              <a:t>⚙ Settings &amp; auth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900" noProof="1">
                <a:solidFill>
                  <a:srgbClr val="52525B"/>
                </a:solidFill>
                <a:latin typeface="MiSans"/>
                <a:ea typeface="MiSans"/>
              </a:rPr>
              <a:t>Members, keys, billing, onboarding</a:t>
            </a:r>
            <a:endParaRPr lang="en-US" sz="1600" noProof="1"/>
          </a:p>
        </p:txBody>
      </p:sp>
      <p:sp>
        <p:nvSpPr>
          <p:cNvPr id="15" name="close"/>
          <p:cNvSpPr txBox="1"/>
          <p:nvPr/>
        </p:nvSpPr>
        <p:spPr>
          <a:xfrm>
            <a:off x="2286000" y="5334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60000"/>
              </a:lnSpc>
            </a:pPr>
            <a:r>
              <a:rPr lang="en-US" sz="1300" noProof="1">
                <a:solidFill>
                  <a:srgbClr val="A1A1AA"/>
                </a:solidFill>
                <a:latin typeface="MiSans"/>
                <a:ea typeface="MiSans"/>
              </a:rPr>
              <a:t>One token system. One component language.</a:t>
            </a:r>
            <a:endParaRPr lang="en-US" sz="1600" noProof="1"/>
          </a:p>
          <a:p>
            <a:pPr algn="ctr">
              <a:lnSpc>
                <a:spcPct val="160000"/>
              </a:lnSpc>
            </a:pPr>
            <a:r>
              <a:rPr lang="en-US" sz="1300" noProof="1" b="1">
                <a:solidFill>
                  <a:srgbClr val="FAFAFA"/>
                </a:solidFill>
                <a:latin typeface="MiSans"/>
                <a:ea typeface="MiSans"/>
              </a:rPr>
              <a:t>From landing page to payload inspector — every state designed.</a:t>
            </a:r>
            <a:endParaRPr lang="en-US" sz="1600" noProof="1"/>
          </a:p>
        </p:txBody>
      </p:sp>
      <p:sp>
        <p:nvSpPr>
          <p:cNvPr id="16" name="pagenum"/>
          <p:cNvSpPr txBox="1"/>
          <p:nvPr/>
        </p:nvSpPr>
        <p:spPr>
          <a:xfrm>
            <a:off x="11430000" y="65024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52525B"/>
                </a:solidFill>
                <a:latin typeface="MiSans"/>
                <a:ea typeface="MiSans"/>
              </a:rPr>
              <a:t>16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16</Slides>
</Properties>
</file>

<file path=docProps/core.xml><?xml version="1.0" encoding="utf-8"?>
<cp:coreProperties xmlns:dc="http://purl.org/dc/elements/1.1/" xmlns:cp="http://schemas.openxmlformats.org/package/2006/metadata/core-properties">
  <dc:title>Flowline — Product UI Design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